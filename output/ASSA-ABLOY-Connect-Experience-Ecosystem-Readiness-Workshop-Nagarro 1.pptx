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6e3999023f4603" /><Relationship Type="http://schemas.openxmlformats.org/officeDocument/2006/relationships/extended-properties" Target="/docProps/app.xml" Id="Re503f43226db423c" /><Relationship Type="http://schemas.openxmlformats.org/officeDocument/2006/relationships/officeDocument" Target="/ppt/presentation.xml" Id="Rff78c757285541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8cd79a71cd4c98"/>
  </p:sldMasterIdLst>
  <p:notesMasterIdLst>
    <p:notesMasterId xmlns:r="http://schemas.openxmlformats.org/officeDocument/2006/relationships" r:id="R4f33e860055a4537"/>
  </p:notesMasterIdLst>
  <p:sldIdLst>
    <p:sldId xmlns:r="http://schemas.openxmlformats.org/officeDocument/2006/relationships" id="256" r:id="R260beba93a6f432c"/>
    <p:sldId xmlns:r="http://schemas.openxmlformats.org/officeDocument/2006/relationships" id="257" r:id="Rb5a28e5e486a4dda"/>
    <p:sldId xmlns:r="http://schemas.openxmlformats.org/officeDocument/2006/relationships" id="258" r:id="R93b051c6907642ce"/>
    <p:sldId xmlns:r="http://schemas.openxmlformats.org/officeDocument/2006/relationships" id="259" r:id="R77f1f6fc43814f76"/>
    <p:sldId xmlns:r="http://schemas.openxmlformats.org/officeDocument/2006/relationships" id="260" r:id="R3315e4f8cc0049ab"/>
    <p:sldId xmlns:r="http://schemas.openxmlformats.org/officeDocument/2006/relationships" id="261" r:id="Rf309f73049fe4885"/>
    <p:sldId xmlns:r="http://schemas.openxmlformats.org/officeDocument/2006/relationships" id="262" r:id="R51da8669cd354636"/>
    <p:sldId xmlns:r="http://schemas.openxmlformats.org/officeDocument/2006/relationships" id="263" r:id="Rd1fa2b158290463f"/>
    <p:sldId xmlns:r="http://schemas.openxmlformats.org/officeDocument/2006/relationships" id="264" r:id="Rfe6ac60ea2d7449b"/>
    <p:sldId xmlns:r="http://schemas.openxmlformats.org/officeDocument/2006/relationships" id="265" r:id="Ra889efebcf524907"/>
    <p:sldId xmlns:r="http://schemas.openxmlformats.org/officeDocument/2006/relationships" id="266" r:id="R665937d9dbbe416d"/>
    <p:sldId xmlns:r="http://schemas.openxmlformats.org/officeDocument/2006/relationships" id="267" r:id="R837e899181324d9f"/>
    <p:sldId xmlns:r="http://schemas.openxmlformats.org/officeDocument/2006/relationships" id="268" r:id="R110ac2c225af431a"/>
    <p:sldId xmlns:r="http://schemas.openxmlformats.org/officeDocument/2006/relationships" id="269" r:id="R55ac8967941c46e3"/>
    <p:sldId xmlns:r="http://schemas.openxmlformats.org/officeDocument/2006/relationships" id="270" r:id="R7307e8b4bede47cb"/>
    <p:sldId xmlns:r="http://schemas.openxmlformats.org/officeDocument/2006/relationships" id="271" r:id="R6824ee22073c4a51"/>
    <p:sldId xmlns:r="http://schemas.openxmlformats.org/officeDocument/2006/relationships" id="272" r:id="R374eb14aba7b4d89"/>
    <p:sldId xmlns:r="http://schemas.openxmlformats.org/officeDocument/2006/relationships" id="273" r:id="R163425f77a7e4cbc"/>
    <p:sldId xmlns:r="http://schemas.openxmlformats.org/officeDocument/2006/relationships" id="274" r:id="R404892bdf6834376"/>
    <p:sldId xmlns:r="http://schemas.openxmlformats.org/officeDocument/2006/relationships" id="275" r:id="R7064e91639354dc9"/>
    <p:sldId xmlns:r="http://schemas.openxmlformats.org/officeDocument/2006/relationships" id="276" r:id="Rc70d598243d341a4"/>
    <p:sldId xmlns:r="http://schemas.openxmlformats.org/officeDocument/2006/relationships" id="277" r:id="Rac8a6e5f9d814282"/>
    <p:sldId xmlns:r="http://schemas.openxmlformats.org/officeDocument/2006/relationships" id="278" r:id="R00328c118f2e4521"/>
    <p:sldId xmlns:r="http://schemas.openxmlformats.org/officeDocument/2006/relationships" id="279" r:id="Rb71d4acc97294530"/>
    <p:sldId xmlns:r="http://schemas.openxmlformats.org/officeDocument/2006/relationships" id="280" r:id="R0845e9c355c241c6"/>
    <p:sldId xmlns:r="http://schemas.openxmlformats.org/officeDocument/2006/relationships" id="281" r:id="R7e6c57469971412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a1bbc419b0413a" /><Relationship Type="http://schemas.openxmlformats.org/officeDocument/2006/relationships/slideMaster" Target="/ppt/slideMasters/slideMaster1.xml" Id="R968cd79a71cd4c98" /><Relationship Type="http://schemas.openxmlformats.org/officeDocument/2006/relationships/notesMaster" Target="/ppt/notesMasters/notesMaster1.xml" Id="R4f33e860055a4537" /><Relationship Type="http://schemas.openxmlformats.org/officeDocument/2006/relationships/presProps" Target="/ppt/presProps.xml" Id="R00162af4836f4f10" /><Relationship Type="http://schemas.openxmlformats.org/officeDocument/2006/relationships/viewProps" Target="/ppt/viewProps.xml" Id="R691aa963de19467f" /><Relationship Type="http://schemas.openxmlformats.org/officeDocument/2006/relationships/tableStyles" Target="/ppt/tableStyles.xml" Id="R09edb839f0ca49c0" /><Relationship Type="http://schemas.openxmlformats.org/officeDocument/2006/relationships/slide" Target="/ppt/slides/slide1.xml" Id="R260beba93a6f432c" /><Relationship Type="http://schemas.openxmlformats.org/officeDocument/2006/relationships/slide" Target="/ppt/slides/slide2.xml" Id="Rb5a28e5e486a4dda" /><Relationship Type="http://schemas.openxmlformats.org/officeDocument/2006/relationships/slide" Target="/ppt/slides/slide3.xml" Id="R93b051c6907642ce" /><Relationship Type="http://schemas.openxmlformats.org/officeDocument/2006/relationships/slide" Target="/ppt/slides/slide4.xml" Id="R77f1f6fc43814f76" /><Relationship Type="http://schemas.openxmlformats.org/officeDocument/2006/relationships/slide" Target="/ppt/slides/slide5.xml" Id="R3315e4f8cc0049ab" /><Relationship Type="http://schemas.openxmlformats.org/officeDocument/2006/relationships/slide" Target="/ppt/slides/slide6.xml" Id="Rf309f73049fe4885" /><Relationship Type="http://schemas.openxmlformats.org/officeDocument/2006/relationships/slide" Target="/ppt/slides/slide7.xml" Id="R51da8669cd354636" /><Relationship Type="http://schemas.openxmlformats.org/officeDocument/2006/relationships/slide" Target="/ppt/slides/slide8.xml" Id="Rd1fa2b158290463f" /><Relationship Type="http://schemas.openxmlformats.org/officeDocument/2006/relationships/slide" Target="/ppt/slides/slide9.xml" Id="Rfe6ac60ea2d7449b" /><Relationship Type="http://schemas.openxmlformats.org/officeDocument/2006/relationships/slide" Target="/ppt/slides/slide10.xml" Id="Ra889efebcf524907" /><Relationship Type="http://schemas.openxmlformats.org/officeDocument/2006/relationships/slide" Target="/ppt/slides/slide11.xml" Id="R665937d9dbbe416d" /><Relationship Type="http://schemas.openxmlformats.org/officeDocument/2006/relationships/slide" Target="/ppt/slides/slide12.xml" Id="R837e899181324d9f" /><Relationship Type="http://schemas.openxmlformats.org/officeDocument/2006/relationships/slide" Target="/ppt/slides/slide13.xml" Id="R110ac2c225af431a" /><Relationship Type="http://schemas.openxmlformats.org/officeDocument/2006/relationships/slide" Target="/ppt/slides/slide14.xml" Id="R55ac8967941c46e3" /><Relationship Type="http://schemas.openxmlformats.org/officeDocument/2006/relationships/slide" Target="/ppt/slides/slide15.xml" Id="R7307e8b4bede47cb" /><Relationship Type="http://schemas.openxmlformats.org/officeDocument/2006/relationships/slide" Target="/ppt/slides/slide16.xml" Id="R6824ee22073c4a51" /><Relationship Type="http://schemas.openxmlformats.org/officeDocument/2006/relationships/slide" Target="/ppt/slides/slide17.xml" Id="R374eb14aba7b4d89" /><Relationship Type="http://schemas.openxmlformats.org/officeDocument/2006/relationships/slide" Target="/ppt/slides/slide18.xml" Id="R163425f77a7e4cbc" /><Relationship Type="http://schemas.openxmlformats.org/officeDocument/2006/relationships/slide" Target="/ppt/slides/slide19.xml" Id="R404892bdf6834376" /><Relationship Type="http://schemas.openxmlformats.org/officeDocument/2006/relationships/slide" Target="/ppt/slides/slide20.xml" Id="R7064e91639354dc9" /><Relationship Type="http://schemas.openxmlformats.org/officeDocument/2006/relationships/slide" Target="/ppt/slides/slide21.xml" Id="Rc70d598243d341a4" /><Relationship Type="http://schemas.openxmlformats.org/officeDocument/2006/relationships/slide" Target="/ppt/slides/slide22.xml" Id="Rac8a6e5f9d814282" /><Relationship Type="http://schemas.openxmlformats.org/officeDocument/2006/relationships/slide" Target="/ppt/slides/slide23.xml" Id="R00328c118f2e4521" /><Relationship Type="http://schemas.openxmlformats.org/officeDocument/2006/relationships/slide" Target="/ppt/slides/slide24.xml" Id="Rb71d4acc97294530" /><Relationship Type="http://schemas.openxmlformats.org/officeDocument/2006/relationships/slide" Target="/ppt/slides/slide25.xml" Id="R0845e9c355c241c6" /><Relationship Type="http://schemas.openxmlformats.org/officeDocument/2006/relationships/slide" Target="/ppt/slides/slide26.xml" Id="R7e6c5746997141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11cc1ef57848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83cf5c7d6a48e8" /><Relationship Type="http://schemas.openxmlformats.org/officeDocument/2006/relationships/notesMaster" Target="/ppt/notesMasters/notesMaster1.xml" Id="R2f86ba1169494b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df8a56cb2142d7" /><Relationship Type="http://schemas.openxmlformats.org/officeDocument/2006/relationships/notesMaster" Target="/ppt/notesMasters/notesMaster1.xml" Id="R8d54c175deda4f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9ffbe1f406463e" /><Relationship Type="http://schemas.openxmlformats.org/officeDocument/2006/relationships/notesMaster" Target="/ppt/notesMasters/notesMaster1.xml" Id="R51531eec7d2940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6bb5d1ba804ad4" /><Relationship Type="http://schemas.openxmlformats.org/officeDocument/2006/relationships/notesMaster" Target="/ppt/notesMasters/notesMaster1.xml" Id="R357cb05fafd448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628801b8a14e4e" /><Relationship Type="http://schemas.openxmlformats.org/officeDocument/2006/relationships/notesMaster" Target="/ppt/notesMasters/notesMaster1.xml" Id="R35c58e94526140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d8fbb01ed24872" /><Relationship Type="http://schemas.openxmlformats.org/officeDocument/2006/relationships/notesMaster" Target="/ppt/notesMasters/notesMaster1.xml" Id="R719e112d6c094a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47562c3a274f04" /><Relationship Type="http://schemas.openxmlformats.org/officeDocument/2006/relationships/notesMaster" Target="/ppt/notesMasters/notesMaster1.xml" Id="Rab9348b8138040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502cc1f59a45f4" /><Relationship Type="http://schemas.openxmlformats.org/officeDocument/2006/relationships/notesMaster" Target="/ppt/notesMasters/notesMaster1.xml" Id="Re80dfeb05ad849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a82c7b6709465b" /><Relationship Type="http://schemas.openxmlformats.org/officeDocument/2006/relationships/notesMaster" Target="/ppt/notesMasters/notesMaster1.xml" Id="R1a96924b43aa49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52d89b656f469b" /><Relationship Type="http://schemas.openxmlformats.org/officeDocument/2006/relationships/notesMaster" Target="/ppt/notesMasters/notesMaster1.xml" Id="R3dc56944cecc45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39e50d945a4e0d" /><Relationship Type="http://schemas.openxmlformats.org/officeDocument/2006/relationships/notesMaster" Target="/ppt/notesMasters/notesMaster1.xml" Id="Rc0c3ed54c9744e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250375bc3b4023" /><Relationship Type="http://schemas.openxmlformats.org/officeDocument/2006/relationships/notesMaster" Target="/ppt/notesMasters/notesMaster1.xml" Id="R7f73459b17464f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936ece07df43c4" /><Relationship Type="http://schemas.openxmlformats.org/officeDocument/2006/relationships/notesMaster" Target="/ppt/notesMasters/notesMaster1.xml" Id="R6a82af80b9514e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45cb6b85ce4224" /><Relationship Type="http://schemas.openxmlformats.org/officeDocument/2006/relationships/notesMaster" Target="/ppt/notesMasters/notesMaster1.xml" Id="R3fad90e0c3d142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e8286e764e4774" /><Relationship Type="http://schemas.openxmlformats.org/officeDocument/2006/relationships/notesMaster" Target="/ppt/notesMasters/notesMaster1.xml" Id="Rd0080e96d5494b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47f643c4c041e3" /><Relationship Type="http://schemas.openxmlformats.org/officeDocument/2006/relationships/notesMaster" Target="/ppt/notesMasters/notesMaster1.xml" Id="Ra10c15ef48c249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9628639e424d8e" /><Relationship Type="http://schemas.openxmlformats.org/officeDocument/2006/relationships/notesMaster" Target="/ppt/notesMasters/notesMaster1.xml" Id="R5f7129cca09a49e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5433d84df44114" /><Relationship Type="http://schemas.openxmlformats.org/officeDocument/2006/relationships/notesMaster" Target="/ppt/notesMasters/notesMaster1.xml" Id="Rab1fbe2b1e3446d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bbc23973ea8406f" /><Relationship Type="http://schemas.openxmlformats.org/officeDocument/2006/relationships/notesMaster" Target="/ppt/notesMasters/notesMaster1.xml" Id="Re49e7df5177b488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f7f271a4db941d4" /><Relationship Type="http://schemas.openxmlformats.org/officeDocument/2006/relationships/notesMaster" Target="/ppt/notesMasters/notesMaster1.xml" Id="R4da291bba0a3400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18b89aa6ce14696" /><Relationship Type="http://schemas.openxmlformats.org/officeDocument/2006/relationships/notesMaster" Target="/ppt/notesMasters/notesMaster1.xml" Id="Rca31886e6d6e463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f4de87f5f5543cf" /><Relationship Type="http://schemas.openxmlformats.org/officeDocument/2006/relationships/notesMaster" Target="/ppt/notesMasters/notesMaster1.xml" Id="R3700e63fb05c463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c6c305884f3461e" /><Relationship Type="http://schemas.openxmlformats.org/officeDocument/2006/relationships/notesMaster" Target="/ppt/notesMasters/notesMaster1.xml" Id="Ra088384e2a6a439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8b5cc108b7e4181" /><Relationship Type="http://schemas.openxmlformats.org/officeDocument/2006/relationships/notesMaster" Target="/ppt/notesMasters/notesMaster1.xml" Id="Rc1c28a6d016e424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1659e63a57b4545" /><Relationship Type="http://schemas.openxmlformats.org/officeDocument/2006/relationships/notesMaster" Target="/ppt/notesMasters/notesMaster1.xml" Id="Rea9c1c06ec04433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2a8de4847944523" /><Relationship Type="http://schemas.openxmlformats.org/officeDocument/2006/relationships/notesMaster" Target="/ppt/notesMasters/notesMaster1.xml" Id="R93b4ed6c50054d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1f16e0bc594b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690514ba1746d0" /><Relationship Type="http://schemas.openxmlformats.org/officeDocument/2006/relationships/slideLayout" Target="/ppt/slideLayouts/slideLayout1.xml" Id="Red64ce47965948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64ce47965948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d2909a7704f5d" /><Relationship Type="http://schemas.openxmlformats.org/officeDocument/2006/relationships/notesSlide" Target="/ppt/notesSlides/notesSlide1.xml" Id="R757c94a085a945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b0d612320407b" /><Relationship Type="http://schemas.openxmlformats.org/officeDocument/2006/relationships/notesSlide" Target="/ppt/notesSlides/notesSlide2.xml" Id="Rc0341efbf4ce48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2b829e2964256" /><Relationship Type="http://schemas.openxmlformats.org/officeDocument/2006/relationships/notesSlide" Target="/ppt/notesSlides/notesSlide3.xml" Id="R2c28df07904e4f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09c4f104d4578" /><Relationship Type="http://schemas.openxmlformats.org/officeDocument/2006/relationships/notesSlide" Target="/ppt/notesSlides/notesSlide4.xml" Id="Rf865b782bed045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7ca1f659134f62" /><Relationship Type="http://schemas.openxmlformats.org/officeDocument/2006/relationships/notesSlide" Target="/ppt/notesSlides/notesSlide5.xml" Id="Rcea5be01145544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7a84dda36457a" /><Relationship Type="http://schemas.openxmlformats.org/officeDocument/2006/relationships/notesSlide" Target="/ppt/notesSlides/notesSlide6.xml" Id="R53c1ac11570d4d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1139f5a0a49ee" /><Relationship Type="http://schemas.openxmlformats.org/officeDocument/2006/relationships/notesSlide" Target="/ppt/notesSlides/notesSlide7.xml" Id="R0f63a4b8ce8b4c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bd9bd77bc444d" /><Relationship Type="http://schemas.openxmlformats.org/officeDocument/2006/relationships/notesSlide" Target="/ppt/notesSlides/notesSlide8.xml" Id="Rd556ff7cd94143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d40ffd175476b" /><Relationship Type="http://schemas.openxmlformats.org/officeDocument/2006/relationships/notesSlide" Target="/ppt/notesSlides/notesSlide9.xml" Id="Ra6ff5cc03e3249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12c41690747ab" /><Relationship Type="http://schemas.openxmlformats.org/officeDocument/2006/relationships/notesSlide" Target="/ppt/notesSlides/notesSlide10.xml" Id="R558eb62cf2f147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96b425fd1465a" /><Relationship Type="http://schemas.openxmlformats.org/officeDocument/2006/relationships/notesSlide" Target="/ppt/notesSlides/notesSlide11.xml" Id="Recf8df89b5244a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f02168b564c98" /><Relationship Type="http://schemas.openxmlformats.org/officeDocument/2006/relationships/notesSlide" Target="/ppt/notesSlides/notesSlide12.xml" Id="R7a253630537046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055ba069746d4" /><Relationship Type="http://schemas.openxmlformats.org/officeDocument/2006/relationships/notesSlide" Target="/ppt/notesSlides/notesSlide13.xml" Id="R20099bf5e98c4e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84525786d4976" /><Relationship Type="http://schemas.openxmlformats.org/officeDocument/2006/relationships/notesSlide" Target="/ppt/notesSlides/notesSlide14.xml" Id="R087fda56bdd540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1c47131f54c84" /><Relationship Type="http://schemas.openxmlformats.org/officeDocument/2006/relationships/notesSlide" Target="/ppt/notesSlides/notesSlide15.xml" Id="R1a7757ef308f432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ca1310e394ce0" /><Relationship Type="http://schemas.openxmlformats.org/officeDocument/2006/relationships/notesSlide" Target="/ppt/notesSlides/notesSlide16.xml" Id="R6576323959584c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752e45b8a4ac2" /><Relationship Type="http://schemas.openxmlformats.org/officeDocument/2006/relationships/notesSlide" Target="/ppt/notesSlides/notesSlide17.xml" Id="Ra1907b0884bb4c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66ce507964c2f" /><Relationship Type="http://schemas.openxmlformats.org/officeDocument/2006/relationships/notesSlide" Target="/ppt/notesSlides/notesSlide18.xml" Id="R99a0439d91c7416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5473ba6854d07" /><Relationship Type="http://schemas.openxmlformats.org/officeDocument/2006/relationships/notesSlide" Target="/ppt/notesSlides/notesSlide19.xml" Id="R85be4fb2a3f7457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7d54ed0494321" /><Relationship Type="http://schemas.openxmlformats.org/officeDocument/2006/relationships/notesSlide" Target="/ppt/notesSlides/notesSlide20.xml" Id="R6b2c8c72e99648c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1d683af344042" /><Relationship Type="http://schemas.openxmlformats.org/officeDocument/2006/relationships/notesSlide" Target="/ppt/notesSlides/notesSlide21.xml" Id="R31d93fc79982424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9c37a961b4afb" /><Relationship Type="http://schemas.openxmlformats.org/officeDocument/2006/relationships/notesSlide" Target="/ppt/notesSlides/notesSlide22.xml" Id="R1b713b87b0d349d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f8f30c32d4faa" /><Relationship Type="http://schemas.openxmlformats.org/officeDocument/2006/relationships/notesSlide" Target="/ppt/notesSlides/notesSlide23.xml" Id="R3a8d28365076455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0f35c8a7e49b3" /><Relationship Type="http://schemas.openxmlformats.org/officeDocument/2006/relationships/notesSlide" Target="/ppt/notesSlides/notesSlide24.xml" Id="R50f5214f18d24dc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e57b818cd4a46" /><Relationship Type="http://schemas.openxmlformats.org/officeDocument/2006/relationships/notesSlide" Target="/ppt/notesSlides/notesSlide25.xml" Id="Ra2d643c44d22437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2c681164e40ca" /><Relationship Type="http://schemas.openxmlformats.org/officeDocument/2006/relationships/notesSlide" Target="/ppt/notesSlides/notesSlide26.xml" Id="R6944f5f3ab4a4f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A47025-36ED-4C5B-B752-53F970CA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6A044-D5D3-482F-9435-5D179458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4AABA-EEAE-4E19-83AC-076C3695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63ED5-7FAD-4E9E-9B91-D2685E27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143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Experience &amp; Ecosystem Readiness 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53329-B48E-43A9-95E8-240A6D92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14450"/>
            <a:ext cx="7239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Make Connect easier to do business with.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B0DAF-782E-4BD9-B8EF-0C5BADAC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0"/>
            <a:ext cx="7429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6DEE8"/>
                </a:solidFill>
                <a:latin typeface="Arial"/>
                <a:ea typeface="Arial"/>
                <a:cs typeface="Arial"/>
              </a:defRPr>
            </a:pPr>
            <a:r>
              <a:t>A practical 4-week path to align customer experience, platform direction and a delivery-ready decision pack.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0F74D-8778-4709-A1AF-5E41C62B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5310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C3CF"/>
                </a:solidFill>
                <a:latin typeface="Arial"/>
                <a:ea typeface="Arial"/>
                <a:cs typeface="Arial"/>
              </a:defRPr>
            </a:pPr>
            <a:r>
              <a:t>Prepared for ASSA ABLOY Americas   |   June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86641-B9CB-488F-93EE-16390B7C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0579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Thinking Breakthroughs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1119B-09B9-4E61-BC95-FD4A3D1A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76950"/>
            <a:ext cx="857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</p:spTree>
    <p:extLst>
      <p:ext uri="{BB962C8B-B14F-4D97-AF65-F5344CB8AC3E}">
        <p14:creationId xmlns:p14="http://schemas.microsoft.com/office/powerpoint/2010/main" val="12887924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CF1235-A88B-4515-9F10-53673380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FAC27-7DD2-497B-96C0-60A205B0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638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5BF8D-EBB4-4044-9572-D1C6A0CD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Executive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5ADD0-9EE4-4487-BF2F-DE0D09FC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Connect can become the easiest path to doing business with ASSA ABLOY.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26D8A-979F-4330-AA18-A2CDDD57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The opportunity is to align a modern portal experience with the full ecosystem customers rely 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F4E37-F8B9-4E90-AEAE-21DB59EA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18D1A-3CBA-477D-98C4-2638A57D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7370C-3A84-4F69-A59D-DACEDC1D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1432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E74AD-212D-4B40-83EB-79D20923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37E05-57CF-4D6D-910C-1BA185B1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800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Customer ambition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6AA80-B8DC-4C9F-8890-D8C22CDD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7813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Help distributors, partners and teams find answers, complete work and move across brands with less effort and more 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372D6-D682-43C6-826E-279F56F7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1432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3F2A59-7078-4F04-9F9D-6CAD4D19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5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6809C-666B-4E19-8322-1ABBA178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52700"/>
            <a:ext cx="2800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Platform opportunity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DB274-31B4-40B1-93C9-87E2E456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14650"/>
            <a:ext cx="27813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Use AEM as a modern experience foundation while designing the context, content, entitlement and integration model around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7D454-F091-4B63-8D13-848A0EAC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234DC-FD67-479A-94FD-48198FBB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0E73A0-17CF-4BE9-B1EA-45023E31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52700"/>
            <a:ext cx="2800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Business 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AF2604-D15E-4E5F-8331-F5A081D9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7813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Create a practical modernization path that improves service, supports growth and protects flexibility for future digital investments.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A4D4A8-4682-43A6-990A-9FF1E07E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799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The recommendation: align experience, platform and operating decisions before committing to a build path.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282E1-27F8-4D79-A9C1-A5E4EE76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885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7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That gives ASSA ABLOY a shared direction that is credible for IT, meaningful for business and valuable for customers.</a:t>
            </a:r>
          </a:p>
        </p:txBody>
      </p:sp>
    </p:spTree>
    <p:extLst>
      <p:ext uri="{BB962C8B-B14F-4D97-AF65-F5344CB8AC3E}">
        <p14:creationId xmlns:p14="http://schemas.microsoft.com/office/powerpoint/2010/main" val="3266301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9B8571-3372-40D6-B319-FC29B482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B5E5A-4B6B-42F7-934F-8163CB01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00A38-C16F-45DD-AD34-E451B159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Executive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87B5A-1F8C-4BC6-957D-2638DC33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Approve a 4-week readiness workshop to define the first buildable Connect MVP.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51755-5614-411C-B732-682C4192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The goal is to reduce modernization risk before larger portal investment decisions are made.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66795-3405-4850-A72F-EEF9CF6D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E6E08-A0CA-45B6-B845-EF7E7F7F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03466-ADEA-4C8D-8801-4DCBAD9B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14325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454F7-79F1-4FA4-9706-EC29D127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C4DEA-8B57-48D1-8D72-D9956DAF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2800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Why 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5D862-5616-4654-9B15-87CC60ED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2781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Connect is the customer-facing control point across brands, orders, documents, support, billing, keying and partner tools.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32FA8-FF40-4773-B774-66F212E2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14325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36AF8-DA06-4E48-98F3-E010CCC8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5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BBC7D-0FA1-47AF-B74E-9423FE89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2800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What it de-risks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7EDC2-D48C-4927-8E5A-0A57D3CD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14650"/>
            <a:ext cx="2781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Experience priorities, AEM boundaries, entitlement/context needs, link-out treatment, delivery dependencies and KPI baselines.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9BABC-AA6B-4862-B8F3-2E016CD8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14325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99CFFB-47AE-4815-9203-D087EB51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4762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43E66-E3D2-41B9-BEF9-24A9AE8D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52700"/>
            <a:ext cx="2800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What ASSA ABLOY gets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D8EB9-7633-4779-886B-4CD90C86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2781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A delivery-ready decision pack: MVP release thesis, prototype direction, architecture path, backlog, risks and validation plan.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40B5F0-2CB0-47F3-B035-E0688D0E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990600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0DBC3C-1297-46AB-ACB6-EAF998F1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933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Decision after week 4: approve MVP delivery scope, validate selected items with customers, or defer lower-value paths.</a:t>
            </a:r>
          </a:p>
        </p:txBody>
      </p:sp>
    </p:spTree>
    <p:extLst>
      <p:ext uri="{BB962C8B-B14F-4D97-AF65-F5344CB8AC3E}">
        <p14:creationId xmlns:p14="http://schemas.microsoft.com/office/powerpoint/2010/main" val="4507255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A3E1D0-0641-4F54-8CA4-FA25A272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F85A2-868A-4E3C-A44E-F8B7B0B3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7713B-F224-4B88-9508-92B635FB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485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ASSA ABLOY reality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E4FE4-BE4B-4B51-B160-E50FE4DC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Connect serves a distinctive B2B ecosystem.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FC467-8E57-4E87-9740-DC6491B7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Customers navigate many brands, roles, systems and service moments to get their work done.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6B097-9876-44CF-8AF0-047D8FB5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54257-C164-4962-81FD-30B079DD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A8FF-8AE8-4090-A85C-F278DC52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953000" cy="2876550"/>
          </a:xfrm>
          <a:prstGeom xmlns:a="http://schemas.openxmlformats.org/drawingml/2006/main" prst="roundRect">
            <a:avLst>
              <a:gd name="adj" fmla="val 1987"/>
            </a:avLst>
          </a:prstGeom>
          <a:solidFill xmlns:a="http://schemas.openxmlformats.org/drawingml/2006/main">
            <a:srgbClr val="F2F5F7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26E42-2684-4CA4-BA95-6260A632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Current estate 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AAF7C-9CC0-4853-917C-65D5615F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0764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CF5B2-E691-4177-9ED1-54BDD206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777ED-9766-4CD6-BEE2-5284817C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733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60-80 brand estate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2C2E1-D2EA-4106-A700-4384CA04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1714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01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Brand sites, webshops, configurators, partner programs, documents and ordering tools.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A975B-D7E5-4C10-90FC-DC0A9264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81300"/>
            <a:ext cx="20764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9C7E2-A92A-4A13-A66E-94260FF4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813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54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3AD8E-6CB8-45E1-B6BB-0F2A8EC6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52750"/>
            <a:ext cx="1733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13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Entitlement complexity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38544-B386-452F-A0DF-56191142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14700"/>
            <a:ext cx="1714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57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Distributor, internal employee impersonation, simple user, and emerging specifier needs.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4965A-ECBB-46C9-BAD3-9530BDF5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343400" cy="933450"/>
          </a:xfrm>
          <a:prstGeom xmlns:a="http://schemas.openxmlformats.org/drawingml/2006/main" prst="roundRect">
            <a:avLst>
              <a:gd name="adj" fmla="val 61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2F9FFF-A808-48A5-8180-3F072E85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04F1EE-4B4A-4935-990E-A911F427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Existing stack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06597F-BB82-4D11-A5C3-F75FC939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3981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Smart GWT, Java/Spring, Liferay, DAM, CRC Dash, Azure AD B2C, MySQL/Mongo, Dynamics.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6B8FF-1D2C-4A3B-9E03-534CACBB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572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B39FAB-7CCF-490B-BDCE-A3211597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Current Connect system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2EA1E8-B714-4614-91F5-9FC37089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142875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CE97CE-1006-4AF9-A031-5A4D756B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1428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Connect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3B4DFA-F6C6-4F0E-BE9A-5D467C25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18097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B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F0E4DB-DC7A-4DC2-8434-6012E6EF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1809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CRC Dash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4521AC-94E2-4DCF-8641-668B758E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18097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B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85D380-4F04-4067-A836-B784D12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1809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DAM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38F86C-981B-4699-96DB-899CBDF5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18097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B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0B8A54-9A65-48D2-8D0B-7ED14A12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1809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Liferay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250739-9DE7-43FD-A279-1FDBB6D2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9550"/>
            <a:ext cx="18097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219F94-1BDF-49E6-BAF6-A2728EE4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1809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Azure AD B2C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5C4A99-C042-4500-AF97-4068DF0D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9600"/>
            <a:ext cx="18097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C8E14B-05F4-4E5A-98C0-23C0120A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1809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Dynamics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00934F-23F8-4B92-BB3F-AF169C85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19600"/>
            <a:ext cx="18097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57CBE7-5862-4CEB-8DDA-1C7C6720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1809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MySQL/Mongo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A0FDCC-E94E-4453-A4C2-E60016DE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19650"/>
            <a:ext cx="18097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0F3EC2-6D29-49B9-97AE-D285A1C9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1809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Webshops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979DC8-FFF9-4552-93CE-2367AAAE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19650"/>
            <a:ext cx="18097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E1E09B-005C-47E0-B7C7-8CB63B38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95850"/>
            <a:ext cx="18097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Brand sites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5155EE-2807-4FCB-822B-EB2FC86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4099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459C75-EAD8-4326-B56C-90BD5534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v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6AAA20-8ECD-4005-ACE4-5F0386DF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81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76DC9B-D674-468B-9CFC-B4E25638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1942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EE3C86-1B28-498A-8754-59BDDDD4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05175"/>
            <a:ext cx="2105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404673-63D2-4701-BC63-8882320C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2897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3765D6-FC13-4A5E-9383-C6488752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95625"/>
            <a:ext cx="2105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026941-5A70-4554-B200-A63816BD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1942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BC8AFE-EDDA-4F28-B335-DF962416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4381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8391"/>
                </a:solidFill>
                <a:latin typeface="Arial"/>
                <a:ea typeface="Arial"/>
                <a:cs typeface="Arial"/>
              </a:defRPr>
            </a:pPr>
            <a:r>
              <a:t>Source evidence: Connect Application Overview</a:t>
            </a:r>
          </a:p>
        </p:txBody>
      </p:sp>
    </p:spTree>
    <p:extLst>
      <p:ext uri="{BB962C8B-B14F-4D97-AF65-F5344CB8AC3E}">
        <p14:creationId xmlns:p14="http://schemas.microsoft.com/office/powerpoint/2010/main" val="8528467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E6ADE3-C476-4EF2-ADA3-BAD432FC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57DB5-0C3C-4415-B13E-E46A1B42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2D24A-693C-4123-A0CB-714270A3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F12E9-587B-4C8C-985D-F341AC0B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Main point of 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E601C-CBB9-4A80-A299-90135A58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742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Connect can become the front door.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0662F-88B8-478D-855F-D1997FA4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7810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The experience should guide customers through the full ASSA ABLOY ecosystem.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0248E-2C00-4D82-88AE-57A340A5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3300"/>
            <a:ext cx="7620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79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6DEE8"/>
                </a:solidFill>
                <a:latin typeface="Arial"/>
                <a:ea typeface="Arial"/>
                <a:cs typeface="Arial"/>
              </a:defRPr>
            </a:pPr>
            <a:r>
              <a:t>Customers experience the whole estate: orders, brands, documents, billing, keying, projects, training, webshops and support. The workshop defines how those moments become easier to navigate and easier to act inside.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23ED4-0838-4B63-810F-0B69461B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7ACA1-BD55-4460-9A00-50A2FF8F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676554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CF8347-7AD5-4300-899D-B2FC627D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B5435-CCED-4DD4-999B-66727D8A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075E8-469F-4CDB-92F2-48BF607C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Decision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86102-47D2-4507-AE03-2E05EDC5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One workshop. Three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24F0B-7436-4E98-808F-9C6E0530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The right outcome is a shared modernization direction for Connect.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1CF5B-C91A-46C5-8267-A32BA9F9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7A12E-82D2-4BE8-A12D-BED85B89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491728-3B3E-49DD-9081-DA33F640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857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00370-61D9-4A94-8435-EB5E5033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4E939-A8B0-4348-9DA7-8FAF3AE6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Experience 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A18E5-7371-41B9-A036-F8341220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2190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D8E3"/>
                </a:solidFill>
                <a:latin typeface="Arial"/>
                <a:ea typeface="Arial"/>
                <a:cs typeface="Arial"/>
              </a:defRPr>
            </a:pPr>
            <a:r>
              <a:t>What should Connect become for customers?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ABA38-F951-483C-B622-4B8EFA21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718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39680-69FC-4B3B-ADD1-C6045EFE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232B7-9CEF-444F-82C1-A7BD0507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2857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70B7C-56C2-4809-90E8-F2EF24AE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8130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D250A-73FD-491C-9FDF-741F6174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384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Platform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EB9E3C-1699-4E64-BB47-F01D3898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2190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How should AEM, existing systems and partner tools work together?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CA918-DA62-4EE1-B9E4-E497375E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71850"/>
            <a:ext cx="800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5FC86-0CF4-4D5A-B929-FC3036C4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9565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8C5171-2342-4988-8DF6-9D1AE738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857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CFB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F028C-26AA-464C-B226-9630F8E9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0ED43-9087-465C-BEA1-8BBAD4BE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38450"/>
            <a:ext cx="2190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MVP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6C4939-E1C5-4F1E-8598-EC0A0684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38500"/>
            <a:ext cx="2190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Which bounded slice improves ease of business first?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29FD35-A35B-404B-8255-3213E677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990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21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Experience direction -&gt; platform role -&gt; ecosystem strategy -&gt; proof journeys -&gt; year-end MVP backlog.</a:t>
            </a:r>
          </a:p>
        </p:txBody>
      </p:sp>
    </p:spTree>
    <p:extLst>
      <p:ext uri="{BB962C8B-B14F-4D97-AF65-F5344CB8AC3E}">
        <p14:creationId xmlns:p14="http://schemas.microsoft.com/office/powerpoint/2010/main" val="19514798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5BAED1-873A-4E22-A985-81598715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0CAC1-33B7-4D80-B1D1-7648F2D3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7FEF8-4083-458B-9C29-DEA043BF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4097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Target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3FADA-A539-469F-A996-349D8587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Build toward an adaptive experience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091FB-6969-4629-A19A-D5703BB2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A modern Connect experience carries intent, context and trust across customer journeys.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5B5C6-93E4-4509-B46E-F4995A63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0C4E3-63F7-4A53-943E-6B941D0A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74D7B-CB62-4453-B78B-954539D5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33600"/>
            <a:ext cx="103822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3BED2-E391-4680-9C1C-F2DC834F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Adaptive experience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342EF-93F1-4912-BB39-90506101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860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Intent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FE428-0EB9-42A5-B533-A742988F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1238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63C08-4C71-47FB-B2BC-D12B2682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Trust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27EC4-21F6-4FFC-ABB6-1EE1B8D3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336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DEE8"/>
                </a:solidFill>
                <a:latin typeface="Arial"/>
                <a:ea typeface="Arial"/>
                <a:cs typeface="Arial"/>
              </a:defRPr>
            </a:pPr>
            <a:r>
              <a:t>Recognize the job.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12DD9-0138-4779-87CE-542AEB50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DEE8"/>
                </a:solidFill>
                <a:latin typeface="Arial"/>
                <a:ea typeface="Arial"/>
                <a:cs typeface="Arial"/>
              </a:defRPr>
            </a:pPr>
            <a:r>
              <a:t>Carry the state.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3954B-522F-4FD2-80F7-0AFC49AD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1524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6DEE8"/>
                </a:solidFill>
                <a:latin typeface="Arial"/>
                <a:ea typeface="Arial"/>
                <a:cs typeface="Arial"/>
              </a:defRPr>
            </a:pPr>
            <a:r>
              <a:t>Bound and audit AI.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F1573-9FDE-4C37-81A2-B7668B44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190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54D83-C707-467A-88E5-916174EF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6710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EBE4B-D321-414B-BF98-3282C0B6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38500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orchestrates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C09A1-E008-4F3C-A038-FA3D6B65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38550"/>
            <a:ext cx="103822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6A9E92-9130-4C71-BC47-7C98C0A9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165735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076059-06BA-4193-AC63-CA7C2C3D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81450"/>
            <a:ext cx="165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AEM foundation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C0CFD1-1442-4136-97B2-BAE917E1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05250"/>
            <a:ext cx="165735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12D08-F259-46D7-894F-E12CC4D9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81450"/>
            <a:ext cx="165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CRM/Dynamics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6EBBFB-35DC-4A99-8FCF-1C159999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165735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697728-CEA7-4EF0-87F9-BFD04038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81450"/>
            <a:ext cx="165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Webshops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CEE628-D32D-42B5-B028-8D7ABB9E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05250"/>
            <a:ext cx="165735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FBEA06-706A-4688-8B30-0EFBF6D5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165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7091DF-0357-4BDA-AB30-B7BD4378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05250"/>
            <a:ext cx="165735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607FEF-1164-4830-A466-5490E753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81450"/>
            <a:ext cx="165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Identity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AC495C-9DC5-4119-BA03-B49C71C7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165735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E0AF94-117B-475B-AEF2-26ECD275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165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CRC Dash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9EF47B-D4A8-4E25-8F84-95AB4D80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24350"/>
            <a:ext cx="165735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10B344-496B-4C8A-A835-077A195B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00550"/>
            <a:ext cx="165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Liferay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634244-FFE8-4342-A8A0-4390D7ED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24350"/>
            <a:ext cx="165735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712382-AE8B-4478-841A-AFE07A66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00550"/>
            <a:ext cx="165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MySQL/Mongo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D7CE8E-AC09-428F-B4B7-BAA9A6E9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324350"/>
            <a:ext cx="1657350" cy="285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74EDE8-B251-415B-908F-7BB1D027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00550"/>
            <a:ext cx="16573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Java/Spring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2EE747-2950-4688-A0F5-ADBFD62D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952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91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Future-proofing comes from designing the experience foundation, context model, orchestration and governance together.</a:t>
            </a:r>
          </a:p>
        </p:txBody>
      </p:sp>
    </p:spTree>
    <p:extLst>
      <p:ext uri="{BB962C8B-B14F-4D97-AF65-F5344CB8AC3E}">
        <p14:creationId xmlns:p14="http://schemas.microsoft.com/office/powerpoint/2010/main" val="2464953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AD8CF1-976B-4771-B38F-1B4767C2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96C88-123F-4A80-89B7-E37EAA8D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485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C81FC-1B5C-4FB6-B127-D5BAADEC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81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Proof journeys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02F41-6072-42AC-ACE7-F0DB5DCD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414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Start with the work customers are trying to complete.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727D9-B5A3-4D19-96EC-8110E88F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Ease of doing business becomes real when priority journeys become simpler.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2BF4C-470C-43FF-AB93-F6ACFD24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0D9A7-2C26-4D45-B268-7316BBF2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5B105-9A91-4EBD-9D55-3B0CC648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2385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E7D41-461F-40F2-B7A6-E0B12AA9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C1C8F-38A6-4E49-B2D4-F0D460EE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2895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"Why has this order stalled?"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27116-6C0A-48DB-B447-FBF4A293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28765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Distributor daily pain. Measures support deflection, time-to-answer and order 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F30D3-F06B-481C-B55A-630DE789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2385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27914-9C73-4DD7-AF4B-114ACEEF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5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581F7-04BF-4FE9-818E-19A6D864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2895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14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"Find the right document for this call."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83A4B-4DF6-460A-B7F4-001139BF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14650"/>
            <a:ext cx="28765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High-frequency, lower-risk proof. Measures search success, document deflection and CSR effort.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3ED92-4E38-44E5-BB17-9AE36F3B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385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761CD3-B9CB-4A6E-B374-38B5D9FC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4E209-9C75-45F6-8FD3-19C33497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52700"/>
            <a:ext cx="2895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"Which openings need action?"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372C0-2CE5-4930-8B10-630F10C2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28765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Specifier/project moment. Connects Openings Studio/BIM-style signals to downstream action.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AFC6E-36EB-4CCF-ACDC-C9270625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6680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D70C2-7797-4413-9B05-7789E1F5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1009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331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Workshop decision: pick one production slice, one user cohort, the systems involved, the first release boundary and the KPI baseline.</a:t>
            </a:r>
          </a:p>
        </p:txBody>
      </p:sp>
    </p:spTree>
    <p:extLst>
      <p:ext uri="{BB962C8B-B14F-4D97-AF65-F5344CB8AC3E}">
        <p14:creationId xmlns:p14="http://schemas.microsoft.com/office/powerpoint/2010/main" val="12090092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4F4193-93AB-4454-98D0-415DF958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B24F6-4C9C-4FD6-A09D-2C7B0766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03AB7-8EC3-44A0-9DA6-8D712DD4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638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Client mockup signal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C6254-5664-4331-8246-D7B948A2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The mockups already point beyond a portal.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543F9A-1837-4EE4-B2BF-9EA65AB4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They show intent-led entry, role-aware surfaces, in-context AI and project context.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7C35A5-34EF-4F62-8E65-11D412AE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7354F-52FE-4A9A-82CB-2C7F3B25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0338C-05A2-45D7-A6D3-3D5ACDB5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0005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80955-ECF5-4CCB-9DEA-CAEED5F8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78391"/>
                </a:solidFill>
                <a:latin typeface="Arial"/>
                <a:ea typeface="Arial"/>
                <a:cs typeface="Arial"/>
              </a:defRPr>
            </a:pPr>
            <a:r>
              <a:t>Mockup signal 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755A7-1161-4438-94D1-AED7AA06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Intent-led entry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0804F-FE25-4E4F-93E9-37E6FB54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31432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5F7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E5690-7749-4D25-BD3D-D18666FB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27622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My workspace: orders, quotes, docs, projects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2352D-6164-46D0-AE3F-F5BB4C0A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87630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B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58E9D-C15A-4F9C-BD9C-AC4CAF68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24300"/>
            <a:ext cx="87630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B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25BCF-CF80-4C52-B589-A1DE7483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24300"/>
            <a:ext cx="87630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CFB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9C097-0386-4A05-8CD6-8195F853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4000500" cy="226695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E31CB-A1FA-4BB5-A951-25B43F2C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193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78391"/>
                </a:solidFill>
                <a:latin typeface="Arial"/>
                <a:ea typeface="Arial"/>
                <a:cs typeface="Arial"/>
              </a:defRPr>
            </a:pPr>
            <a:r>
              <a:t>Mockup signal 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AF5FD-1BC0-440B-A626-7CF597CF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81300"/>
            <a:ext cx="3333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34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In-context AI + project 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56FE7-09F4-458F-889B-16FB3AFF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09950"/>
            <a:ext cx="2000250" cy="914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2F5F7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D31EFC-D746-4F29-910D-794EB5F3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338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25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Floor plan / openings 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ABC2FF-7AFE-46C4-A054-3983A0F4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09950"/>
            <a:ext cx="1238250" cy="914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2320B-E304-499A-B968-3F95299A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5285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assistant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BD7DB4-D1FE-4262-B684-93A042B9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1428750" cy="22669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D4698B-E300-42D1-A07E-0D630B14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1047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Use them as a strong starting point for validation.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10E8F1-1D57-42D5-B140-6712A4B3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38550"/>
            <a:ext cx="10668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03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DEE8"/>
                </a:solidFill>
                <a:latin typeface="Arial"/>
                <a:ea typeface="Arial"/>
                <a:cs typeface="Arial"/>
              </a:defRPr>
            </a:pPr>
            <a:r>
              <a:t>The workshop turns these signals into a confidence-rated journey, architecture and backlog.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D38844-F946-47B3-A599-CF4673BA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571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8391"/>
                </a:solidFill>
                <a:latin typeface="Arial"/>
                <a:ea typeface="Arial"/>
                <a:cs typeface="Arial"/>
              </a:defRPr>
            </a:pPr>
            <a:r>
              <a:t>Source evidence: Customer Portal Design mockups</a:t>
            </a:r>
          </a:p>
        </p:txBody>
      </p:sp>
    </p:spTree>
    <p:extLst>
      <p:ext uri="{BB962C8B-B14F-4D97-AF65-F5344CB8AC3E}">
        <p14:creationId xmlns:p14="http://schemas.microsoft.com/office/powerpoint/2010/main" val="877630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AD7590-6E45-4450-80F9-8626C657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DA99B-F74D-4F59-974E-82DD67E4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F3550-D345-41EB-A0D9-16805025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Context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61733-1B8A-4E87-B0D8-DE611292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The modernization hinges on continuity.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BAAF6-2D78-4886-BCE4-4BA89A59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For ASSA ABLOY, context is the hard part.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6D613-452D-41EB-B655-EE639116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2F2D8-5E79-4793-B63A-B5E26EE3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4B613-5D8F-42D9-BCDF-B3057311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4287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D9EC8-F3B7-4E09-824E-5553B254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200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Identity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296C4-9832-4F87-9D13-D21B1638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575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4A251-4F21-4857-B528-60F5D3AD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8135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8A3AE-D341-4752-8454-099DAF8D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0"/>
            <a:ext cx="14287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339A6-D970-4321-9240-CAA16A73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05150"/>
            <a:ext cx="1200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E0F2F2-7045-4537-BBC2-1637D201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575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65307-3BBD-44E2-A905-8289D612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520A4-EFE2-4530-B54E-65B1AB9E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14287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49A79-8A2F-4C68-9CD3-9D42DE0B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1200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Entitlement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D5FC3F-2C32-4DA0-B9CD-85F90C13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575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A635F-8FEF-47F2-BB64-4E5164AC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8135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CB5E5-A120-4F19-8430-42609AC4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4287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C04A4-B47B-43A8-A31F-1954AE0A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1200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Brand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F47D88-2FBD-46C4-A2A0-4DAAA571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575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C5AB16-7DF5-4AAD-9135-4A9E52F3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8135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F00E78-85DC-4313-9436-A91D4870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14287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60945D-0336-4391-AC94-DCFC2960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1200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Project/order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44D528-70A1-48F9-9DB2-64A73273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9B988E-21CD-47AF-9326-99F935A1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81350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1A4092-5989-40CF-A3F5-6D10A999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4287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C32BC-2E33-4CDA-97D5-3A4E6E2E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05150"/>
            <a:ext cx="1200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Next 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5F26FA-9A7F-4077-BF3C-5A78428E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Distributor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A906D6-88FE-4D6D-A0F6-51AF1A34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243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CSR impersonation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B2D0FE-BFC3-4F4A-B76E-5316896E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243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Brand-specific access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03DE67-F654-47D7-A4FD-D6C1D493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Project/order history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E84B5B-9110-4DFC-B6D4-74457D16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7584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Relevant document, quote, expedite, return or handoff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9BAA83-5311-4C51-83DA-DDEF798B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E97805-26E5-4342-AEEC-A1861138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721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When this chain works well, Connect feels less like a destination and more like a trusted workspace.</a:t>
            </a:r>
          </a:p>
        </p:txBody>
      </p:sp>
    </p:spTree>
    <p:extLst>
      <p:ext uri="{BB962C8B-B14F-4D97-AF65-F5344CB8AC3E}">
        <p14:creationId xmlns:p14="http://schemas.microsoft.com/office/powerpoint/2010/main" val="42819268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892405-B192-4DB7-9392-A6D7B72E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4AD6E-5338-4DCB-BA61-BEE6243F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7F680-D9DA-4785-838D-39375440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485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Ecosystem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03585-347A-4892-95E5-7807ED4C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3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Decide what Connect owns, orchestrates and governs.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F99F7-6B85-4180-B3AB-52762645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The link-out audit becomes a decision framework.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25815-AA24-4F0E-A313-83650592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F58F38-7F3D-4FC3-94A6-E2E293CD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C9453-0078-4FC7-B321-786E0982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668000" cy="3009900"/>
          </a:xfrm>
          <a:prstGeom xmlns:a="http://schemas.openxmlformats.org/drawingml/2006/main" prst="roundRect">
            <a:avLst>
              <a:gd name="adj" fmla="val 1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CC1C6-D235-4725-A8C0-26D63EBA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003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DC76E-6DF7-454E-BC4F-F19EB6C5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003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Examples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C30C8-BE9D-44A6-A2B2-5EF6EBF0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003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Workshop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ED07A-FCC3-4257-9E7D-E741A7CC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32F24F-5505-4DE4-B86C-17DD06E4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813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Own in Connect/AEM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2E402-8FF2-4CAB-96C6-D8F34484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030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Top tasks, resource discovery, onboarding, status views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79BC7-962A-4CAB-92ED-92DE6865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8130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What must feel native to reduce customer effort?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65A8A-F2F9-4E32-BEE6-2B3EE0D9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7EC1F-4A3A-445D-BDEC-3AABC205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Deep-link with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730DEC-0367-49FB-88B3-C6B69A1B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997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Brand sites, webshops, keying tools, rep locators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B78377-13EB-46C8-8D04-F7FCDED1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3850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What external tools need account, brand, role or order context?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43D618-602D-4194-9B18-4F67825B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C7633-CB51-4700-A429-30D1DC5B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957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Keep external, govern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11F616-0313-47C6-9299-5370CD23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957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Academy, compliance, specialist tools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22327B-4AB8-4661-AFD5-BA3EFA4A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9570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What stays outside but needs standards, labels and measurement?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21A86B-1784-4C10-A5F1-4141408E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27036E-2A80-4126-B341-F4321CAE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29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Consolidate or evolve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4AB139-3195-47F1-BA4B-3F144CFF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529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857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Duplicate news, scattered content, low-value links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EA05FD-FD22-44D6-992E-5D04B19E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5290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05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Where can simplification create the most customer value?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5AA6AD-0344-498D-8D91-C5D69A8F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90225D-BFD4-4466-931C-A19717DB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01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Instrument and learn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96D5F3-A9F8-44C0-BCF9-56522710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01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663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Search, link-outs, support tickets, abandoned tasks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08AF51-9915-4C02-A565-F16436D6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1010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How do we build evidence when customer research is constrained?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DE66F8-73DF-45BD-B47C-3CFF1743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028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Output: a governed link-out strategy that reduces effort while preserving the value of specialized systems.</a:t>
            </a:r>
          </a:p>
        </p:txBody>
      </p:sp>
    </p:spTree>
    <p:extLst>
      <p:ext uri="{BB962C8B-B14F-4D97-AF65-F5344CB8AC3E}">
        <p14:creationId xmlns:p14="http://schemas.microsoft.com/office/powerpoint/2010/main" val="1520886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D5D5CD-5FF5-4A77-AC7B-4E1C6024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492EC-9826-4C22-A889-9D0D9BEA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2CAC3-1B8A-4C17-A1E0-C19DE79A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485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Platform direction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CBC02-9365-4306-A63D-8F4636FF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563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AEM provides the foundation; orchestration creates the experience.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9439F-C377-4DC5-95CE-66108EB7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The workshop clarifies how the platform, systems and operating model work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73A72-54E3-490E-ABF6-EC285455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392C7-CA86-4F54-A88E-78C0C94E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5FC6D-5CA3-45D1-9DCC-83E11790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028700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56E52-D2C8-4BC3-812A-7A5D16B3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AEM 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E2B00-A239-494A-9AE8-D730AF3E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71775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1B477-7524-4096-9F73-5E0EEC7E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9557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055AC-DC5A-4228-A91B-D54B51D7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Context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7A7D5-CAF6-47A3-A80A-010B0F16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71775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694A25-0024-494A-887F-C82D196A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9557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95EE4-FC81-4005-AA18-386388DD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Systems/API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80407C-B6D5-4CA6-A7D8-BF48E5D8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71775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4C67C-4167-417C-B972-BAC1519E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9557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73BA38-7B0F-4DD2-A40D-DA35F366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479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Measurement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31690F-4AB4-4DF2-9219-2C186FE0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3241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6F66AA-B674-4544-AD93-134B7E96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8C6FE9-4198-416D-9F4C-237A1DAB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AEM is well suited for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ED551A-554F-4DE7-9CB7-DB5058E1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1962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Content, personalization, resource discovery and managed experience surfaces.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E9B62E-185F-4F2F-868D-DF1B5EC6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00500"/>
            <a:ext cx="23241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E3EAB-A405-46D6-8A8F-1DD75D0D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005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54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8E97B0-CD13-49B4-AC2F-FB09DE75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719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515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Connected experience needs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0D50C0-5FA5-4088-AA8B-CB663690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33900"/>
            <a:ext cx="1962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Entitlements, order workflows, keying tools, external systems and cross-brand context.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6F07C6-8B7F-478D-90BD-D95800D3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23241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BCE40E-03D6-4020-BB37-E66E2110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9D6FFE-0CB3-40BB-838A-0B101CFC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Future-proofing move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BE2615-242C-4FCC-915D-4224F66A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33900"/>
            <a:ext cx="1962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Define context and orchestration so the platform can evolve without unnecessary rework.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B69C36-D6BE-4502-B052-0F65AA79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2324100" cy="1104900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8B164C-01EA-430C-93AC-D79DECE7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54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E1EF53-0FB4-421E-898E-8D07F9F1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719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42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Responsible AI readiness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CA7363-6FDE-48FD-8212-62DCC845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33900"/>
            <a:ext cx="1962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148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Design source attribution, entitlement checks, audit trail and human handoff before assistant features.</a:t>
            </a:r>
          </a:p>
        </p:txBody>
      </p:sp>
    </p:spTree>
    <p:extLst>
      <p:ext uri="{BB962C8B-B14F-4D97-AF65-F5344CB8AC3E}">
        <p14:creationId xmlns:p14="http://schemas.microsoft.com/office/powerpoint/2010/main" val="18612684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92D0E7-0369-42C5-BB98-5337FC80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05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C9DA0-3ABD-400D-BAC2-B2E7C03A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44976-861D-411D-AB00-DC3ED860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0"/>
            <a:ext cx="333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23B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3A2B0-96A7-45B5-9A81-F4C163D8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Workshop purpose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F5958-3B10-4519-B96F-7E61A409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6096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Focused discovery.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1F0DE-499B-46B9-9141-8BDFC203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762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Evidence-led experience alignment.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F6A92-33FD-426D-A7C7-D3D03DE5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7810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6DEE8"/>
                </a:solidFill>
                <a:latin typeface="Arial"/>
                <a:ea typeface="Arial"/>
                <a:cs typeface="Arial"/>
              </a:defRPr>
            </a:pPr>
            <a:r>
              <a:t>We use available evidence: current Connect behavior, link-outs, feature inventory, system architecture, mockups, operational knowledge and focused SME validation to build a practical recommendation.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BB228-81B2-4F69-9677-FE899DE2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0F234-88F9-47DC-80E1-F77BDA84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6913258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3B648F-B694-441D-B27C-44EC39C9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21C5D-38B7-4715-8857-604827FC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562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9EAD7-9C56-43F4-BD5D-B1C58228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4-week approach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0D1C7-6D53-4831-A403-EC3FC001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1095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Fast enough for momentum. Rigorous enough for the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31063-9105-4BF4-AED4-BC3AF8C6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Strategy, design and engineering move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B52699-69B1-49F2-A190-84F2CF9F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4E3528-B44C-4BE5-8698-65BED598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8ACB5-53D4-4CB1-978D-34358686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32385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99491-C32B-4A91-90AA-05CC0510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08F81-2AC2-4602-8A46-DCB5D7F1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Evidence read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BB680-DA8E-402B-A6BE-6E4CAA22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78391"/>
                </a:solidFill>
                <a:latin typeface="Arial"/>
                <a:ea typeface="Arial"/>
                <a:cs typeface="Arial"/>
              </a:defRPr>
            </a:pPr>
            <a:r>
              <a:t>1-2 wks remote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634AC-CABA-418F-A163-FDBE2BC1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27432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Audit current Connect, link-outs, feature inventory, architecture, mockups, available usage/support data and Nagarro operating knowledge.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B067E-5785-4889-87F3-1A686E93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32385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6F3BB-FE8B-4FB8-8232-71FCC048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336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E60C7-9150-4EEC-A3D9-C6AEB07D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099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Decision workshop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9BD73F-EB7B-41BB-90BC-0B03F9DA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909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DEE8"/>
                </a:solidFill>
                <a:latin typeface="Arial"/>
                <a:ea typeface="Arial"/>
                <a:cs typeface="Arial"/>
              </a:defRPr>
            </a:pPr>
            <a:r>
              <a:t>1 wk in person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27E11C-44C0-4311-9033-CECED218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05250"/>
            <a:ext cx="27432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6DEE8"/>
                </a:solidFill>
                <a:latin typeface="Arial"/>
                <a:ea typeface="Arial"/>
                <a:cs typeface="Arial"/>
              </a:defRPr>
            </a:pPr>
            <a:r>
              <a:t>Align on ease-of-business goals, top journeys, platform role, external-tool strategy, context model and MVP production slice.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462CB9-69BC-4279-AD1C-0B5B9520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2385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57947A-2B1F-4D6D-BEFD-D9083428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33650"/>
            <a:ext cx="57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C22242-2D7D-4E77-BE63-FCC785AE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099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Readiness pack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E5AFB-1925-47D3-AA0E-4E08D763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909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78391"/>
                </a:solidFill>
                <a:latin typeface="Arial"/>
                <a:ea typeface="Arial"/>
                <a:cs typeface="Arial"/>
              </a:defRPr>
            </a:pPr>
            <a:r>
              <a:t>1 wk remote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40B751-990A-4E5D-A6FC-AC5D0A38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05250"/>
            <a:ext cx="27432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Package prototype direction, architecture, link-out strategy, scorecard, backlog, phasing, risks and validation needs.</a:t>
            </a:r>
          </a:p>
        </p:txBody>
      </p:sp>
    </p:spTree>
    <p:extLst>
      <p:ext uri="{BB962C8B-B14F-4D97-AF65-F5344CB8AC3E}">
        <p14:creationId xmlns:p14="http://schemas.microsoft.com/office/powerpoint/2010/main" val="95969286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4EFE54-303B-4EF8-BE49-6D29B7E8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176BA-8215-416B-AE4A-CE2B9B27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75599-AC7B-4AD7-9A1A-8F6F79E9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485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What we will align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AEAB8-C6A0-4EB1-9CED-87EFFF67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decision pack for confident next steps.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6D1D0-B4FC-43EF-85D5-F2EADBBA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Each output answers a question ASSA ABLOY needs settled before build.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727D2-B7CA-4F05-84B6-F33EC7BF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1DB2B-9970-4677-997B-2BDDA33C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6EEA3-9F3D-4C9F-B033-EF723361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30480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1F53C-599A-492B-9C17-8069C792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323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D0F22-EFD6-465D-8E86-AAB6AC51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58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Ease-of-business opportunity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CD98C-89EF-444C-8C63-7AA409A3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Where can the current experience become simpler, faster and more confidence-building?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A53E8-3404-46B8-9DD2-E4D8C5A6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09800"/>
            <a:ext cx="30480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80782-4F07-4C2B-AA52-716637B4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323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14875-47F5-435B-8A4C-3CC91837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Connect ownership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41ECE8-0632-4AD9-B195-19E6D56E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43200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What should Connect own, orchestrate, govern, consolidate or leave outside?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49EE39-E7F5-4749-B90D-EC92C16C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30480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82471-EEF9-4520-B9D5-ECCBAF8E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23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E83040-6667-4BB7-98D6-C6B2E9CB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030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Platform role definition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E15C3-59E8-4DE5-89E7-257F2E6D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43200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What should AEM enable, where should existing systems remain, and how should the experience connect across them?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FE6BE0-EB87-4580-BAE1-4F30CA31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30480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78143C-3248-488D-9124-28EE4123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62400"/>
            <a:ext cx="323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AA38A-2F84-4BC7-8626-7E2F9588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Journey prototype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968FF0-3555-4E5F-9EC1-82181CC5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24350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What would the top 2-3 work journeys feel like in the new experience?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3ADD77-32CF-4BA5-9642-19347086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90950"/>
            <a:ext cx="30480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AD6D00-E163-41A9-AC1E-F4776F97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62400"/>
            <a:ext cx="323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BE3513-A549-49CD-8A8A-9912944C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8145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MVP backlog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6902E5-443F-4DE9-BF71-C88D59E4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24350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What ships first, what waits, and what guardrails protect scale?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62BC88-E7A5-4EB5-910E-3BF8DDBB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3048000" cy="11811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0A76AA-F843-489F-A76F-DF805C17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62400"/>
            <a:ext cx="323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18A6DA-6D85-4B7F-B5A7-F70EE28F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81450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Validation plan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C9EEE7-BAB7-494B-8D36-BD1F63CB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24350"/>
            <a:ext cx="238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What should be tested with customers and business stakeholders, and what telemetry should be added now?</a:t>
            </a:r>
          </a:p>
        </p:txBody>
      </p:sp>
    </p:spTree>
    <p:extLst>
      <p:ext uri="{BB962C8B-B14F-4D97-AF65-F5344CB8AC3E}">
        <p14:creationId xmlns:p14="http://schemas.microsoft.com/office/powerpoint/2010/main" val="143969131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8E79F8-85C0-4208-9095-F2889EE9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28E53-21AF-48B7-98ED-D178A929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7E693-770A-46AB-AE3A-1C53E27F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MVP posture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BA162-D440-486C-BF12-F6F2CA80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23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Keep year-end practical. Keep the investment open.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535AD-141C-46D9-90BC-80A9C4ED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Use AEM for the first modernized experience while designing for future flexibility.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FF943-8F1E-42CD-A7E3-FBE27FE0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20266-B69B-4E95-AEDE-2E0BC735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7C09B-5B65-44A4-9FF7-9A7C5BE0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0668000" cy="304800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96DE7-000B-42E4-B645-5A79AA36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952750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ED3A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84292-16BC-4854-9F84-962757F8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28900"/>
            <a:ext cx="2628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In for 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783C1-1D3A-4786-BB43-6214E98F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33750"/>
            <a:ext cx="26289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AEM experience foundation</a:t>
            </a:r>
          </a:p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Top ease-of-business journey</a:t>
            </a:r>
          </a:p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Resource/link strategy</a:t>
            </a:r>
          </a:p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Context-aware navigation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6711E-D24A-4F20-9D33-36EEBED6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57450"/>
            <a:ext cx="2952750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E9BB5-5AA2-42DC-B4D3-4C80427C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28900"/>
            <a:ext cx="2628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Built for, added later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F08A0-BFCF-4D05-A340-FB46EA04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33750"/>
            <a:ext cx="26289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Deeper CRM workflows</a:t>
            </a:r>
          </a:p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Retrieval-led AI support</a:t>
            </a:r>
          </a:p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Broader brand consolidation</a:t>
            </a:r>
          </a:p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Specifier/project expansion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800542-25B9-41DB-87C7-A57768FF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57450"/>
            <a:ext cx="2952750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5F7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74A94-504B-4EA4-84DB-0155736D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2628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Guardrails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3BA25-F50F-4224-924C-2D436888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26289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Reuse backends</a:t>
            </a:r>
          </a:p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Protect entitlement</a:t>
            </a:r>
          </a:p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Measure link-outs</a:t>
            </a:r>
          </a:p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Preserve platform flexibility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FF069-C8EB-4AE8-B4A5-08BBB406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50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Recommended first slice: one distributor cohort, order-status friction plus document/resource discovery, with architecture that can later support project/specifier flows.</a:t>
            </a:r>
          </a:p>
        </p:txBody>
      </p:sp>
    </p:spTree>
    <p:extLst>
      <p:ext uri="{BB962C8B-B14F-4D97-AF65-F5344CB8AC3E}">
        <p14:creationId xmlns:p14="http://schemas.microsoft.com/office/powerpoint/2010/main" val="122509169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6A9AE3-188D-4457-89AA-80F04421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FCA7D-3ED5-4A30-80B0-635D41EE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D81AA-B936-45F0-986C-CA02F733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Why Nagarro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05CA6-5F9A-4703-8567-E3F15010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We bring Connect knowledge, CX strategy and engineering judgment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97F16-DCC0-4998-AE46-43527514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That combination helps ASSA ABLOY move from ambition to a credible delivery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8443F-298A-4A7C-B501-49830A8E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8010C-9FFB-4497-B95B-F9AC76A8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5EC65-FA71-4405-B13B-11351227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238500" cy="16383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4DF3C-AB5D-4FF3-9D6F-AA25B198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4BC73-1C6F-44B2-BFC1-5280F121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2895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We run Connect today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FB6CF-519B-43F0-B4E1-69B4AE64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28765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We know the stack, integrations, entitlement model, users and estate. That compresses the evidence read.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D33D7-A4A9-49E5-8E70-4E808738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238500" cy="16383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85F2B-A49C-4189-B5FF-06FE0E3F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5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60B4C-3F8D-45B7-9DDA-E6F0F904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2895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19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We connect platform and experience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A7540-EE85-4DBF-8262-1504B8D0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14650"/>
            <a:ext cx="28765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We translate AEM, integrations, content and governance decisions into customer-facing journeys that can be built.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DC849-7CAF-452C-B2A8-AEF89615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38500" cy="1638300"/>
          </a:xfrm>
          <a:prstGeom xmlns:a="http://schemas.openxmlformats.org/drawingml/2006/main" prst="roundRect">
            <a:avLst>
              <a:gd name="adj" fmla="val 34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57F2F-BFD6-4354-8954-3FFFDEDC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476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49CD8-AF67-4123-9858-E7918C66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52700"/>
            <a:ext cx="2895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We make decisions transparent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7D304-1DC5-4958-B059-111F7828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28765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We separate evidence, assumptions and validation needs so stakeholders can move forward with confidence.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104F2-6300-4FC6-A8B3-69571F46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102870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4031B-BBC3-4024-B888-65434E4D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990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Modernize Connect now, with a roadmap that can grow across the ASSA ABLOY ecosystem.</a:t>
            </a:r>
          </a:p>
        </p:txBody>
      </p:sp>
    </p:spTree>
    <p:extLst>
      <p:ext uri="{BB962C8B-B14F-4D97-AF65-F5344CB8AC3E}">
        <p14:creationId xmlns:p14="http://schemas.microsoft.com/office/powerpoint/2010/main" val="123571647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77FD92-7B8E-4F61-94E1-22DCEA54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40CC1-EB5E-4913-9ED7-B36BFF62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485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261EB-3893-4142-8E30-4A25F6D7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81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Accountability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22A3B-19C7-4801-A194-AEEE13D9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Four commitments ASSA ABLOY can hold us 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00A3C-4661-4543-8E5F-16F08DBD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The workshop is designed to be practical, transparent and delivery-ready.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23E80-3B1E-4B69-BE89-CA0287DD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7C0EF-E055-48FB-8C90-1D65C923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125E2-D089-4C07-98A0-307B4581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4765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FC4D6-FDCF-4A2C-AA81-FAA55FC3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F68F3-8A16-47E7-9026-828F2CF8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2133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1. Start from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B5337-0EB0-4EF3-83A9-D11F0797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11455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We use the Connect estate, current experience, systems knowledge and mockups as the foundation for the recommendation.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3A6B9-DC69-49B4-9C31-20E1469C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47900"/>
            <a:ext cx="24765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FCA5E-E151-460F-B5F8-4C008DB7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479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5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90915-937E-4CDF-B733-4AD63BEA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19350"/>
            <a:ext cx="2133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19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2. Align platform choices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5AB29-9826-4DCA-AD06-3685C7C9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81300"/>
            <a:ext cx="211455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We clarify how AEM, existing systems and external destinations should work together in the target experience.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14FBB-02CD-4E7B-B40A-46B2E444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24765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E20B1-0E1F-4D9A-94EE-11A57CA8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56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3FCE1-084D-4CC4-A04F-7689C52E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19350"/>
            <a:ext cx="2133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15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3. Make confidence visible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19334-A897-4B73-B5C9-ECD43ACC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81300"/>
            <a:ext cx="211455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We distinguish what is evidenced, what is assumed and what should be validated with customers or business stakeholders.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6B552-E412-43A7-9076-E9941AC9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24765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C0462-32BC-4225-8DBC-0454EBE4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479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84DDB4-45D7-43D4-B197-1BD0CF53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19350"/>
            <a:ext cx="2133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4. Make it actionable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5067E0-6776-4D72-8E71-697E66BD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81300"/>
            <a:ext cx="211455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The output includes a prototype direction, journey-to-architecture traceability, MVP backlog and KPI model.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AA728E-49A1-4AF3-8CE3-521027D3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102870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CC21F-2225-4295-8887-53FEDD56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86375"/>
            <a:ext cx="9810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41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Verification mechanism: every recommendation traces to evidence, a user job, a system/context need, and a measurable outcome.</a:t>
            </a:r>
          </a:p>
        </p:txBody>
      </p:sp>
    </p:spTree>
    <p:extLst>
      <p:ext uri="{BB962C8B-B14F-4D97-AF65-F5344CB8AC3E}">
        <p14:creationId xmlns:p14="http://schemas.microsoft.com/office/powerpoint/2010/main" val="201444964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06864E-DC01-40F7-846E-637B0BC3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B4C32-1CD2-43A1-9C7B-C009984E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562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9D450-3224-42A8-BB5B-70A1E7BE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257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Evidence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DC8CA-390C-4FD3-8BFC-CDCA57DB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How we build evidence quickly and responsibly.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A4573-7863-40E5-B609-61C514FB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A focused discovery can still create a defensible basis for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EE48B-37D0-4182-8845-4176A416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001A6-73D8-41A8-A9BE-2EA567B1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BD35C-8502-4161-91C4-CCCD9703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76250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ACA5B-A541-4E7D-9970-48F1ADCF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F9800-9B5C-46AF-B50E-02BFD923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441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Current-state UX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7F527-BD47-494D-89BD-A1802DD3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4400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Screens, navigation, dashboard grids, menu structure, search, resource library, login and self-service entry points.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E3184-E773-4F58-9590-037506ED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76250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D1A03-EBC7-4816-8763-739DD011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5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1F457-2564-4A08-BED4-87E722C8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38400"/>
            <a:ext cx="441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Link-out 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3C380-DDEE-46CA-85C0-D13365A4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0350"/>
            <a:ext cx="4400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~45 external links and 30+ domains classified by own, orchestrate, govern, consolidate or defer.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B58F2-4D21-4C0A-9964-E87E5C9F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476250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D9E37-676D-414E-A119-9F77F6AE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28CC36-203B-46AE-9B22-926E3254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441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Operational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231666-B5A5-48B4-B22C-D6150A04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4400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Feature list, Connect overview, system architecture, entitlement model, available logs, support themes and Nagarro upkeep knowledge.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66C228-B99C-45E2-B2A5-B685147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76250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2A4A0-30EE-41EE-A4BA-B313AD89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54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AA14CA-8015-4BA7-ADBB-C98FFF38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00500"/>
            <a:ext cx="441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Mockup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830FBE-9206-4F33-895F-A273A717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4400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Adobe/customer mockups assessed against real operating conditions: brands, roles, impersonation, external tools, keying, billing and order status.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919CAE-17BB-4B3D-959F-A2126B83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2870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41C515-4078-420E-A2E5-E0C248ED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76900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Output: a confidence-rated friction map and decision log, so ASSA ABLOY knows what is evidenced, recommended and ready for validation.</a:t>
            </a:r>
          </a:p>
        </p:txBody>
      </p:sp>
    </p:spTree>
    <p:extLst>
      <p:ext uri="{BB962C8B-B14F-4D97-AF65-F5344CB8AC3E}">
        <p14:creationId xmlns:p14="http://schemas.microsoft.com/office/powerpoint/2010/main" val="208738805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6BE78E-97A6-4F6A-B1E7-C45EDE0B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74FB9-F05C-4339-9E50-80484F94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485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A44EB-C744-4761-A993-C1EF26B9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81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Journey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5C0DA-EDB0-4D33-B8ED-6EFEA01E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43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Every journey maps experience and architecture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4C430-C5BB-4AC6-9D5C-8B9CEC37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This keeps customer experience, platform decisions and the roadmap aligned.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82745-F245-4226-AC46-A50F69A2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26EC8-10F4-4729-B0A7-1D095C94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C1D3D-0C44-4F7F-861F-90E5E067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0668000" cy="3105150"/>
          </a:xfrm>
          <a:prstGeom xmlns:a="http://schemas.openxmlformats.org/drawingml/2006/main" prst="roundRect">
            <a:avLst>
              <a:gd name="adj" fmla="val 18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BDDA8-F47B-4CAA-92C3-FBF82DB0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574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Experience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08B96-7EF2-4EA8-8EE2-C7FCC8A3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Architecture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C0A53-6DF6-4236-8564-21A568DC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5745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Decision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80D03-9827-4F41-A98A-1F8F2E31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C23FA-0118-4768-B478-671DB572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User goal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D5ED1-49A4-4E36-9EE0-9C6487EC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Identity / role / account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9EF21-6D12-41BF-9C51-8175C1F7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575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MVP or later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B46B1-7403-40D1-90A5-D0ECDB56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FF5F6C-8A91-47E5-9D09-649BBB35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956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Current friction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C4B9E-B564-4DAB-B6A7-780213B7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Entitlement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6E244-7CA7-4D2C-A75A-33FE2E44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956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Platform role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1902A-6168-4FF3-B000-C4EF7F49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61C13-EF66-4B0A-8388-55BC1527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338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Touchpoints and link-outs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659769-7D71-49DE-BFBA-18DA7D1A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Systems and APIs touched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37C6FB-5159-4AC9-927F-7A020822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338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External-tool treatment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8B7E3D-2DC5-4654-9512-DC467410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6B54FC-647B-4858-AA87-7A1B91D8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Moment of effort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E1D728-8CD6-4CBA-B411-AE4DF9B8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Data/context required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327727-3E5C-468D-95E3-105C829F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719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Backlog item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8C40EC-1D9B-45CD-B0D3-195CDEBF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90431-34F7-43EF-8852-C9394744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01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Target future behavior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497D3B-95BC-428A-A4D3-A950A478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101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AI / automation opportunity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26143C-9F8C-4759-A7A7-94296A68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1010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KPI and owner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53BD0E-EBE7-4E81-AA69-EBB7224C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28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5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Result: every recommendation traces from a customer job to a system decision, roadmap action and measurable outcome.</a:t>
            </a:r>
          </a:p>
        </p:txBody>
      </p:sp>
    </p:spTree>
    <p:extLst>
      <p:ext uri="{BB962C8B-B14F-4D97-AF65-F5344CB8AC3E}">
        <p14:creationId xmlns:p14="http://schemas.microsoft.com/office/powerpoint/2010/main" val="16558825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7DCBA6-FCAB-448E-957A-C760F42F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87066-095E-4D9C-A9DE-761FA757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7E706-4146-41FA-B765-71E8F619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Measurement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20804-9D0F-419A-9F26-1AC1F889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Introduce a Connect Ease-of-Business Index.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A8B30-887D-4129-896B-B07765EC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If ease of doing business is the goal, the workshop should define how it will be measured.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33632-1D60-45BA-9D54-1CFA7C86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BF3F0-FA6C-4465-9467-2CB0F61A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A698E-A8E9-443D-B13A-1FF989FB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0668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FDCC8-7525-43EC-AD82-15C3C779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95275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CFB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FDACB-B9E0-499A-B884-56005555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Findability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9BE4E-8D7C-42FB-A0DB-6FB70BB9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14650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Resource/document search success, zero-result searches, time to right asset.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020AA4-6AE0-4855-8069-BFD64F32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57450"/>
            <a:ext cx="295275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6D30F-9646-41AD-B20D-0166AE1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0985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Task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5E3FB-FFF4-42D0-A823-CAE53BDD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14650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Orders, returns, billing, keying and project jobs completed through clear self-service paths.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2FB2A-428D-4E58-A93A-EC8852CF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57450"/>
            <a:ext cx="295275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F0890-F5B1-4C74-A269-1F8A4B57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0985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Continuity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18422-B3AB-4BE8-86E4-190E6F22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Sessions where account, brand, entitlement and order/project context carries through.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7BC207-C620-436C-BF3B-98F8325E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295275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756517-7D9A-4FC5-A2B4-AA5465B5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2430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Deflection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83A74F-9822-4CD8-98B1-432C4822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Reduced order-status calls, document requests, billing questions and support tickets.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9C725-CEC2-411B-8F66-C0126ED2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71900"/>
            <a:ext cx="295275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6F492D-3046-488C-8941-11837A3C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2430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Velocity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D1708F-C1CE-4879-9711-EFC4DF51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29100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Quote-to-order movement, expedite response, issue resolution and cycle-time improvement.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19E618-7CDD-46C0-ADF8-9A664CAC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71900"/>
            <a:ext cx="2952750" cy="990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56A6F1-964E-4B33-882A-61B685A8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24300"/>
            <a:ext cx="2571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F3C899-AB59-47FA-BCD9-58EFBDE6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29100"/>
            <a:ext cx="2571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AI/source coverage, entitlement violations, escalation rate and user confidence.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4E75D6-6F9F-42C1-8F68-2EE84156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102870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278B9E-DBEF-49F1-9E1C-777CFC39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8167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Each KPI gets a baseline method, owner and cadence. That turns the workshop into a delivery-ready measurement model.</a:t>
            </a:r>
          </a:p>
        </p:txBody>
      </p:sp>
    </p:spTree>
    <p:extLst>
      <p:ext uri="{BB962C8B-B14F-4D97-AF65-F5344CB8AC3E}">
        <p14:creationId xmlns:p14="http://schemas.microsoft.com/office/powerpoint/2010/main" val="109668183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FF06F1-0FAB-4074-A19E-2DD9EFB5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5BCD2-CB7A-4DE6-8409-B572B197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409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55120-D6C5-40EE-9B05-CE808C98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04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Customer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E9C8B-9453-4A99-83F3-621CD892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The first release should make priority work easier.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19F9D-DB4E-4E60-8D41-7DCDB320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A top-tier modernization starts with the jobs customers and teams are trying to complete.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7CBA2-6824-4ABB-88CD-D822FAD6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F96BD-3587-438C-9C10-22C89668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A9D39-46E5-458D-8029-7679C8F0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765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4915E-BA80-44C7-AF75-70BAA3EF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476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C7DDA-344A-47FC-9FB1-1A0133C2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133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Distributor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0ABD4-9E31-4A3B-9EFB-AF46ABA4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133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524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Resolve a stalled 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D29F9-B36A-4124-A4EB-B24B6F9D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2095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See status, reason, next action and relevant documents without calling support.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5E568-9479-49F8-BAAD-90F48A22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5050"/>
            <a:ext cx="24765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53520-3C3E-4033-9369-7F51734E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5050"/>
            <a:ext cx="2476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13BEC-A567-4E02-91C0-46683728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57450"/>
            <a:ext cx="2133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CSR / inside sales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A3DA37-47D8-4F12-B683-4B282530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48000"/>
            <a:ext cx="2133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Answer on behalf of an account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A019A-9AF4-4BE4-A18D-4FE37799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76650"/>
            <a:ext cx="2095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Impersonate safely, carry entitlement context and guide the customer to the right action.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B2A55-61AE-4E9D-BF4E-E39A606E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24765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EAD77-65A5-4287-9B85-2CA76FE1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2476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ECCD24-F4C4-4000-A18E-0E85EF56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2133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Partner / integrator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14BD6A-281D-4A2F-9089-334C9916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48000"/>
            <a:ext cx="2133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78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Find the right brand tool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F49F04-AC7D-4823-8461-363B21A6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76650"/>
            <a:ext cx="2095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Move from Connect to brand-specific tools, webshops and resources with account context preserved.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1B000C-EADD-4819-9008-4C37ACC5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05050"/>
            <a:ext cx="24765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F1E8F0-2B9C-4442-83B4-19909F3C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05050"/>
            <a:ext cx="24765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929D5-637C-4D0E-B705-21F43694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57450"/>
            <a:ext cx="2133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Specifier / project user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D4B09B-8E2E-4D9B-910F-E6CB70ED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48000"/>
            <a:ext cx="2133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999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Know what needs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35633E-B00D-4ECC-B02F-357706E3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76650"/>
            <a:ext cx="2095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Understand project/order status, documentation needs and downstream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C1DA8D-ED38-4B0C-BC6D-EF8A826D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477500" cy="4381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3721A7-5C46-481B-BA9F-29A0813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62600"/>
            <a:ext cx="10077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Recommended MVP focus: distributor order status plus document discovery, designed to support CSR-assisted journeys later.</a:t>
            </a:r>
          </a:p>
        </p:txBody>
      </p:sp>
    </p:spTree>
    <p:extLst>
      <p:ext uri="{BB962C8B-B14F-4D97-AF65-F5344CB8AC3E}">
        <p14:creationId xmlns:p14="http://schemas.microsoft.com/office/powerpoint/2010/main" val="79565409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E30965-CFDD-4C5A-839A-A2E98368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DAEA6-D8F0-465D-B62C-E8C83496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638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D3862-F0A3-48F1-B7D9-29A0CCB8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333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Priority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B01AA-FEBF-438E-8BC4-66457BA6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Before / after: Why has this order stalled?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8ECDE-5CEA-4D06-A6B3-89CB1B7A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Use one concrete journey to prove the experience, context model and delivery dependencies.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41EB4-4379-428E-8D12-6344DB00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D83CA-AD31-4C0E-85CE-F7E074DA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9F8BD-CE28-4D82-9794-325F1584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Current effort pattern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B6CC0-06A3-4F1A-9A92-9EEAC2E0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14287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74598-68EC-4570-85E8-4E14ED27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B562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E36DB-B0DE-4B94-B382-19B3D2C5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19400"/>
            <a:ext cx="89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Check 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B2B25-A0FE-4577-BC0A-BCF63762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112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Order appears, but reason and next action are unclear.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FDF6B9-B255-4427-9032-E0708B1E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099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56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5194E-F413-4980-914B-C467716E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3372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B562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AF35D-5E64-4217-806C-06D0C55C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14287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91994-6BC6-4DA6-93A1-7E11C530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00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B562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F9A0C-AD39-4277-9087-B1268AD1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19400"/>
            <a:ext cx="89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Search resources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D3031-E92B-425B-B9F8-5E6ECA48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38500"/>
            <a:ext cx="112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Documents and status details may live in different places.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68A1BD-F62C-44AC-BEE8-1393039C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099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562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67E9A-2BBC-40B6-9100-A0CA84E1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3372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B562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C2AB35-F15A-4FEB-8F25-D4F625FF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67000"/>
            <a:ext cx="14287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E32B6C-D3D4-444F-AA6B-FF9DC8B7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00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B562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5A539-DF00-4D00-BAA2-A1A31A67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19400"/>
            <a:ext cx="89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Call or email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B38015-989E-4F8C-81A7-4DB8243F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38500"/>
            <a:ext cx="112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08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CSR may need account context, order context and brand context.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6E697B-6C72-4C0A-8816-076D9292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099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562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E03D53-F87B-4092-9238-03CDE89B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3372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3B562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9521D5-6A5B-4212-A309-318E9DB4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67000"/>
            <a:ext cx="14287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26F887-A3CF-4C18-BC18-418956CE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003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B562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59B5A8-AC98-448E-A2F9-132D6504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89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58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Wait for answer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11D756-C61E-4816-8DDE-1E5DE129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1123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Customer confidence depends on a manual handoff.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080C5E-5DBA-4CF7-BF3A-F119DD1C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ABE710-2248-4496-A923-1E59A39C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Target experience pattern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EECB56-8CF0-4EE9-98EB-467C8ADB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4287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ECFB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B4FB56-2452-4FDB-9D30-C36A6F73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A9AD10-95B2-4247-92FC-D2EE2187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81600"/>
            <a:ext cx="89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Recognize account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68BC56-A374-4F1D-BAB6-AE098C3D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112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054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Role, brand and entitlement context are carried in.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90FB88-CD60-47F7-8228-8C9F6A7A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5340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D1929F-93D8-4AA0-A284-007988B9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5782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753859-407F-4899-A446-70943867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29200"/>
            <a:ext cx="14287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5D30A4-C2C7-44E6-AC9A-C7C2DF6D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62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3CCCC2-8FED-4126-89FE-1BBB3111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81600"/>
            <a:ext cx="89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Show status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6F3B1F-BD90-406B-BD70-345632A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562600"/>
            <a:ext cx="112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16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Reason, milestone and next action are visible.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434B5C-62D0-47FE-AE66-595B7BF4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340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B8703D-E212-4678-A114-F3C326BB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45782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D3D939-4D8C-4F1D-96AC-F0F46372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29200"/>
            <a:ext cx="14287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F8C4C3-0245-43B6-9182-3F51B271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62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1A7811-FD70-42A3-9BEF-43723E44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181600"/>
            <a:ext cx="89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167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Bring resources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52D8DD-408C-48A4-A01C-AEA9698A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62600"/>
            <a:ext cx="112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887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Relevant documents and forms appear in context.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D1FA62F-2B3C-42B4-BFFD-A2664919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534025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4A61CD-CADE-4D0B-9348-E56CB800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5782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85A658E-15C9-43E5-9072-F4BC9D6A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29200"/>
            <a:ext cx="1428750" cy="100965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A3B546-B786-440B-B24A-F664FC56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1625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DDF0DC-5ABF-4942-B2EA-9A43DA7C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81600"/>
            <a:ext cx="89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1097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Escalate cleanly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FC2CD3-5121-43DA-A6DC-0CC32AD5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62600"/>
            <a:ext cx="1123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267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Support receives the same context and audit trail.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838FA1-13BC-476F-9590-B299218B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31813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ABD439-F9C7-4B03-B341-EAD2BB16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4795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What this proves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4055E4-9520-4963-8EBD-59F88FA1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26098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4ED3AA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8D4B1B-9D06-414A-8CF9-5A5BA29B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38500"/>
            <a:ext cx="2381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Customer value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B514FD-805B-4785-B255-F050B02F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48050"/>
            <a:ext cx="2266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Faster answer, less support dependency, higher confidence.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E540F9-B812-4441-A66F-CA92DD59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24300"/>
            <a:ext cx="26098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8324D"/>
          </a:solidFill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6168AA-DD02-4652-A766-9D626537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38600"/>
            <a:ext cx="2381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Platform value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04CA9FC-04C6-455B-B788-84F3B58F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48150"/>
            <a:ext cx="2266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6DEE8"/>
                </a:solidFill>
                <a:latin typeface="Arial"/>
                <a:ea typeface="Arial"/>
                <a:cs typeface="Arial"/>
              </a:defRPr>
            </a:pPr>
            <a:r>
              <a:t>Tests AEM, identity, entitlement, order data, DAM/resources and telemetry.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BD35C3C-A932-43FA-89BB-0C0FB9CB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260985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8324D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6B00749-6787-4D7B-9519-F06E1074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38700"/>
            <a:ext cx="2381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Delivery value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F0BAD3-CF4A-43AA-B421-270C0F20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48250"/>
            <a:ext cx="22669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6DEE8"/>
                </a:solidFill>
                <a:latin typeface="Arial"/>
                <a:ea typeface="Arial"/>
                <a:cs typeface="Arial"/>
              </a:defRPr>
            </a:pPr>
            <a:r>
              <a:t>Defines a bounded slice with dependencies and acceptance criteria.</a:t>
            </a:r>
          </a:p>
        </p:txBody>
      </p:sp>
    </p:spTree>
    <p:extLst>
      <p:ext uri="{BB962C8B-B14F-4D97-AF65-F5344CB8AC3E}">
        <p14:creationId xmlns:p14="http://schemas.microsoft.com/office/powerpoint/2010/main" val="88845330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3EA596-C3F8-4356-8814-A5191188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73F23-26CF-49B6-9B98-03EF159B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485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6B442-8307-4EB2-9A76-3953E491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81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Release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72F0B-F72E-40EF-A423-EF9ADF52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1986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The MVP should be a measurable distributor self-service slice.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91293-C75D-4B3A-B25F-EC502D7D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This makes the workshop output specific enough to move into delivery planning.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C967D-A13B-4FF9-843E-F6CC326D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2A7A5-AF3A-47DE-8239-6497E45A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3BB78-97CA-4252-917A-D801C646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10668000" cy="3467100"/>
          </a:xfrm>
          <a:prstGeom xmlns:a="http://schemas.openxmlformats.org/drawingml/2006/main" prst="roundRect">
            <a:avLst>
              <a:gd name="adj" fmla="val 16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25214-4A94-48A4-BEE4-C2C8F917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297180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CFB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45215-7C56-4F7C-A49A-D0DAE62B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Cohort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BA8B8-931B-437C-91FC-BFA3CB36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2609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Distributor users for one prioritized account/brand group.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D16CE-54F0-446A-8139-DCEABF11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19350"/>
            <a:ext cx="297180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A70843-73A9-47BC-ACC9-AE16F873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Customer job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579AA-2CC8-4B3F-94F9-FB860178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95600"/>
            <a:ext cx="2609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Resolve order-status uncertainty and find relevant documents/resources.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99F48-B4B8-4564-9948-40514826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297180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32AD6-E2E7-4D94-9AF8-1293A931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Included capabilities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050B4B-BC5A-4558-A750-F4D502E7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95600"/>
            <a:ext cx="2609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51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AEM experience surface, status view, resource discovery, contextual navigation, support handoff.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427707-2426-47E6-8AC4-32AD344D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297180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87C85-0F5A-4932-B2A3-8D4FDE5A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0050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Core dependencies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E6DC8-E7B1-44EB-A20E-AC539917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2609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42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Identity, entitlement, account/brand context, order data, DAM/resource access, telemetry events.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41E558-4039-4B9B-AF93-713950E5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48100"/>
            <a:ext cx="297180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B20CBB-533D-499F-BD8C-38416595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0050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First-release boundary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F46744-DC7A-4D97-8085-0403B1B0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24350"/>
            <a:ext cx="2609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26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No transactional AI, no broad brand consolidation, no deep CRM workflow replacement.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BD3F58-7DCA-4E04-A129-138ACC51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48100"/>
            <a:ext cx="297180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3B0F79-0E45-4E19-8BF1-325EED7A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Success criteria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805BCA-4F77-4ABC-9416-0254BF55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24350"/>
            <a:ext cx="2609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88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Findability, task completion, deflection, continuity and confidence baselined before build.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75B2E3-ADFB-4BFE-8E43-67EF6BF3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102870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0D64D6-E5F3-4A1F-96CD-FD8CBB85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43600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Week 4 output: an option-preserving MVP charter that ASSA ABLOY can approve, validate or refine before delivery.</a:t>
            </a:r>
          </a:p>
        </p:txBody>
      </p:sp>
    </p:spTree>
    <p:extLst>
      <p:ext uri="{BB962C8B-B14F-4D97-AF65-F5344CB8AC3E}">
        <p14:creationId xmlns:p14="http://schemas.microsoft.com/office/powerpoint/2010/main" val="144904130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BEB4AD-2B88-4D9A-B12E-56F3672B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86114-94E0-4231-BE0D-E69B6DB2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A4858-7430-4155-ABD0-1C69A432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562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Target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B4552-A355-42B5-9907-1F4D3545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Clarify AEM boundaries before the build starts.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DD8DC-CDCE-44E4-BAB9-E9A40D8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The workshop defines what AEM owns, what existing systems keep, and where orchestration is needed.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E9840-04F9-4835-9628-BA1C7199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A6B8C-E4AC-4147-AC23-A9A7BB1D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A07A2-981B-4116-9184-C297B75D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10858500" cy="36576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81FB3-EA6E-4EAE-9D87-4017D2BC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1714500" cy="24574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762FF-AAF2-4A12-90EE-8C9039A6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1257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428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AEM experience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DAB7E-2F1B-430C-8D29-BD918B7B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19500"/>
            <a:ext cx="1295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6DEE8"/>
                </a:solidFill>
                <a:latin typeface="Arial"/>
                <a:ea typeface="Arial"/>
                <a:cs typeface="Arial"/>
              </a:defRPr>
            </a:pPr>
            <a:r>
              <a:t>Content, components, resource discovery, personalization, authoring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DC3A3-88AE-4A08-B726-F26A3E78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05225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FB5C1-EF06-430F-A87F-AB494ED0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2902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AE840-C5C3-4D1D-BB4E-5FA740E9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1714500" cy="24574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CFB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D2085-8B54-4898-A39A-489B7767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00350"/>
            <a:ext cx="1314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057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Context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F1F8E-CC6B-438D-B6DC-2BFFB35B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19500"/>
            <a:ext cx="1276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Account, role, brand, entitlement, project/order and impersonation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D43F2-787B-4170-91C6-8D0466A2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05225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0570B-B7D5-4FBE-8E49-0C0690BD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2902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DAF037-2846-40E3-A6FD-8F3C8D79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95550"/>
            <a:ext cx="1714500" cy="24574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2F5F7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80E08-AFCC-47A6-A8E2-C15B8C5B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1257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485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API / integration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32D492-8425-4127-9D94-14FF4642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1257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Connect services, CRM/Dynamics APIs, order data, DAM, Liferay and webshops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C45056-5742-4FD7-87D5-730375E1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05225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9FA712-3F84-40E9-8AC9-C3C95C25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29025"/>
            <a:ext cx="1524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ED3AA"/>
                </a:solidFill>
                <a:latin typeface="Arial"/>
                <a:ea typeface="Arial"/>
                <a:cs typeface="Arial"/>
              </a:defRPr>
            </a:pPr>
            <a: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490F48-7CDD-48C3-9548-F4DD6524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95550"/>
            <a:ext cx="1714500" cy="24574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1DEA21-758F-4142-B9B4-EC3A8852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00350"/>
            <a:ext cx="1257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971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Telemetry &amp; governance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2A4589-9784-423A-97F7-6782E7C2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19500"/>
            <a:ext cx="1257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381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Link-outs, task completion, search, support handoffs, source attribution and audit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258894-9407-41CB-99AF-0725CE00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7685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Key design principle: keep systems of record stable while creating a modern, context-aware experience surface.</a:t>
            </a:r>
          </a:p>
        </p:txBody>
      </p:sp>
    </p:spTree>
    <p:extLst>
      <p:ext uri="{BB962C8B-B14F-4D97-AF65-F5344CB8AC3E}">
        <p14:creationId xmlns:p14="http://schemas.microsoft.com/office/powerpoint/2010/main" val="132919765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28721E-805A-4934-95EA-F389F2C7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BBF05-2EFA-4C56-A780-C4F044FE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"/>
            <a:ext cx="1790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BF7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5B9D2-C61C-4A3D-BBB9-31995837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485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Delivery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BB5F9-B819-412C-860C-E21FB805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"/>
            <a:ext cx="7429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1211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Make the workshop commercially and operationally actionable.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DFEEE-1B3F-4B58-AFFF-246F2C54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723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A top-tier workshop closes with the decisions, people and path needed to move.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9537D-D950-4977-8416-6087D1D3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15100"/>
            <a:ext cx="857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nagarro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E7069-C8D7-4D81-9A5D-D4D8039B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342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7EAA9-C27C-47FC-ADD6-8DC90FD5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4762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C889D-0F61-4668-9C89-ADFD5DD6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D3A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4CD74-FADB-424E-B9A4-B941C0CB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441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ASSA ABLOY participation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A950F-C987-41A6-9FFE-FB7F0C39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4400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4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Executive sponsor, CX/product owner, IT architect, support/operations SMEs, content/resource owner, procurement/commercial lead.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D3480-3227-4C44-AD62-C96B4880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4762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100E6-1B3B-484E-B73E-7043BCE3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5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187BB6-C513-42D7-9D3E-11ED8A0A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441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Decisions required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8236B-88BF-4D8B-9B52-B18EFC97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4400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Priority cohort, first journey, AEM boundaries, link-out treatment, data access, validation needs and MVP acceptance criteria.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5F653F-F461-46A3-8DF7-17B16499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4762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CD58E-C73F-4FCA-8E2E-756324DA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56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31F01-C77D-4CC3-B3A9-21ECF024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441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Key risks to manage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035B6-C438-4355-AF7F-2E7CBDEA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4400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Identity complexity, entitlement rules, content ownership, API maturity, link-out measurement, AI governance and brand alignment.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A8957-BFD4-4EC9-8A44-2288E209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4762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9CB766-660C-4BF1-963C-E3E70065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554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349CB1-0E09-4962-AB1D-E9403948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44196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Week 5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E26E5B-DA2A-47D7-915D-6CE48476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62450"/>
            <a:ext cx="4400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F"/>
                </a:solidFill>
                <a:latin typeface="Arial"/>
                <a:ea typeface="Arial"/>
                <a:cs typeface="Arial"/>
              </a:defRPr>
            </a:pPr>
            <a:r>
              <a:t>Approve MVP SOW inputs, run targeted customer validation, or defer items that need more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FBA018-B748-4079-892A-DFAC10E4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1028700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3051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562B08-5BCA-4C4F-8C1C-148BC977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95975"/>
            <a:ext cx="9810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The workshop should end with a buying decision, not another open-ended discovery conversation.</a:t>
            </a:r>
          </a:p>
        </p:txBody>
      </p:sp>
    </p:spTree>
    <p:extLst>
      <p:ext uri="{BB962C8B-B14F-4D97-AF65-F5344CB8AC3E}">
        <p14:creationId xmlns:p14="http://schemas.microsoft.com/office/powerpoint/2010/main" val="481786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2026-06-02T21:42:50.6730000Z</dcterms:created>
  <dcterms:modified xsi:type="dcterms:W3CDTF">2026-06-02T21:42:50.6730000Z</dcterms:modified>
</coreProperties>
</file>