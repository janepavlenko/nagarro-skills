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svg" ContentType="image/svg+xml"/>
  <Override PartName="/ppt/media/image2.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svg"/><Relationship Id="rId3"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Digital Design Strategy"/>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C4C9D2"/>
                </a:solidFill>
                <a:latin typeface="Equip Extended Regular" pitchFamily="34" charset="0"/>
                <a:ea typeface="Equip Extended Regular" pitchFamily="34" charset="-122"/>
                <a:cs typeface="Equip Extended Regular" pitchFamily="34" charset="-120"/>
              </a:rPr>
              <a:t>Capability Pitch</a:t>
            </a:r>
            <a:endParaRPr lang="en-US" sz="1200" dirty="0"/>
          </a:p>
        </p:txBody>
      </p:sp>
      <p:sp>
        <p:nvSpPr>
          <p:cNvPr id="4" name="Project Name"/>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C4C9D2"/>
                </a:solidFill>
                <a:latin typeface="Equip Extended Regular" pitchFamily="34" charset="0"/>
                <a:ea typeface="Equip Extended Regular" pitchFamily="34" charset="-122"/>
                <a:cs typeface="Equip Extended Regular" pitchFamily="34" charset="-120"/>
              </a:rPr>
              <a:t>Mercedes-Benz</a:t>
            </a:r>
            <a:endParaRPr lang="en-US" sz="1200" dirty="0"/>
          </a:p>
        </p:txBody>
      </p:sp>
      <p:sp>
        <p:nvSpPr>
          <p:cNvPr id="5" name="Month Yea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C4C9D2"/>
                </a:solidFill>
                <a:latin typeface="Equip Extended Regular" pitchFamily="34" charset="0"/>
                <a:ea typeface="Equip Extended Regular" pitchFamily="34" charset="-122"/>
                <a:cs typeface="Equip Extended Regular" pitchFamily="34" charset="-120"/>
              </a:rPr>
              <a:t>June 2026</a:t>
            </a:r>
            <a:endParaRPr lang="en-US" sz="1200" dirty="0"/>
          </a:p>
        </p:txBody>
      </p:sp>
      <p:sp>
        <p:nvSpPr>
          <p:cNvPr id="6" name="2026"/>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C4C9D2"/>
                </a:solidFill>
                <a:latin typeface="Equip Extended Regular" pitchFamily="34" charset="0"/>
                <a:ea typeface="Equip Extended Regular" pitchFamily="34" charset="-122"/>
                <a:cs typeface="Equip Extended Regular" pitchFamily="34" charset="-120"/>
              </a:rPr>
              <a:t>© 2026</a:t>
            </a:r>
            <a:endParaRPr lang="en-US" sz="1200" dirty="0"/>
          </a:p>
        </p:txBody>
      </p:sp>
      <p:sp>
        <p:nvSpPr>
          <p:cNvPr id="7" name="cover-title"/>
          <p:cNvSpPr/>
          <p:nvPr/>
        </p:nvSpPr>
        <p:spPr>
          <a:xfrm>
            <a:off x="800100" y="4152900"/>
            <a:ext cx="12487275" cy="1219200"/>
          </a:xfrm>
          <a:prstGeom prst="rect">
            <a:avLst/>
          </a:prstGeom>
          <a:noFill/>
          <a:ln/>
        </p:spPr>
        <p:txBody>
          <a:bodyPr wrap="square" lIns="0" tIns="0" rIns="0" bIns="0" rtlCol="0" anchor="t"/>
          <a:lstStyle/>
          <a:p>
            <a:pPr marL="0" indent="0" algn="l">
              <a:lnSpc>
                <a:spcPts val="9600"/>
              </a:lnSpc>
              <a:buNone/>
            </a:pPr>
            <a:r>
              <a:rPr lang="en-US" sz="9600" b="1" kern="0" spc="-112" dirty="0">
                <a:solidFill>
                  <a:srgbClr val="FFFFFF"/>
                </a:solidFill>
                <a:latin typeface="Equip Extended Bold" pitchFamily="34" charset="0"/>
                <a:ea typeface="Equip Extended Bold" pitchFamily="34" charset="-122"/>
                <a:cs typeface="Equip Extended Bold" pitchFamily="34" charset="-120"/>
              </a:rPr>
              <a:t>Design System Proposal</a:t>
            </a:r>
            <a:endParaRPr lang="en-US" sz="9600" dirty="0"/>
          </a:p>
        </p:txBody>
      </p:sp>
      <p:sp>
        <p:nvSpPr>
          <p:cNvPr id="8" name="cover-subtitle"/>
          <p:cNvSpPr/>
          <p:nvPr/>
        </p:nvSpPr>
        <p:spPr>
          <a:xfrm>
            <a:off x="800100" y="5676900"/>
            <a:ext cx="12477750" cy="457200"/>
          </a:xfrm>
          <a:prstGeom prst="rect">
            <a:avLst/>
          </a:prstGeom>
          <a:noFill/>
          <a:ln/>
        </p:spPr>
        <p:txBody>
          <a:bodyPr wrap="square" lIns="0" tIns="0" rIns="0" bIns="0" rtlCol="0" anchor="t"/>
          <a:lstStyle/>
          <a:p>
            <a:pPr marL="0" indent="0" algn="l">
              <a:lnSpc>
                <a:spcPts val="3600"/>
              </a:lnSpc>
              <a:buNone/>
            </a:pPr>
            <a:r>
              <a:rPr lang="en-US" sz="3600" kern="0" spc="-112" dirty="0">
                <a:solidFill>
                  <a:srgbClr val="FFFFFF"/>
                </a:solidFill>
                <a:latin typeface="Equip Extended Medium" pitchFamily="34" charset="0"/>
                <a:ea typeface="Equip Extended Medium" pitchFamily="34" charset="-122"/>
                <a:cs typeface="Equip Extended Medium" pitchFamily="34" charset="-120"/>
              </a:rPr>
              <a:t>Mercedes-Benz · June 2026</a:t>
            </a:r>
            <a:endParaRPr lang="en-US" sz="3600" dirty="0"/>
          </a:p>
        </p:txBody>
      </p:sp>
      <p:cxnSp>
        <p:nvCxnSpPr>
          <p:cNvPr id="10" name="Straight Connector 9">
            <a:extLst>
              <a:ext uri="{FF2B5EF4-FFF2-40B4-BE49-F238E27FC236}">
                <a16:creationId xmlns:a16="http://schemas.microsoft.com/office/drawing/2014/main" id="{E6AABD49-79CD-B099-B3DD-E3904B7B9C4B}"/>
              </a:ext>
            </a:extLst>
          </p:cNvPr>
          <p:cNvCxnSpPr>
            <a:cxnSpLocks/>
          </p:cNvCxnSpPr>
          <p:nvPr/>
        </p:nvCxnSpPr>
        <p:spPr>
          <a:xfrm>
            <a:off x="800099" y="9222477"/>
            <a:ext cx="5400000" cy="0"/>
          </a:xfrm>
          <a:prstGeom prst="line">
            <a:avLst/>
          </a:prstGeom>
          <a:ln>
            <a:solidFill>
              <a:srgbClr val="FFFFFF">
                <a:alpha val="60000"/>
              </a:srgb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2E85BAF-368E-E55B-999B-C3FAF1D82206}"/>
              </a:ext>
            </a:extLst>
          </p:cNvPr>
          <p:cNvCxnSpPr>
            <a:cxnSpLocks/>
          </p:cNvCxnSpPr>
          <p:nvPr/>
        </p:nvCxnSpPr>
        <p:spPr>
          <a:xfrm>
            <a:off x="12077700" y="9222477"/>
            <a:ext cx="5400000" cy="0"/>
          </a:xfrm>
          <a:prstGeom prst="line">
            <a:avLst/>
          </a:prstGeom>
          <a:ln>
            <a:solidFill>
              <a:srgbClr val="FFFFFF">
                <a:alpha val="60000"/>
              </a:srgb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1FFF410-9F6F-36BB-459A-E4F470F5ECB6}"/>
              </a:ext>
            </a:extLst>
          </p:cNvPr>
          <p:cNvCxnSpPr>
            <a:cxnSpLocks/>
          </p:cNvCxnSpPr>
          <p:nvPr/>
        </p:nvCxnSpPr>
        <p:spPr>
          <a:xfrm>
            <a:off x="6438900" y="9222477"/>
            <a:ext cx="5400000" cy="0"/>
          </a:xfrm>
          <a:prstGeom prst="line">
            <a:avLst/>
          </a:prstGeom>
          <a:ln>
            <a:solidFill>
              <a:srgbClr val="FFFFFF">
                <a:alpha val="60000"/>
              </a:srgbClr>
            </a:solidFill>
          </a:ln>
        </p:spPr>
        <p:style>
          <a:lnRef idx="1">
            <a:schemeClr val="accent1"/>
          </a:lnRef>
          <a:fillRef idx="0">
            <a:schemeClr val="accent1"/>
          </a:fillRef>
          <a:effectRef idx="0">
            <a:schemeClr val="accent1"/>
          </a:effectRef>
          <a:fontRef idx="minor">
            <a:schemeClr val="tx1"/>
          </a:fontRef>
        </p:style>
      </p:cxnSp>
      <p:pic>
        <p:nvPicPr>
          <p:cNvPr id="19" name="Graphic 18">
            <a:extLst>
              <a:ext uri="{FF2B5EF4-FFF2-40B4-BE49-F238E27FC236}">
                <a16:creationId xmlns:a16="http://schemas.microsoft.com/office/drawing/2014/main" id="{DA71DCDD-7771-4222-8F35-051D07AAD1E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6040" y="101077"/>
            <a:ext cx="2198820" cy="164911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7" name="confidentiality-title"/>
          <p:cNvSpPr/>
          <p:nvPr/>
        </p:nvSpPr>
        <p:spPr>
          <a:xfrm>
            <a:off x="791750" y="6324600"/>
            <a:ext cx="11068050" cy="762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10716"/>
                </a:solidFill>
                <a:latin typeface="Equip Extended Regular" pitchFamily="34" charset="0"/>
                <a:ea typeface="Equip Extended Regular" pitchFamily="34" charset="-122"/>
                <a:cs typeface="Equip Extended Regular" pitchFamily="34" charset="-120"/>
              </a:rPr>
              <a:t>Confidentiality Statement</a:t>
            </a:r>
            <a:endParaRPr lang="en-US" sz="4800" dirty="0"/>
          </a:p>
        </p:txBody>
      </p:sp>
      <p:sp>
        <p:nvSpPr>
          <p:cNvPr id="8" name="confidentiality-body"/>
          <p:cNvSpPr/>
          <p:nvPr/>
        </p:nvSpPr>
        <p:spPr>
          <a:xfrm>
            <a:off x="791750" y="7391400"/>
            <a:ext cx="11068050" cy="885825"/>
          </a:xfrm>
          <a:prstGeom prst="rect">
            <a:avLst/>
          </a:prstGeom>
          <a:noFill/>
          <a:ln/>
        </p:spPr>
        <p:txBody>
          <a:bodyPr wrap="square" lIns="0" tIns="0" rIns="0" bIns="0" rtlCol="0" anchor="t"/>
          <a:lstStyle/>
          <a:p>
            <a:pPr marL="0" indent="0" algn="l">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This document contains proprietary and confidential information and shall not be used, reproduced, or disclosed to third parties, in whole or in part, for any purpose other than to evaluate this document, without the prior written consent of Nagarro.</a:t>
            </a:r>
            <a:endParaRPr lang="en-US" sz="1800" dirty="0"/>
          </a:p>
        </p:txBody>
      </p:sp>
      <p:sp>
        <p:nvSpPr>
          <p:cNvPr id="9" name="Digital Design Strategy">
            <a:extLst>
              <a:ext uri="{FF2B5EF4-FFF2-40B4-BE49-F238E27FC236}">
                <a16:creationId xmlns:a16="http://schemas.microsoft.com/office/drawing/2014/main" id="{1EE1C68C-8264-8E3C-1315-C00D50359066}"/>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Capability Pitch</a:t>
            </a:r>
            <a:endParaRPr lang="en-US" sz="1200" dirty="0">
              <a:solidFill>
                <a:schemeClr val="bg1">
                  <a:lumMod val="75000"/>
                </a:schemeClr>
              </a:solidFill>
            </a:endParaRPr>
          </a:p>
        </p:txBody>
      </p:sp>
      <p:sp>
        <p:nvSpPr>
          <p:cNvPr id="10" name="Project Name">
            <a:extLst>
              <a:ext uri="{FF2B5EF4-FFF2-40B4-BE49-F238E27FC236}">
                <a16:creationId xmlns:a16="http://schemas.microsoft.com/office/drawing/2014/main" id="{10A5352C-DA41-E33F-59D7-ECC37DC8E1D6}"/>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Mercedes-Benz</a:t>
            </a:r>
            <a:endParaRPr lang="en-US" sz="1200" dirty="0">
              <a:solidFill>
                <a:schemeClr val="bg1">
                  <a:lumMod val="75000"/>
                </a:schemeClr>
              </a:solidFill>
            </a:endParaRPr>
          </a:p>
        </p:txBody>
      </p:sp>
      <p:sp>
        <p:nvSpPr>
          <p:cNvPr id="11" name="Month Year">
            <a:extLst>
              <a:ext uri="{FF2B5EF4-FFF2-40B4-BE49-F238E27FC236}">
                <a16:creationId xmlns:a16="http://schemas.microsoft.com/office/drawing/2014/main" id="{508C2BCA-48B7-81CF-765A-6B98F89ED9C4}"/>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June 2026</a:t>
            </a:r>
            <a:endParaRPr lang="en-US" sz="1200" dirty="0">
              <a:solidFill>
                <a:schemeClr val="bg1">
                  <a:lumMod val="75000"/>
                </a:schemeClr>
              </a:solidFill>
            </a:endParaRPr>
          </a:p>
        </p:txBody>
      </p:sp>
      <p:sp>
        <p:nvSpPr>
          <p:cNvPr id="12" name="2026">
            <a:extLst>
              <a:ext uri="{FF2B5EF4-FFF2-40B4-BE49-F238E27FC236}">
                <a16:creationId xmlns:a16="http://schemas.microsoft.com/office/drawing/2014/main" id="{0CE496A5-B0E1-FF5C-2BD0-924CD6699EA3}"/>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 2026</a:t>
            </a:r>
            <a:endParaRPr lang="en-US" sz="1200" dirty="0">
              <a:solidFill>
                <a:schemeClr val="bg1">
                  <a:lumMod val="75000"/>
                </a:schemeClr>
              </a:solidFill>
            </a:endParaRPr>
          </a:p>
        </p:txBody>
      </p:sp>
      <p:pic>
        <p:nvPicPr>
          <p:cNvPr id="2" name="Graphic 1">
            <a:extLst>
              <a:ext uri="{FF2B5EF4-FFF2-40B4-BE49-F238E27FC236}">
                <a16:creationId xmlns:a16="http://schemas.microsoft.com/office/drawing/2014/main" id="{10193407-A73D-06E0-4377-0FB2ABA5767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2730" y="101077"/>
            <a:ext cx="2198820" cy="1649115"/>
          </a:xfrm>
          <a:prstGeom prst="rect">
            <a:avLst/>
          </a:prstGeom>
        </p:spPr>
      </p:pic>
      <p:cxnSp>
        <p:nvCxnSpPr>
          <p:cNvPr id="3" name="Straight Connector 2">
            <a:extLst>
              <a:ext uri="{FF2B5EF4-FFF2-40B4-BE49-F238E27FC236}">
                <a16:creationId xmlns:a16="http://schemas.microsoft.com/office/drawing/2014/main" id="{8E2884E7-7A54-6924-7B22-5D5761B16D16}"/>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44AFF323-01B7-FC74-330D-B24728C36FD8}"/>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64F71937-FB39-8C88-53B1-24390AA703C5}"/>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7" name="exec-title"/>
          <p:cNvSpPr/>
          <p:nvPr/>
        </p:nvSpPr>
        <p:spPr>
          <a:xfrm>
            <a:off x="794625" y="3286125"/>
            <a:ext cx="16697325" cy="762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10716"/>
                </a:solidFill>
                <a:latin typeface="Equip Extended Regular" pitchFamily="34" charset="0"/>
                <a:ea typeface="Equip Extended Regular" pitchFamily="34" charset="-122"/>
                <a:cs typeface="Equip Extended Regular" pitchFamily="34" charset="-120"/>
              </a:rPr>
              <a:t>Executive Summary</a:t>
            </a:r>
            <a:endParaRPr lang="en-US" sz="4800" dirty="0"/>
          </a:p>
        </p:txBody>
      </p:sp>
      <p:sp>
        <p:nvSpPr>
          <p:cNvPr id="8" name="exec-body-1"/>
          <p:cNvSpPr/>
          <p:nvPr/>
        </p:nvSpPr>
        <p:spPr>
          <a:xfrm>
            <a:off x="794625" y="4352925"/>
            <a:ext cx="5378450" cy="2657475"/>
          </a:xfrm>
          <a:prstGeom prst="rect">
            <a:avLst/>
          </a:prstGeom>
          <a:noFill/>
          <a:ln/>
        </p:spPr>
        <p:txBody>
          <a:bodyPr wrap="square" lIns="0" tIns="0" rIns="0" bIns="0" rtlCol="0" anchor="t"/>
          <a:lstStyle/>
          <a:p>
            <a:pPr marL="0" indent="0" algn="l">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What a design system is
One consistent system of components, tokens, and guidelines that connects design and engineering across every product surface.</a:t>
            </a:r>
            <a:endParaRPr lang="en-US" sz="1800" dirty="0"/>
          </a:p>
        </p:txBody>
      </p:sp>
      <p:sp>
        <p:nvSpPr>
          <p:cNvPr id="9" name="exec-body-2"/>
          <p:cNvSpPr/>
          <p:nvPr/>
        </p:nvSpPr>
        <p:spPr>
          <a:xfrm>
            <a:off x="6464275" y="4352925"/>
            <a:ext cx="5378450" cy="2657475"/>
          </a:xfrm>
          <a:prstGeom prst="rect">
            <a:avLst/>
          </a:prstGeom>
          <a:noFill/>
          <a:ln/>
        </p:spPr>
        <p:txBody>
          <a:bodyPr wrap="square" lIns="0" tIns="0" rIns="0" bIns="0" rtlCol="0" anchor="t"/>
          <a:lstStyle/>
          <a:p>
            <a:pPr marL="0" indent="0" algn="l">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The challenges
Fragmented UI, duplicated effort, slow delivery, and inconsistent brand expression across teams and digital products.</a:t>
            </a:r>
            <a:endParaRPr lang="en-US" sz="1800" dirty="0"/>
          </a:p>
        </p:txBody>
      </p:sp>
      <p:sp>
        <p:nvSpPr>
          <p:cNvPr id="10" name="exec-body-3"/>
          <p:cNvSpPr/>
          <p:nvPr/>
        </p:nvSpPr>
        <p:spPr>
          <a:xfrm>
            <a:off x="12128525" y="4352925"/>
            <a:ext cx="5378450" cy="2066925"/>
          </a:xfrm>
          <a:prstGeom prst="rect">
            <a:avLst/>
          </a:prstGeom>
          <a:noFill/>
          <a:ln/>
        </p:spPr>
        <p:txBody>
          <a:bodyPr wrap="square" lIns="0" tIns="0" rIns="0" bIns="0" rtlCol="0" anchor="t"/>
          <a:lstStyle/>
          <a:p>
            <a:pPr marL="0" indent="0" algn="l">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What Nagarro brings
A proven approach to designing, building, and governing design systems that scale — with measurable outcomes.</a:t>
            </a:r>
            <a:endParaRPr lang="en-US" sz="1800" dirty="0"/>
          </a:p>
        </p:txBody>
      </p:sp>
      <p:sp>
        <p:nvSpPr>
          <p:cNvPr id="18" name="Digital Design Strategy">
            <a:extLst>
              <a:ext uri="{FF2B5EF4-FFF2-40B4-BE49-F238E27FC236}">
                <a16:creationId xmlns:a16="http://schemas.microsoft.com/office/drawing/2014/main" id="{617A1957-E5D9-6F1D-0488-1C071439A6F0}"/>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Capability Pitch</a:t>
            </a:r>
            <a:endParaRPr lang="en-US" sz="1200" dirty="0">
              <a:solidFill>
                <a:schemeClr val="bg1">
                  <a:lumMod val="75000"/>
                </a:schemeClr>
              </a:solidFill>
            </a:endParaRPr>
          </a:p>
        </p:txBody>
      </p:sp>
      <p:sp>
        <p:nvSpPr>
          <p:cNvPr id="19" name="Project Name">
            <a:extLst>
              <a:ext uri="{FF2B5EF4-FFF2-40B4-BE49-F238E27FC236}">
                <a16:creationId xmlns:a16="http://schemas.microsoft.com/office/drawing/2014/main" id="{67DA9FB3-02B1-8A99-A194-320A3C4EC617}"/>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Mercedes-Benz</a:t>
            </a:r>
            <a:endParaRPr lang="en-US" sz="1200" dirty="0">
              <a:solidFill>
                <a:schemeClr val="bg1">
                  <a:lumMod val="75000"/>
                </a:schemeClr>
              </a:solidFill>
            </a:endParaRPr>
          </a:p>
        </p:txBody>
      </p:sp>
      <p:sp>
        <p:nvSpPr>
          <p:cNvPr id="20" name="Month Year">
            <a:extLst>
              <a:ext uri="{FF2B5EF4-FFF2-40B4-BE49-F238E27FC236}">
                <a16:creationId xmlns:a16="http://schemas.microsoft.com/office/drawing/2014/main" id="{30C0A999-E7B5-946F-03DF-D5FA32971C9F}"/>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June 2026</a:t>
            </a:r>
            <a:endParaRPr lang="en-US" sz="1200" dirty="0">
              <a:solidFill>
                <a:schemeClr val="bg1">
                  <a:lumMod val="75000"/>
                </a:schemeClr>
              </a:solidFill>
            </a:endParaRPr>
          </a:p>
        </p:txBody>
      </p:sp>
      <p:sp>
        <p:nvSpPr>
          <p:cNvPr id="21" name="2026">
            <a:extLst>
              <a:ext uri="{FF2B5EF4-FFF2-40B4-BE49-F238E27FC236}">
                <a16:creationId xmlns:a16="http://schemas.microsoft.com/office/drawing/2014/main" id="{EAECC5AE-0301-BCB0-9912-F2504E1DF213}"/>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 2026</a:t>
            </a:r>
            <a:endParaRPr lang="en-US" sz="1200" dirty="0">
              <a:solidFill>
                <a:schemeClr val="bg1">
                  <a:lumMod val="75000"/>
                </a:schemeClr>
              </a:solidFill>
            </a:endParaRPr>
          </a:p>
        </p:txBody>
      </p:sp>
      <p:pic>
        <p:nvPicPr>
          <p:cNvPr id="2" name="Graphic 1">
            <a:extLst>
              <a:ext uri="{FF2B5EF4-FFF2-40B4-BE49-F238E27FC236}">
                <a16:creationId xmlns:a16="http://schemas.microsoft.com/office/drawing/2014/main" id="{3EF5DC6E-F241-6630-B1E6-5AD21CDFDB8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2730" y="101077"/>
            <a:ext cx="2198820" cy="1649115"/>
          </a:xfrm>
          <a:prstGeom prst="rect">
            <a:avLst/>
          </a:prstGeom>
        </p:spPr>
      </p:pic>
      <p:cxnSp>
        <p:nvCxnSpPr>
          <p:cNvPr id="3" name="Straight Connector 2">
            <a:extLst>
              <a:ext uri="{FF2B5EF4-FFF2-40B4-BE49-F238E27FC236}">
                <a16:creationId xmlns:a16="http://schemas.microsoft.com/office/drawing/2014/main" id="{962B9085-C7D8-BFF8-F77C-AA6A12DEC451}"/>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3FB01E49-BCF5-1C02-0F73-28D6523CCDD6}"/>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19FDC83D-D53C-4DDD-72F6-073B5AAEE964}"/>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7" name="content-title"/>
          <p:cNvSpPr/>
          <p:nvPr/>
        </p:nvSpPr>
        <p:spPr>
          <a:xfrm>
            <a:off x="789092" y="2171700"/>
            <a:ext cx="15516225" cy="762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10716"/>
                </a:solidFill>
                <a:latin typeface="Equip Extended Regular" pitchFamily="34" charset="0"/>
                <a:ea typeface="Equip Extended Regular" pitchFamily="34" charset="-122"/>
                <a:cs typeface="Equip Extended Regular" pitchFamily="34" charset="-120"/>
              </a:rPr>
              <a:t>One system. Every surface.</a:t>
            </a:r>
            <a:endParaRPr lang="en-US" sz="4800" dirty="0"/>
          </a:p>
        </p:txBody>
      </p:sp>
      <p:sp>
        <p:nvSpPr>
          <p:cNvPr id="8" name="content-subtitle"/>
          <p:cNvSpPr/>
          <p:nvPr/>
        </p:nvSpPr>
        <p:spPr>
          <a:xfrm>
            <a:off x="794771" y="3086100"/>
            <a:ext cx="15516225" cy="428625"/>
          </a:xfrm>
          <a:prstGeom prst="rect">
            <a:avLst/>
          </a:prstGeom>
          <a:noFill/>
          <a:ln/>
        </p:spPr>
        <p:txBody>
          <a:bodyPr wrap="square" lIns="0" tIns="0" rIns="0" bIns="0" rtlCol="0" anchor="t"/>
          <a:lstStyle/>
          <a:p>
            <a:pPr marL="0" indent="0" algn="l">
              <a:lnSpc>
                <a:spcPts val="2250"/>
              </a:lnSpc>
              <a:buNone/>
            </a:pPr>
            <a:r>
              <a:rPr lang="en-US" sz="1800" kern="0" spc="-75" dirty="0">
                <a:solidFill>
                  <a:srgbClr val="4E5E78"/>
                </a:solidFill>
                <a:latin typeface="Equip Regular" pitchFamily="34" charset="0"/>
                <a:ea typeface="Equip Regular" pitchFamily="34" charset="-122"/>
                <a:cs typeface="Equip Regular" pitchFamily="34" charset="-120"/>
              </a:rPr>
              <a:t>What is a design system and why it matters</a:t>
            </a:r>
            <a:endParaRPr lang="en-US" sz="1800" dirty="0"/>
          </a:p>
        </p:txBody>
      </p:sp>
      <p:sp>
        <p:nvSpPr>
          <p:cNvPr id="9" name="content-body"/>
          <p:cNvSpPr/>
          <p:nvPr/>
        </p:nvSpPr>
        <p:spPr>
          <a:xfrm>
            <a:off x="794773" y="4029075"/>
            <a:ext cx="11163300" cy="4714875"/>
          </a:xfrm>
          <a:prstGeom prst="rect">
            <a:avLst/>
          </a:prstGeom>
          <a:noFill/>
          <a:ln/>
        </p:spPr>
        <p:txBody>
          <a:bodyPr wrap="square" lIns="0" tIns="0" rIns="0" bIns="0" rtlCol="0" anchor="t"/>
          <a:lstStyle/>
          <a:p>
            <a:pPr algn="l">
              <a:lnSpc>
                <a:spcPts val="2250"/>
              </a:lnSpc>
              <a:buSzPct val="100000"/>
            </a:pPr>
            <a:r>
              <a:rPr lang="en-US" sz="1800" kern="0" spc="-75" dirty="0">
                <a:solidFill>
                  <a:srgbClr val="010716"/>
                </a:solidFill>
                <a:latin typeface="Equip Regular" pitchFamily="34" charset="0"/>
                <a:ea typeface="Equip Regular" pitchFamily="34" charset="-122"/>
                <a:cs typeface="Equip Regular" pitchFamily="34" charset="-120"/>
              </a:rPr>
              <a:t>A design system is the single source of truth connecting design decisions to code — components, tokens, patterns, and governance in one place.
Without it, teams rebuild the same UI independently, brand expression drifts across surfaces, and every product update costs more than it should.
For an organisation operating across digital touchpoints globally, a design system is not a nice-to-have. It is the infrastructure that makes consistent, high-quality digital experiences possible at scale.</a:t>
            </a:r>
            <a:r>
              <a:rPr lang="en-US" sz="1800" kern="0" spc="-75" dirty="0" err="1">
                <a:solidFill>
                  <a:srgbClr val="010716"/>
                </a:solidFill>
                <a:latin typeface="Equip Regular" pitchFamily="34" charset="0"/>
                <a:ea typeface="Equip Regular" pitchFamily="34" charset="-122"/>
                <a:cs typeface="Equip Regular" pitchFamily="34" charset="-120"/>
              </a:rPr>
              <a:t/>
            </a:r>
            <a:r>
              <a:rPr lang="en-US" sz="1800" kern="0" spc="-75" dirty="0">
                <a:solidFill>
                  <a:srgbClr val="010716"/>
                </a:solidFill>
                <a:latin typeface="Equip Regular" pitchFamily="34" charset="0"/>
                <a:ea typeface="Equip Regular" pitchFamily="34" charset="-122"/>
                <a:cs typeface="Equip Regular" pitchFamily="34" charset="-120"/>
              </a:rPr>
              <a:t/>
            </a:r>
            <a:endParaRPr lang="en-US" kern="0" spc="-75" dirty="0">
              <a:solidFill>
                <a:srgbClr val="010716"/>
              </a:solidFill>
              <a:latin typeface="Equip Regular" pitchFamily="34" charset="0"/>
              <a:ea typeface="Equip Regular" pitchFamily="34" charset="-122"/>
              <a:cs typeface="Equip Regular" pitchFamily="34" charset="-120"/>
            </a:endParaRPr>
          </a:p>
          <a:p>
            <a:pPr marL="228600" indent="-228600" algn="l">
              <a:lnSpc>
                <a:spcPts val="2250"/>
              </a:lnSpc>
              <a:buSzPct val="100000"/>
              <a:buChar char="•"/>
            </a:pPr>
            <a:endParaRPr lang="en-US" sz="1800" kern="0" spc="-75" dirty="0">
              <a:solidFill>
                <a:srgbClr val="010716"/>
              </a:solidFill>
              <a:latin typeface="Equip Regular" pitchFamily="34" charset="0"/>
              <a:ea typeface="Equip Regular" pitchFamily="34" charset="-122"/>
              <a:cs typeface="Equip Regular" pitchFamily="34" charset="-120"/>
            </a:endParaRPr>
          </a:p>
          <a:p>
            <a:pPr marL="228600" indent="-228600" algn="l">
              <a:lnSpc>
                <a:spcPts val="2250"/>
              </a:lnSpc>
              <a:buSzPct val="100000"/>
              <a:buChar char="•"/>
            </a:pPr>
            <a:r>
              <a:rPr lang="en-US" sz="1800" kern="0" spc="-75" dirty="0">
                <a:solidFill>
                  <a:srgbClr val="010716"/>
                </a:solidFill>
                <a:latin typeface="Equip Regular" pitchFamily="34" charset="0"/>
                <a:ea typeface="Equip Regular" pitchFamily="34" charset="-122"/>
                <a:cs typeface="Equip Regular" pitchFamily="34" charset="-120"/>
              </a:rPr>
              <a:t/>
            </a:r>
            <a:endParaRPr lang="en-US" sz="1800" dirty="0"/>
          </a:p>
        </p:txBody>
      </p:sp>
      <p:sp>
        <p:nvSpPr>
          <p:cNvPr id="10" name="Digital Design Strategy">
            <a:extLst>
              <a:ext uri="{FF2B5EF4-FFF2-40B4-BE49-F238E27FC236}">
                <a16:creationId xmlns:a16="http://schemas.microsoft.com/office/drawing/2014/main" id="{EEC158F2-B939-A2E5-1DBD-E33517BE8A5D}"/>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Capability Pitch</a:t>
            </a:r>
            <a:endParaRPr lang="en-US" sz="1200" dirty="0">
              <a:solidFill>
                <a:schemeClr val="bg1">
                  <a:lumMod val="75000"/>
                </a:schemeClr>
              </a:solidFill>
            </a:endParaRPr>
          </a:p>
        </p:txBody>
      </p:sp>
      <p:sp>
        <p:nvSpPr>
          <p:cNvPr id="11" name="Project Name">
            <a:extLst>
              <a:ext uri="{FF2B5EF4-FFF2-40B4-BE49-F238E27FC236}">
                <a16:creationId xmlns:a16="http://schemas.microsoft.com/office/drawing/2014/main" id="{897FD6C6-5764-11FF-5D2D-69397D064E81}"/>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Mercedes-Benz</a:t>
            </a:r>
            <a:endParaRPr lang="en-US" sz="1200" dirty="0">
              <a:solidFill>
                <a:schemeClr val="bg1">
                  <a:lumMod val="75000"/>
                </a:schemeClr>
              </a:solidFill>
            </a:endParaRPr>
          </a:p>
        </p:txBody>
      </p:sp>
      <p:sp>
        <p:nvSpPr>
          <p:cNvPr id="12" name="Month Year">
            <a:extLst>
              <a:ext uri="{FF2B5EF4-FFF2-40B4-BE49-F238E27FC236}">
                <a16:creationId xmlns:a16="http://schemas.microsoft.com/office/drawing/2014/main" id="{379D521D-12CA-5978-5F5B-60D9FCB70309}"/>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June 2026</a:t>
            </a:r>
            <a:endParaRPr lang="en-US" sz="1200" dirty="0">
              <a:solidFill>
                <a:schemeClr val="bg1">
                  <a:lumMod val="75000"/>
                </a:schemeClr>
              </a:solidFill>
            </a:endParaRPr>
          </a:p>
        </p:txBody>
      </p:sp>
      <p:sp>
        <p:nvSpPr>
          <p:cNvPr id="13" name="2026">
            <a:extLst>
              <a:ext uri="{FF2B5EF4-FFF2-40B4-BE49-F238E27FC236}">
                <a16:creationId xmlns:a16="http://schemas.microsoft.com/office/drawing/2014/main" id="{29BC96A1-7F35-C9F1-0E2C-6F74FA1A1C96}"/>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 2026</a:t>
            </a:r>
            <a:endParaRPr lang="en-US" sz="1200" dirty="0">
              <a:solidFill>
                <a:schemeClr val="bg1">
                  <a:lumMod val="75000"/>
                </a:schemeClr>
              </a:solidFill>
            </a:endParaRPr>
          </a:p>
        </p:txBody>
      </p:sp>
      <p:pic>
        <p:nvPicPr>
          <p:cNvPr id="2" name="Graphic 1">
            <a:extLst>
              <a:ext uri="{FF2B5EF4-FFF2-40B4-BE49-F238E27FC236}">
                <a16:creationId xmlns:a16="http://schemas.microsoft.com/office/drawing/2014/main" id="{4287A53C-9FD5-7D2C-4D76-14F3F43988F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2730" y="101077"/>
            <a:ext cx="2198820" cy="1649115"/>
          </a:xfrm>
          <a:prstGeom prst="rect">
            <a:avLst/>
          </a:prstGeom>
        </p:spPr>
      </p:pic>
      <p:cxnSp>
        <p:nvCxnSpPr>
          <p:cNvPr id="3" name="Straight Connector 2">
            <a:extLst>
              <a:ext uri="{FF2B5EF4-FFF2-40B4-BE49-F238E27FC236}">
                <a16:creationId xmlns:a16="http://schemas.microsoft.com/office/drawing/2014/main" id="{B801240A-A9DE-1FA9-3C6A-320741409925}"/>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6B1670FC-C852-FE00-885D-043BC2552418}"/>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729DFF37-B2FA-1C0C-32C6-59E17AC8320E}"/>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7" name="quote"/>
          <p:cNvSpPr/>
          <p:nvPr/>
        </p:nvSpPr>
        <p:spPr>
          <a:xfrm>
            <a:off x="2894962" y="2724150"/>
            <a:ext cx="12477750" cy="3657600"/>
          </a:xfrm>
          <a:prstGeom prst="rect">
            <a:avLst/>
          </a:prstGeom>
          <a:noFill/>
          <a:ln/>
        </p:spPr>
        <p:txBody>
          <a:bodyPr wrap="square" lIns="0" tIns="0" rIns="0" bIns="0" rtlCol="0" anchor="t"/>
          <a:lstStyle/>
          <a:p>
            <a:pPr marL="0" indent="0" algn="l">
              <a:lnSpc>
                <a:spcPts val="7200"/>
              </a:lnSpc>
              <a:buNone/>
            </a:pPr>
            <a:r>
              <a:rPr lang="en-US" sz="7200" kern="0" spc="-112" dirty="0">
                <a:solidFill>
                  <a:srgbClr val="205463"/>
                </a:solidFill>
                <a:latin typeface="Equip Extended Medium" pitchFamily="34" charset="0"/>
                <a:ea typeface="Equip Extended Medium" pitchFamily="34" charset="-122"/>
                <a:cs typeface="Equip Extended Medium" pitchFamily="34" charset="-120"/>
              </a:rPr>
              <a:t>“Most teams are rebuilding the same button seventeen times.”</a:t>
            </a:r>
            <a:endParaRPr lang="en-US" sz="7200" dirty="0"/>
          </a:p>
        </p:txBody>
      </p:sp>
      <p:sp>
        <p:nvSpPr>
          <p:cNvPr id="8" name="attribution"/>
          <p:cNvSpPr/>
          <p:nvPr/>
        </p:nvSpPr>
        <p:spPr>
          <a:xfrm>
            <a:off x="2791550" y="6838950"/>
            <a:ext cx="12477750" cy="447675"/>
          </a:xfrm>
          <a:prstGeom prst="rect">
            <a:avLst/>
          </a:prstGeom>
          <a:noFill/>
          <a:ln/>
        </p:spPr>
        <p:txBody>
          <a:bodyPr wrap="square" lIns="0" tIns="0" rIns="0" bIns="0" rtlCol="0" anchor="t"/>
          <a:lstStyle/>
          <a:p>
            <a:pPr marL="0" indent="0" algn="l">
              <a:lnSpc>
                <a:spcPts val="3375"/>
              </a:lnSpc>
              <a:buNone/>
            </a:pPr>
            <a:r>
              <a:rPr lang="en-US" sz="2700" kern="0" spc="-75" dirty="0">
                <a:solidFill>
                  <a:srgbClr val="205463"/>
                </a:solidFill>
                <a:latin typeface="Equip Regular" pitchFamily="34" charset="0"/>
                <a:ea typeface="Equip Regular" pitchFamily="34" charset="-122"/>
                <a:cs typeface="Equip Regular" pitchFamily="34" charset="-120"/>
              </a:rPr>
              <a:t>— Nagarro Design Studio</a:t>
            </a:r>
            <a:endParaRPr lang="en-US" sz="2700" dirty="0"/>
          </a:p>
        </p:txBody>
      </p:sp>
      <p:pic>
        <p:nvPicPr>
          <p:cNvPr id="2" name="Graphic 1">
            <a:extLst>
              <a:ext uri="{FF2B5EF4-FFF2-40B4-BE49-F238E27FC236}">
                <a16:creationId xmlns:a16="http://schemas.microsoft.com/office/drawing/2014/main" id="{0C7A16C4-BCFC-8921-035D-2E68BC7156B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2730" y="239964"/>
            <a:ext cx="2198820" cy="1649115"/>
          </a:xfrm>
          <a:prstGeom prst="rect">
            <a:avLst/>
          </a:prstGeom>
        </p:spPr>
      </p:pic>
      <p:cxnSp>
        <p:nvCxnSpPr>
          <p:cNvPr id="3" name="Straight Connector 2">
            <a:extLst>
              <a:ext uri="{FF2B5EF4-FFF2-40B4-BE49-F238E27FC236}">
                <a16:creationId xmlns:a16="http://schemas.microsoft.com/office/drawing/2014/main" id="{96E50F88-5E3E-8DEA-DEDC-CBE4857F8B57}"/>
              </a:ext>
            </a:extLst>
          </p:cNvPr>
          <p:cNvCxnSpPr>
            <a:cxnSpLocks/>
          </p:cNvCxnSpPr>
          <p:nvPr/>
        </p:nvCxnSpPr>
        <p:spPr>
          <a:xfrm>
            <a:off x="800098" y="9222477"/>
            <a:ext cx="5400000" cy="0"/>
          </a:xfrm>
          <a:prstGeom prst="line">
            <a:avLst/>
          </a:prstGeom>
          <a:ln>
            <a:solidFill>
              <a:schemeClr val="bg1">
                <a:lumMod val="50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85C3A16D-38EE-0EFB-9BB7-E124B7BB6F3E}"/>
              </a:ext>
            </a:extLst>
          </p:cNvPr>
          <p:cNvCxnSpPr>
            <a:cxnSpLocks/>
          </p:cNvCxnSpPr>
          <p:nvPr/>
        </p:nvCxnSpPr>
        <p:spPr>
          <a:xfrm>
            <a:off x="12077698" y="9222477"/>
            <a:ext cx="5400000" cy="0"/>
          </a:xfrm>
          <a:prstGeom prst="line">
            <a:avLst/>
          </a:prstGeom>
          <a:ln>
            <a:solidFill>
              <a:schemeClr val="bg1">
                <a:lumMod val="50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93065C7C-CCE1-45BF-C818-8120073068C4}"/>
              </a:ext>
            </a:extLst>
          </p:cNvPr>
          <p:cNvCxnSpPr>
            <a:cxnSpLocks/>
          </p:cNvCxnSpPr>
          <p:nvPr/>
        </p:nvCxnSpPr>
        <p:spPr>
          <a:xfrm>
            <a:off x="6438898" y="9222477"/>
            <a:ext cx="5400000" cy="0"/>
          </a:xfrm>
          <a:prstGeom prst="line">
            <a:avLst/>
          </a:prstGeom>
          <a:ln>
            <a:solidFill>
              <a:schemeClr val="bg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6" name="Digital Design Strategy">
            <a:extLst>
              <a:ext uri="{FF2B5EF4-FFF2-40B4-BE49-F238E27FC236}">
                <a16:creationId xmlns:a16="http://schemas.microsoft.com/office/drawing/2014/main" id="{579B1875-A996-70BF-2239-7103BEB8EF0B}"/>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50000"/>
                  </a:schemeClr>
                </a:solidFill>
                <a:latin typeface="Equip Extended Regular" pitchFamily="34" charset="0"/>
                <a:ea typeface="Equip Extended Regular" pitchFamily="34" charset="-122"/>
                <a:cs typeface="Equip Extended Regular" pitchFamily="34" charset="-120"/>
              </a:rPr>
              <a:t>Capability Pitch</a:t>
            </a:r>
            <a:endParaRPr lang="en-US" sz="1200" dirty="0">
              <a:solidFill>
                <a:schemeClr val="bg1">
                  <a:lumMod val="50000"/>
                </a:schemeClr>
              </a:solidFill>
            </a:endParaRPr>
          </a:p>
        </p:txBody>
      </p:sp>
      <p:sp>
        <p:nvSpPr>
          <p:cNvPr id="10" name="Project Name">
            <a:extLst>
              <a:ext uri="{FF2B5EF4-FFF2-40B4-BE49-F238E27FC236}">
                <a16:creationId xmlns:a16="http://schemas.microsoft.com/office/drawing/2014/main" id="{E2A3CED9-3ECB-2B71-AD8C-0786D98FE3B7}"/>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50000"/>
                  </a:schemeClr>
                </a:solidFill>
                <a:latin typeface="Equip Extended Regular" pitchFamily="34" charset="0"/>
                <a:ea typeface="Equip Extended Regular" pitchFamily="34" charset="-122"/>
                <a:cs typeface="Equip Extended Regular" pitchFamily="34" charset="-120"/>
              </a:rPr>
              <a:t>Mercedes-Benz</a:t>
            </a:r>
            <a:endParaRPr lang="en-US" sz="1200" dirty="0">
              <a:solidFill>
                <a:schemeClr val="bg1">
                  <a:lumMod val="50000"/>
                </a:schemeClr>
              </a:solidFill>
            </a:endParaRPr>
          </a:p>
        </p:txBody>
      </p:sp>
      <p:sp>
        <p:nvSpPr>
          <p:cNvPr id="11" name="Month Year">
            <a:extLst>
              <a:ext uri="{FF2B5EF4-FFF2-40B4-BE49-F238E27FC236}">
                <a16:creationId xmlns:a16="http://schemas.microsoft.com/office/drawing/2014/main" id="{A73A8C46-A99E-4607-4606-D9889B5EA657}"/>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50000"/>
                  </a:schemeClr>
                </a:solidFill>
                <a:latin typeface="Equip Extended Regular" pitchFamily="34" charset="0"/>
                <a:ea typeface="Equip Extended Regular" pitchFamily="34" charset="-122"/>
                <a:cs typeface="Equip Extended Regular" pitchFamily="34" charset="-120"/>
              </a:rPr>
              <a:t>June 2026</a:t>
            </a:r>
            <a:endParaRPr lang="en-US" sz="1200" dirty="0">
              <a:solidFill>
                <a:schemeClr val="bg1">
                  <a:lumMod val="50000"/>
                </a:schemeClr>
              </a:solidFill>
            </a:endParaRPr>
          </a:p>
        </p:txBody>
      </p:sp>
      <p:sp>
        <p:nvSpPr>
          <p:cNvPr id="12" name="2026">
            <a:extLst>
              <a:ext uri="{FF2B5EF4-FFF2-40B4-BE49-F238E27FC236}">
                <a16:creationId xmlns:a16="http://schemas.microsoft.com/office/drawing/2014/main" id="{6A11A49F-AC71-3955-5565-64E3A61FE9C8}"/>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50000"/>
                  </a:schemeClr>
                </a:solidFill>
                <a:latin typeface="Equip Extended Regular" pitchFamily="34" charset="0"/>
                <a:ea typeface="Equip Extended Regular" pitchFamily="34" charset="-122"/>
                <a:cs typeface="Equip Extended Regular" pitchFamily="34" charset="-120"/>
              </a:rPr>
              <a:t>© 2026</a:t>
            </a:r>
            <a:endParaRPr lang="en-US" sz="1200" dirty="0">
              <a:solidFill>
                <a:schemeClr val="bg1">
                  <a:lumMod val="50000"/>
                </a:schemeClr>
              </a:solidFill>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7" name="why-title"/>
          <p:cNvSpPr/>
          <p:nvPr/>
        </p:nvSpPr>
        <p:spPr>
          <a:xfrm>
            <a:off x="800100" y="2466975"/>
            <a:ext cx="11677650" cy="1524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10716"/>
                </a:solidFill>
                <a:latin typeface="Equip Extended Regular" pitchFamily="34" charset="0"/>
                <a:ea typeface="Equip Extended Regular" pitchFamily="34" charset="-122"/>
                <a:cs typeface="Equip Extended Regular" pitchFamily="34" charset="-120"/>
              </a:rPr>
              <a:t>How we build design systems that last</a:t>
            </a:r>
            <a:endParaRPr lang="en-US" sz="4800" dirty="0"/>
          </a:p>
        </p:txBody>
      </p:sp>
      <p:sp>
        <p:nvSpPr>
          <p:cNvPr id="8" name="why-body-1"/>
          <p:cNvSpPr/>
          <p:nvPr/>
        </p:nvSpPr>
        <p:spPr>
          <a:xfrm>
            <a:off x="800100" y="4610100"/>
            <a:ext cx="5429250" cy="3200400"/>
          </a:xfrm>
          <a:prstGeom prst="rect">
            <a:avLst/>
          </a:prstGeom>
          <a:noFill/>
          <a:ln/>
        </p:spPr>
        <p:txBody>
          <a:bodyPr wrap="square" lIns="0" tIns="0" rIns="0" bIns="0" rtlCol="0" anchor="t"/>
          <a:lstStyle/>
          <a:p>
            <a:pPr marL="0" indent="0" algn="l">
              <a:lnSpc>
                <a:spcPts val="1725"/>
              </a:lnSpc>
              <a:buNone/>
            </a:pPr>
            <a:r>
              <a:rPr lang="en-US" sz="1350" kern="0" spc="-75" dirty="0">
                <a:solidFill>
                  <a:srgbClr val="010716"/>
                </a:solidFill>
                <a:latin typeface="Equip ExtraBold" pitchFamily="34" charset="0"/>
                <a:ea typeface="Equip ExtraBold" pitchFamily="34" charset="-122"/>
                <a:cs typeface="Equip ExtraBold" pitchFamily="34" charset="-120"/>
              </a:rPr>
              <a:t>Design
Component architecture grounded in your brand tokens, built for multi-platform use from day one.</a:t>
            </a:r>
            <a:r>
              <a:rPr lang="en-US" sz="1350" kern="0" spc="-75" dirty="0">
                <a:solidFill>
                  <a:srgbClr val="010716"/>
                </a:solidFill>
                <a:latin typeface="Equip Regular" pitchFamily="34" charset="0"/>
                <a:ea typeface="Equip Regular" pitchFamily="34" charset="-122"/>
                <a:cs typeface="Equip Regular" pitchFamily="34" charset="-120"/>
              </a:rPr>
              <a:t/>
            </a:r>
            <a:r>
              <a:rPr lang="en-US" sz="1350" kern="0" spc="-75" dirty="0">
                <a:solidFill>
                  <a:srgbClr val="010716"/>
                </a:solidFill>
                <a:latin typeface="Equip ExtraBold" pitchFamily="34" charset="0"/>
                <a:ea typeface="Equip ExtraBold" pitchFamily="34" charset="-122"/>
                <a:cs typeface="Equip ExtraBold" pitchFamily="34" charset="-120"/>
              </a:rPr>
              <a:t/>
            </a:r>
            <a:r>
              <a:rPr lang="en-US" sz="1350" kern="0" spc="-75" dirty="0">
                <a:solidFill>
                  <a:srgbClr val="010716"/>
                </a:solidFill>
                <a:latin typeface="Equip Regular" pitchFamily="34" charset="0"/>
                <a:ea typeface="Equip Regular" pitchFamily="34" charset="-122"/>
                <a:cs typeface="Equip Regular" pitchFamily="34" charset="-120"/>
              </a:rPr>
              <a:t/>
            </a:r>
            <a:endParaRPr lang="en-US" sz="1350" dirty="0"/>
          </a:p>
        </p:txBody>
      </p:sp>
      <p:sp>
        <p:nvSpPr>
          <p:cNvPr id="9" name="why-body-2"/>
          <p:cNvSpPr/>
          <p:nvPr/>
        </p:nvSpPr>
        <p:spPr>
          <a:xfrm>
            <a:off x="6496050" y="4610100"/>
            <a:ext cx="5429250" cy="2743200"/>
          </a:xfrm>
          <a:prstGeom prst="rect">
            <a:avLst/>
          </a:prstGeom>
          <a:noFill/>
          <a:ln/>
        </p:spPr>
        <p:txBody>
          <a:bodyPr wrap="square" lIns="0" tIns="0" rIns="0" bIns="0" rtlCol="0" anchor="t"/>
          <a:lstStyle/>
          <a:p>
            <a:pPr marL="0" indent="0" algn="l">
              <a:lnSpc>
                <a:spcPts val="1725"/>
              </a:lnSpc>
              <a:buNone/>
            </a:pPr>
            <a:r>
              <a:rPr lang="en-US" sz="1350" kern="0" spc="-75" dirty="0">
                <a:solidFill>
                  <a:srgbClr val="010716"/>
                </a:solidFill>
                <a:latin typeface="Equip ExtraBold" pitchFamily="34" charset="0"/>
                <a:ea typeface="Equip ExtraBold" pitchFamily="34" charset="-122"/>
                <a:cs typeface="Equip ExtraBold" pitchFamily="34" charset="-120"/>
              </a:rPr>
              <a:t>Build
Code-connected components with design-to-dev handoff that eliminates interpretation gaps and reduces rework.</a:t>
            </a:r>
            <a:r>
              <a:rPr lang="en-US" sz="1350" kern="0" spc="-75" dirty="0">
                <a:solidFill>
                  <a:srgbClr val="010716"/>
                </a:solidFill>
                <a:latin typeface="Equip Regular" pitchFamily="34" charset="0"/>
                <a:ea typeface="Equip Regular" pitchFamily="34" charset="-122"/>
                <a:cs typeface="Equip Regular" pitchFamily="34" charset="-120"/>
              </a:rPr>
              <a:t/>
            </a:r>
            <a:r>
              <a:rPr lang="en-US" sz="1350" kern="0" spc="-75" dirty="0">
                <a:solidFill>
                  <a:srgbClr val="010716"/>
                </a:solidFill>
                <a:latin typeface="Equip ExtraBold" pitchFamily="34" charset="0"/>
                <a:ea typeface="Equip ExtraBold" pitchFamily="34" charset="-122"/>
                <a:cs typeface="Equip ExtraBold" pitchFamily="34" charset="-120"/>
              </a:rPr>
              <a:t/>
            </a:r>
            <a:r>
              <a:rPr lang="en-US" sz="1350" kern="0" spc="-75" dirty="0">
                <a:solidFill>
                  <a:srgbClr val="010716"/>
                </a:solidFill>
                <a:latin typeface="Equip Regular" pitchFamily="34" charset="0"/>
                <a:ea typeface="Equip Regular" pitchFamily="34" charset="-122"/>
                <a:cs typeface="Equip Regular" pitchFamily="34" charset="-120"/>
              </a:rPr>
              <a:t/>
            </a:r>
            <a:endParaRPr lang="en-US" sz="1350" dirty="0"/>
          </a:p>
        </p:txBody>
      </p:sp>
      <p:sp>
        <p:nvSpPr>
          <p:cNvPr id="10" name="why-body-3"/>
          <p:cNvSpPr/>
          <p:nvPr/>
        </p:nvSpPr>
        <p:spPr>
          <a:xfrm>
            <a:off x="12192000" y="4610100"/>
            <a:ext cx="5429250" cy="3200400"/>
          </a:xfrm>
          <a:prstGeom prst="rect">
            <a:avLst/>
          </a:prstGeom>
          <a:noFill/>
          <a:ln/>
        </p:spPr>
        <p:txBody>
          <a:bodyPr wrap="square" lIns="0" tIns="0" rIns="0" bIns="0" rtlCol="0" anchor="t"/>
          <a:lstStyle/>
          <a:p>
            <a:pPr marL="0" indent="0" algn="l">
              <a:lnSpc>
                <a:spcPts val="1725"/>
              </a:lnSpc>
              <a:buNone/>
            </a:pPr>
            <a:r>
              <a:rPr lang="en-US" sz="1350" kern="0" spc="-75" dirty="0">
                <a:solidFill>
                  <a:srgbClr val="010716"/>
                </a:solidFill>
                <a:latin typeface="Equip ExtraBold" pitchFamily="34" charset="0"/>
                <a:ea typeface="Equip ExtraBold" pitchFamily="34" charset="-122"/>
                <a:cs typeface="Equip ExtraBold" pitchFamily="34" charset="-120"/>
              </a:rPr>
              <a:t>Govern
Documentation, contribution models, and adoption playbooks so the system grows with your organisation.</a:t>
            </a:r>
            <a:r>
              <a:rPr lang="en-US" sz="1350" kern="0" spc="-75" dirty="0">
                <a:solidFill>
                  <a:srgbClr val="010716"/>
                </a:solidFill>
                <a:latin typeface="Equip Regular" pitchFamily="34" charset="0"/>
                <a:ea typeface="Equip Regular" pitchFamily="34" charset="-122"/>
                <a:cs typeface="Equip Regular" pitchFamily="34" charset="-120"/>
              </a:rPr>
              <a:t/>
            </a:r>
            <a:r>
              <a:rPr lang="en-US" sz="1350" kern="0" spc="-75" dirty="0">
                <a:solidFill>
                  <a:srgbClr val="010716"/>
                </a:solidFill>
                <a:latin typeface="Equip ExtraBold" pitchFamily="34" charset="0"/>
                <a:ea typeface="Equip ExtraBold" pitchFamily="34" charset="-122"/>
                <a:cs typeface="Equip ExtraBold" pitchFamily="34" charset="-120"/>
              </a:rPr>
              <a:t/>
            </a:r>
            <a:r>
              <a:rPr lang="en-US" sz="1350" kern="0" spc="-75" dirty="0">
                <a:solidFill>
                  <a:srgbClr val="010716"/>
                </a:solidFill>
                <a:latin typeface="Equip Regular" pitchFamily="34" charset="0"/>
                <a:ea typeface="Equip Regular" pitchFamily="34" charset="-122"/>
                <a:cs typeface="Equip Regular" pitchFamily="34" charset="-120"/>
              </a:rPr>
              <a:t/>
            </a:r>
            <a:endParaRPr lang="en-US" sz="1350" dirty="0"/>
          </a:p>
        </p:txBody>
      </p:sp>
      <p:sp>
        <p:nvSpPr>
          <p:cNvPr id="2" name="Digital Design Strategy">
            <a:extLst>
              <a:ext uri="{FF2B5EF4-FFF2-40B4-BE49-F238E27FC236}">
                <a16:creationId xmlns:a16="http://schemas.microsoft.com/office/drawing/2014/main" id="{D9AA9267-3B46-6F9F-752B-971ACFBBCA02}"/>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Capability Pitch</a:t>
            </a:r>
            <a:endParaRPr lang="en-US" sz="1200" dirty="0">
              <a:solidFill>
                <a:schemeClr val="bg1">
                  <a:lumMod val="75000"/>
                </a:schemeClr>
              </a:solidFill>
            </a:endParaRPr>
          </a:p>
        </p:txBody>
      </p:sp>
      <p:sp>
        <p:nvSpPr>
          <p:cNvPr id="3" name="Project Name">
            <a:extLst>
              <a:ext uri="{FF2B5EF4-FFF2-40B4-BE49-F238E27FC236}">
                <a16:creationId xmlns:a16="http://schemas.microsoft.com/office/drawing/2014/main" id="{52B2EFAC-F835-39A5-C8DC-026AB94D1E03}"/>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Mercedes-Benz</a:t>
            </a:r>
            <a:endParaRPr lang="en-US" sz="1200" dirty="0">
              <a:solidFill>
                <a:schemeClr val="bg1">
                  <a:lumMod val="75000"/>
                </a:schemeClr>
              </a:solidFill>
            </a:endParaRPr>
          </a:p>
        </p:txBody>
      </p:sp>
      <p:sp>
        <p:nvSpPr>
          <p:cNvPr id="4" name="Month Year">
            <a:extLst>
              <a:ext uri="{FF2B5EF4-FFF2-40B4-BE49-F238E27FC236}">
                <a16:creationId xmlns:a16="http://schemas.microsoft.com/office/drawing/2014/main" id="{E39C510A-8C48-F8C8-3CC9-E1ECF1EFD819}"/>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June 2026</a:t>
            </a:r>
            <a:endParaRPr lang="en-US" sz="1200" dirty="0">
              <a:solidFill>
                <a:schemeClr val="bg1">
                  <a:lumMod val="75000"/>
                </a:schemeClr>
              </a:solidFill>
            </a:endParaRPr>
          </a:p>
        </p:txBody>
      </p:sp>
      <p:sp>
        <p:nvSpPr>
          <p:cNvPr id="5" name="2026">
            <a:extLst>
              <a:ext uri="{FF2B5EF4-FFF2-40B4-BE49-F238E27FC236}">
                <a16:creationId xmlns:a16="http://schemas.microsoft.com/office/drawing/2014/main" id="{6F643C78-184B-7B1F-1817-79864243134D}"/>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 2026</a:t>
            </a:r>
            <a:endParaRPr lang="en-US" sz="1200" dirty="0">
              <a:solidFill>
                <a:schemeClr val="bg1">
                  <a:lumMod val="75000"/>
                </a:schemeClr>
              </a:solidFill>
            </a:endParaRPr>
          </a:p>
        </p:txBody>
      </p:sp>
      <p:pic>
        <p:nvPicPr>
          <p:cNvPr id="6" name="Graphic 5">
            <a:extLst>
              <a:ext uri="{FF2B5EF4-FFF2-40B4-BE49-F238E27FC236}">
                <a16:creationId xmlns:a16="http://schemas.microsoft.com/office/drawing/2014/main" id="{C170B7C1-0D09-5B71-720C-F43E8F908D4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2730" y="101077"/>
            <a:ext cx="2198820" cy="1649115"/>
          </a:xfrm>
          <a:prstGeom prst="rect">
            <a:avLst/>
          </a:prstGeom>
        </p:spPr>
      </p:pic>
      <p:cxnSp>
        <p:nvCxnSpPr>
          <p:cNvPr id="19" name="Straight Connector 18">
            <a:extLst>
              <a:ext uri="{FF2B5EF4-FFF2-40B4-BE49-F238E27FC236}">
                <a16:creationId xmlns:a16="http://schemas.microsoft.com/office/drawing/2014/main" id="{436BE0D4-8155-64DE-F4C5-2DC223268C32}"/>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E6D2AAA-D548-49D1-E40B-9C2FE7906D10}"/>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74744A8-C26C-FC9F-781C-0084769BEC3E}"/>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7" name="This is a very cool quote"/>
          <p:cNvSpPr/>
          <p:nvPr/>
        </p:nvSpPr>
        <p:spPr>
          <a:xfrm>
            <a:off x="5657850" y="3295650"/>
            <a:ext cx="6972300" cy="3048000"/>
          </a:xfrm>
          <a:prstGeom prst="rect">
            <a:avLst/>
          </a:prstGeom>
          <a:noFill/>
          <a:ln/>
        </p:spPr>
        <p:txBody>
          <a:bodyPr wrap="square" lIns="0" tIns="0" rIns="0" bIns="0" rtlCol="0" anchor="t"/>
          <a:lstStyle/>
          <a:p>
            <a:pPr marL="0" indent="0" algn="ctr">
              <a:lnSpc>
                <a:spcPts val="7200"/>
              </a:lnSpc>
              <a:buNone/>
            </a:pPr>
            <a:r>
              <a:rPr lang="en-US" sz="7200" kern="0" spc="-112" dirty="0">
                <a:solidFill>
                  <a:srgbClr val="F99068"/>
                </a:solidFill>
                <a:latin typeface="Equip Extended Medium" pitchFamily="34" charset="0"/>
                <a:ea typeface="Equip Extended Medium" pitchFamily="34" charset="-122"/>
                <a:cs typeface="Equip Extended Medium" pitchFamily="34" charset="-120"/>
              </a:rPr>
              <a:t>“A governed design system cuts UI delivery time by 40% or more.”</a:t>
            </a:r>
            <a:br/>
            <a:r>
              <a:rPr lang="en-US" sz="9600" b="1" kern="0" spc="-112" dirty="0">
                <a:solidFill>
                  <a:srgbClr val="F99068"/>
                </a:solidFill>
                <a:latin typeface="Equip Extended Bold" pitchFamily="34" charset="0"/>
                <a:ea typeface="Equip Extended Bold" pitchFamily="34" charset="-122"/>
                <a:cs typeface="Equip Extended Bold" pitchFamily="34" charset="-120"/>
              </a:rPr>
              <a:t/>
            </a:r>
            <a:r>
              <a:rPr lang="en-US" sz="7200" kern="0" spc="-112" dirty="0">
                <a:solidFill>
                  <a:srgbClr val="F99068"/>
                </a:solidFill>
                <a:latin typeface="Equip Extended Medium" pitchFamily="34" charset="0"/>
                <a:ea typeface="Equip Extended Medium" pitchFamily="34" charset="-122"/>
                <a:cs typeface="Equip Extended Medium" pitchFamily="34" charset="-120"/>
              </a:rPr>
              <a:t/>
            </a:r>
            <a:endParaRPr lang="en-US" sz="7200" dirty="0"/>
          </a:p>
        </p:txBody>
      </p:sp>
      <p:sp>
        <p:nvSpPr>
          <p:cNvPr id="8" name="Name goes here"/>
          <p:cNvSpPr/>
          <p:nvPr/>
        </p:nvSpPr>
        <p:spPr>
          <a:xfrm>
            <a:off x="8496300" y="6800850"/>
            <a:ext cx="1295400" cy="190500"/>
          </a:xfrm>
          <a:prstGeom prst="rect">
            <a:avLst/>
          </a:prstGeom>
          <a:noFill/>
          <a:ln/>
        </p:spPr>
        <p:txBody>
          <a:bodyPr wrap="square" lIns="0" tIns="0" rIns="0" bIns="0" rtlCol="0" anchor="t"/>
          <a:lstStyle/>
          <a:p>
            <a:pPr marL="0" indent="0" algn="ctr">
              <a:lnSpc>
                <a:spcPts val="1500"/>
              </a:lnSpc>
              <a:spcAft>
                <a:spcPts val="1500"/>
              </a:spcAft>
              <a:buNone/>
            </a:pPr>
            <a:r>
              <a:rPr lang="en-US" sz="1200" dirty="0">
                <a:solidFill>
                  <a:srgbClr val="F99068"/>
                </a:solidFill>
                <a:latin typeface="Equip Extended Regular" pitchFamily="34" charset="0"/>
                <a:ea typeface="Equip Extended Regular" pitchFamily="34" charset="-122"/>
                <a:cs typeface="Equip Extended Regular" pitchFamily="34" charset="-120"/>
              </a:rPr>
              <a:t>— Nagarro Design Studio</a:t>
            </a:r>
            <a:endParaRPr lang="en-US" sz="1200" dirty="0"/>
          </a:p>
        </p:txBody>
      </p:sp>
      <p:pic>
        <p:nvPicPr>
          <p:cNvPr id="17" name="Graphic 16">
            <a:extLst>
              <a:ext uri="{FF2B5EF4-FFF2-40B4-BE49-F238E27FC236}">
                <a16:creationId xmlns:a16="http://schemas.microsoft.com/office/drawing/2014/main" id="{174433EB-B210-E635-8BA6-98F578B6E90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2730" y="239964"/>
            <a:ext cx="2198820" cy="1649115"/>
          </a:xfrm>
          <a:prstGeom prst="rect">
            <a:avLst/>
          </a:prstGeom>
        </p:spPr>
      </p:pic>
      <p:cxnSp>
        <p:nvCxnSpPr>
          <p:cNvPr id="18" name="Straight Connector 17">
            <a:extLst>
              <a:ext uri="{FF2B5EF4-FFF2-40B4-BE49-F238E27FC236}">
                <a16:creationId xmlns:a16="http://schemas.microsoft.com/office/drawing/2014/main" id="{6B68161F-8A1D-6F3B-BC71-10FF56A19137}"/>
              </a:ext>
            </a:extLst>
          </p:cNvPr>
          <p:cNvCxnSpPr>
            <a:cxnSpLocks/>
          </p:cNvCxnSpPr>
          <p:nvPr/>
        </p:nvCxnSpPr>
        <p:spPr>
          <a:xfrm>
            <a:off x="800098" y="9222477"/>
            <a:ext cx="5400000" cy="0"/>
          </a:xfrm>
          <a:prstGeom prst="line">
            <a:avLst/>
          </a:prstGeom>
          <a:ln>
            <a:solidFill>
              <a:schemeClr val="bg1">
                <a:lumMod val="50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450C99D-C70A-F3F0-007C-93CB2957D1B7}"/>
              </a:ext>
            </a:extLst>
          </p:cNvPr>
          <p:cNvCxnSpPr>
            <a:cxnSpLocks/>
          </p:cNvCxnSpPr>
          <p:nvPr/>
        </p:nvCxnSpPr>
        <p:spPr>
          <a:xfrm>
            <a:off x="12077698" y="9222477"/>
            <a:ext cx="5400000" cy="0"/>
          </a:xfrm>
          <a:prstGeom prst="line">
            <a:avLst/>
          </a:prstGeom>
          <a:ln>
            <a:solidFill>
              <a:schemeClr val="bg1">
                <a:lumMod val="50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F490E1D-1331-60D4-56A4-A1118AAED177}"/>
              </a:ext>
            </a:extLst>
          </p:cNvPr>
          <p:cNvCxnSpPr>
            <a:cxnSpLocks/>
          </p:cNvCxnSpPr>
          <p:nvPr/>
        </p:nvCxnSpPr>
        <p:spPr>
          <a:xfrm>
            <a:off x="6438898" y="9222477"/>
            <a:ext cx="5400000" cy="0"/>
          </a:xfrm>
          <a:prstGeom prst="line">
            <a:avLst/>
          </a:prstGeom>
          <a:ln>
            <a:solidFill>
              <a:schemeClr val="bg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21" name="Digital Design Strategy">
            <a:extLst>
              <a:ext uri="{FF2B5EF4-FFF2-40B4-BE49-F238E27FC236}">
                <a16:creationId xmlns:a16="http://schemas.microsoft.com/office/drawing/2014/main" id="{66C3438B-435F-AFFA-82A9-D629C54171A6}"/>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50000"/>
                  </a:schemeClr>
                </a:solidFill>
                <a:latin typeface="Equip Extended Regular" pitchFamily="34" charset="0"/>
                <a:ea typeface="Equip Extended Regular" pitchFamily="34" charset="-122"/>
                <a:cs typeface="Equip Extended Regular" pitchFamily="34" charset="-120"/>
              </a:rPr>
              <a:t>Capability Pitch</a:t>
            </a:r>
            <a:endParaRPr lang="en-US" sz="1200" dirty="0">
              <a:solidFill>
                <a:schemeClr val="bg1">
                  <a:lumMod val="50000"/>
                </a:schemeClr>
              </a:solidFill>
            </a:endParaRPr>
          </a:p>
        </p:txBody>
      </p:sp>
      <p:sp>
        <p:nvSpPr>
          <p:cNvPr id="22" name="Project Name">
            <a:extLst>
              <a:ext uri="{FF2B5EF4-FFF2-40B4-BE49-F238E27FC236}">
                <a16:creationId xmlns:a16="http://schemas.microsoft.com/office/drawing/2014/main" id="{10395683-D850-E43C-5728-D519143BECA2}"/>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50000"/>
                  </a:schemeClr>
                </a:solidFill>
                <a:latin typeface="Equip Extended Regular" pitchFamily="34" charset="0"/>
                <a:ea typeface="Equip Extended Regular" pitchFamily="34" charset="-122"/>
                <a:cs typeface="Equip Extended Regular" pitchFamily="34" charset="-120"/>
              </a:rPr>
              <a:t>Mercedes-Benz</a:t>
            </a:r>
            <a:endParaRPr lang="en-US" sz="1200" dirty="0">
              <a:solidFill>
                <a:schemeClr val="bg1">
                  <a:lumMod val="50000"/>
                </a:schemeClr>
              </a:solidFill>
            </a:endParaRPr>
          </a:p>
        </p:txBody>
      </p:sp>
      <p:sp>
        <p:nvSpPr>
          <p:cNvPr id="23" name="Month Year">
            <a:extLst>
              <a:ext uri="{FF2B5EF4-FFF2-40B4-BE49-F238E27FC236}">
                <a16:creationId xmlns:a16="http://schemas.microsoft.com/office/drawing/2014/main" id="{6155E2A7-140C-503B-19E3-FB93239DDEF9}"/>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50000"/>
                  </a:schemeClr>
                </a:solidFill>
                <a:latin typeface="Equip Extended Regular" pitchFamily="34" charset="0"/>
                <a:ea typeface="Equip Extended Regular" pitchFamily="34" charset="-122"/>
                <a:cs typeface="Equip Extended Regular" pitchFamily="34" charset="-120"/>
              </a:rPr>
              <a:t>June 2026</a:t>
            </a:r>
            <a:endParaRPr lang="en-US" sz="1200" dirty="0">
              <a:solidFill>
                <a:schemeClr val="bg1">
                  <a:lumMod val="50000"/>
                </a:schemeClr>
              </a:solidFill>
            </a:endParaRPr>
          </a:p>
        </p:txBody>
      </p:sp>
      <p:sp>
        <p:nvSpPr>
          <p:cNvPr id="24" name="2026">
            <a:extLst>
              <a:ext uri="{FF2B5EF4-FFF2-40B4-BE49-F238E27FC236}">
                <a16:creationId xmlns:a16="http://schemas.microsoft.com/office/drawing/2014/main" id="{EFDA90F1-6A1F-BC37-7064-D3BEEFE88DB6}"/>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50000"/>
                  </a:schemeClr>
                </a:solidFill>
                <a:latin typeface="Equip Extended Regular" pitchFamily="34" charset="0"/>
                <a:ea typeface="Equip Extended Regular" pitchFamily="34" charset="-122"/>
                <a:cs typeface="Equip Extended Regular" pitchFamily="34" charset="-120"/>
              </a:rPr>
              <a:t>© 2026</a:t>
            </a:r>
            <a:endParaRPr lang="en-US" sz="1200" dirty="0">
              <a:solidFill>
                <a:schemeClr val="bg1">
                  <a:lumMod val="50000"/>
                </a:schemeClr>
              </a:solidFill>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7" name="why-title"/>
          <p:cNvSpPr/>
          <p:nvPr/>
        </p:nvSpPr>
        <p:spPr>
          <a:xfrm>
            <a:off x="800100" y="2743200"/>
            <a:ext cx="5429250" cy="3048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10716"/>
                </a:solidFill>
                <a:latin typeface="Equip Extended Regular" pitchFamily="34" charset="0"/>
                <a:ea typeface="Equip Extended Regular" pitchFamily="34" charset="-122"/>
                <a:cs typeface="Equip Extended Regular" pitchFamily="34" charset="-120"/>
              </a:rPr>
              <a:t>Why choose Nagarro as your design system partner</a:t>
            </a:r>
            <a:endParaRPr lang="en-US" sz="4800" dirty="0"/>
          </a:p>
        </p:txBody>
      </p:sp>
      <p:sp>
        <p:nvSpPr>
          <p:cNvPr id="8" name="why-body-1"/>
          <p:cNvSpPr/>
          <p:nvPr/>
        </p:nvSpPr>
        <p:spPr>
          <a:xfrm>
            <a:off x="6457950" y="2743200"/>
            <a:ext cx="5429250" cy="4800600"/>
          </a:xfrm>
          <a:prstGeom prst="rect">
            <a:avLst/>
          </a:prstGeom>
          <a:noFill/>
          <a:ln/>
        </p:spPr>
        <p:txBody>
          <a:bodyPr wrap="square" lIns="0" tIns="0" rIns="0" bIns="0" rtlCol="0" anchor="t"/>
          <a:lstStyle/>
          <a:p>
            <a:pPr marL="0" indent="0" algn="l">
              <a:lnSpc>
                <a:spcPts val="1725"/>
              </a:lnSpc>
              <a:buNone/>
            </a:pPr>
            <a:r>
              <a:rPr lang="en-US" sz="1350" kern="0" spc="-75" dirty="0">
                <a:solidFill>
                  <a:srgbClr val="010716"/>
                </a:solidFill>
                <a:latin typeface="Equip ExtraBold" pitchFamily="34" charset="0"/>
                <a:ea typeface="Equip ExtraBold" pitchFamily="34" charset="-122"/>
                <a:cs typeface="Equip ExtraBold" pitchFamily="34" charset="-120"/>
              </a:rPr>
              <a:t>Engineering depth + design fluency
We design systems that ship. Our components are production-ready, not prototypes, because our design and engineering teams work as one.</a:t>
            </a:r>
            <a:r>
              <a:rPr lang="en-US" sz="1350" kern="0" spc="-75" dirty="0">
                <a:solidFill>
                  <a:srgbClr val="010716"/>
                </a:solidFill>
                <a:latin typeface="Equip Regular" pitchFamily="34" charset="0"/>
                <a:ea typeface="Equip Regular" pitchFamily="34" charset="-122"/>
                <a:cs typeface="Equip Regular" pitchFamily="34" charset="-120"/>
              </a:rPr>
              <a:t/>
            </a:r>
            <a:r>
              <a:rPr lang="en-US" sz="1350" kern="0" spc="-75" dirty="0">
                <a:solidFill>
                  <a:srgbClr val="010716"/>
                </a:solidFill>
                <a:latin typeface="Equip ExtraBold" pitchFamily="34" charset="0"/>
                <a:ea typeface="Equip ExtraBold" pitchFamily="34" charset="-122"/>
                <a:cs typeface="Equip ExtraBold" pitchFamily="34" charset="-120"/>
              </a:rPr>
              <a:t/>
            </a:r>
            <a:r>
              <a:rPr lang="en-US" sz="1350" kern="0" spc="-75" dirty="0">
                <a:solidFill>
                  <a:srgbClr val="010716"/>
                </a:solidFill>
                <a:latin typeface="Equip Regular" pitchFamily="34" charset="0"/>
                <a:ea typeface="Equip Regular" pitchFamily="34" charset="-122"/>
                <a:cs typeface="Equip Regular" pitchFamily="34" charset="-120"/>
              </a:rPr>
              <a:t/>
            </a:r>
            <a:r>
              <a:rPr lang="en-US" sz="1350" kern="0" spc="-75" dirty="0">
                <a:solidFill>
                  <a:srgbClr val="010716"/>
                </a:solidFill>
                <a:latin typeface="Equip ExtraBold" pitchFamily="34" charset="0"/>
                <a:ea typeface="Equip ExtraBold" pitchFamily="34" charset="-122"/>
                <a:cs typeface="Equip ExtraBold" pitchFamily="34" charset="-120"/>
              </a:rPr>
              <a:t/>
            </a:r>
            <a:r>
              <a:rPr lang="en-US" sz="1350" kern="0" spc="-75" dirty="0">
                <a:solidFill>
                  <a:srgbClr val="010716"/>
                </a:solidFill>
                <a:latin typeface="Equip Regular" pitchFamily="34" charset="0"/>
                <a:ea typeface="Equip Regular" pitchFamily="34" charset="-122"/>
                <a:cs typeface="Equip Regular" pitchFamily="34" charset="-120"/>
              </a:rPr>
              <a:t/>
            </a:r>
            <a:endParaRPr lang="en-US" sz="1350" dirty="0"/>
          </a:p>
        </p:txBody>
      </p:sp>
      <p:sp>
        <p:nvSpPr>
          <p:cNvPr id="9" name="why-body-2"/>
          <p:cNvSpPr/>
          <p:nvPr/>
        </p:nvSpPr>
        <p:spPr>
          <a:xfrm>
            <a:off x="12115800" y="2743200"/>
            <a:ext cx="5429250" cy="4343400"/>
          </a:xfrm>
          <a:prstGeom prst="rect">
            <a:avLst/>
          </a:prstGeom>
          <a:noFill/>
          <a:ln/>
        </p:spPr>
        <p:txBody>
          <a:bodyPr wrap="square" lIns="0" tIns="0" rIns="0" bIns="0" rtlCol="0" anchor="t"/>
          <a:lstStyle/>
          <a:p>
            <a:pPr marL="0" indent="0" algn="l">
              <a:lnSpc>
                <a:spcPts val="1725"/>
              </a:lnSpc>
              <a:buNone/>
            </a:pPr>
            <a:r>
              <a:rPr lang="en-US" sz="1350" kern="0" spc="-75" dirty="0">
                <a:solidFill>
                  <a:srgbClr val="010716"/>
                </a:solidFill>
                <a:latin typeface="Equip ExtraBold" pitchFamily="34" charset="0"/>
                <a:ea typeface="Equip ExtraBold" pitchFamily="34" charset="-122"/>
                <a:cs typeface="Equip ExtraBold" pitchFamily="34" charset="-120"/>
              </a:rPr>
              <a:t>Global scale, close partnership
Senior practitioners stay close to the work throughout. No handoffs to junior teams after the contract is signed.</a:t>
            </a:r>
            <a:r>
              <a:rPr lang="en-US" sz="1350" kern="0" spc="-75" dirty="0">
                <a:solidFill>
                  <a:srgbClr val="010716"/>
                </a:solidFill>
                <a:latin typeface="Equip Regular" pitchFamily="34" charset="0"/>
                <a:ea typeface="Equip Regular" pitchFamily="34" charset="-122"/>
                <a:cs typeface="Equip Regular" pitchFamily="34" charset="-120"/>
              </a:rPr>
              <a:t/>
            </a:r>
            <a:r>
              <a:rPr lang="en-US" sz="1350" kern="0" spc="-75" dirty="0">
                <a:solidFill>
                  <a:srgbClr val="010716"/>
                </a:solidFill>
                <a:latin typeface="Equip ExtraBold" pitchFamily="34" charset="0"/>
                <a:ea typeface="Equip ExtraBold" pitchFamily="34" charset="-122"/>
                <a:cs typeface="Equip ExtraBold" pitchFamily="34" charset="-120"/>
              </a:rPr>
              <a:t/>
            </a:r>
            <a:r>
              <a:rPr lang="en-US" sz="1350" kern="0" spc="-75" dirty="0">
                <a:solidFill>
                  <a:srgbClr val="010716"/>
                </a:solidFill>
                <a:latin typeface="Equip Regular" pitchFamily="34" charset="0"/>
                <a:ea typeface="Equip Regular" pitchFamily="34" charset="-122"/>
                <a:cs typeface="Equip Regular" pitchFamily="34" charset="-120"/>
              </a:rPr>
              <a:t/>
            </a:r>
            <a:r>
              <a:rPr lang="en-US" sz="1350" kern="0" spc="-75" dirty="0">
                <a:solidFill>
                  <a:srgbClr val="010716"/>
                </a:solidFill>
                <a:latin typeface="Equip ExtraBold" pitchFamily="34" charset="0"/>
                <a:ea typeface="Equip ExtraBold" pitchFamily="34" charset="-122"/>
                <a:cs typeface="Equip ExtraBold" pitchFamily="34" charset="-120"/>
              </a:rPr>
              <a:t/>
            </a:r>
            <a:r>
              <a:rPr lang="en-US" sz="1350" kern="0" spc="-75" dirty="0">
                <a:solidFill>
                  <a:srgbClr val="010716"/>
                </a:solidFill>
                <a:latin typeface="Equip Regular" pitchFamily="34" charset="0"/>
                <a:ea typeface="Equip Regular" pitchFamily="34" charset="-122"/>
                <a:cs typeface="Equip Regular" pitchFamily="34" charset="-120"/>
              </a:rPr>
              <a:t/>
            </a:r>
            <a:endParaRPr lang="en-US" sz="1350" dirty="0"/>
          </a:p>
        </p:txBody>
      </p:sp>
      <p:sp>
        <p:nvSpPr>
          <p:cNvPr id="2" name="Digital Design Strategy">
            <a:extLst>
              <a:ext uri="{FF2B5EF4-FFF2-40B4-BE49-F238E27FC236}">
                <a16:creationId xmlns:a16="http://schemas.microsoft.com/office/drawing/2014/main" id="{E6F2CEE3-3661-0B8C-BB93-12780659043A}"/>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Capability Pitch</a:t>
            </a:r>
            <a:endParaRPr lang="en-US" sz="1200" dirty="0">
              <a:solidFill>
                <a:schemeClr val="bg1">
                  <a:lumMod val="75000"/>
                </a:schemeClr>
              </a:solidFill>
            </a:endParaRPr>
          </a:p>
        </p:txBody>
      </p:sp>
      <p:sp>
        <p:nvSpPr>
          <p:cNvPr id="3" name="Project Name">
            <a:extLst>
              <a:ext uri="{FF2B5EF4-FFF2-40B4-BE49-F238E27FC236}">
                <a16:creationId xmlns:a16="http://schemas.microsoft.com/office/drawing/2014/main" id="{FABE7CBC-639D-28BA-E375-47D5A84FCE5D}"/>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Mercedes-Benz</a:t>
            </a:r>
            <a:endParaRPr lang="en-US" sz="1200" dirty="0">
              <a:solidFill>
                <a:schemeClr val="bg1">
                  <a:lumMod val="75000"/>
                </a:schemeClr>
              </a:solidFill>
            </a:endParaRPr>
          </a:p>
        </p:txBody>
      </p:sp>
      <p:sp>
        <p:nvSpPr>
          <p:cNvPr id="4" name="Month Year">
            <a:extLst>
              <a:ext uri="{FF2B5EF4-FFF2-40B4-BE49-F238E27FC236}">
                <a16:creationId xmlns:a16="http://schemas.microsoft.com/office/drawing/2014/main" id="{19C40D9F-CB3A-F9CE-4B02-25A2CB21951A}"/>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June 2026</a:t>
            </a:r>
            <a:endParaRPr lang="en-US" sz="1200" dirty="0">
              <a:solidFill>
                <a:schemeClr val="bg1">
                  <a:lumMod val="75000"/>
                </a:schemeClr>
              </a:solidFill>
            </a:endParaRPr>
          </a:p>
        </p:txBody>
      </p:sp>
      <p:sp>
        <p:nvSpPr>
          <p:cNvPr id="5" name="2026">
            <a:extLst>
              <a:ext uri="{FF2B5EF4-FFF2-40B4-BE49-F238E27FC236}">
                <a16:creationId xmlns:a16="http://schemas.microsoft.com/office/drawing/2014/main" id="{D52EE150-560A-41C4-3A88-834ADC4DBD70}"/>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 2026</a:t>
            </a:r>
            <a:endParaRPr lang="en-US" sz="1200" dirty="0">
              <a:solidFill>
                <a:schemeClr val="bg1">
                  <a:lumMod val="75000"/>
                </a:schemeClr>
              </a:solidFill>
            </a:endParaRPr>
          </a:p>
        </p:txBody>
      </p:sp>
      <p:pic>
        <p:nvPicPr>
          <p:cNvPr id="6" name="Graphic 5">
            <a:extLst>
              <a:ext uri="{FF2B5EF4-FFF2-40B4-BE49-F238E27FC236}">
                <a16:creationId xmlns:a16="http://schemas.microsoft.com/office/drawing/2014/main" id="{03C1A02C-4C17-9E96-D56E-FB002E62285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2730" y="101077"/>
            <a:ext cx="2198820" cy="1649115"/>
          </a:xfrm>
          <a:prstGeom prst="rect">
            <a:avLst/>
          </a:prstGeom>
        </p:spPr>
      </p:pic>
      <p:cxnSp>
        <p:nvCxnSpPr>
          <p:cNvPr id="18" name="Straight Connector 17">
            <a:extLst>
              <a:ext uri="{FF2B5EF4-FFF2-40B4-BE49-F238E27FC236}">
                <a16:creationId xmlns:a16="http://schemas.microsoft.com/office/drawing/2014/main" id="{F3519CE7-7E23-CC1D-EA0A-D05D69F75C00}"/>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A4EB133-1B3A-338A-9519-0DD14B3908D0}"/>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60B058F-6B5E-7118-D4ED-294E23F6670D}"/>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3" name="nagarro-logo-mint-shadows" descr="preencoded.png"/>
          <p:cNvPicPr>
            <a:picLocks noChangeAspect="1"/>
          </p:cNvPicPr>
          <p:nvPr/>
        </p:nvPicPr>
        <p:blipFill>
          <a:blip r:embed="rId3"/>
          <a:srcRect/>
          <a:stretch/>
        </p:blipFill>
        <p:spPr>
          <a:xfrm>
            <a:off x="9258300" y="3028950"/>
            <a:ext cx="5676900" cy="4238625"/>
          </a:xfrm>
          <a:prstGeom prst="rect">
            <a:avLst/>
          </a:prstGeom>
        </p:spPr>
      </p:pic>
      <p:sp>
        <p:nvSpPr>
          <p:cNvPr id="8" name="outro-headline"/>
          <p:cNvSpPr/>
          <p:nvPr/>
        </p:nvSpPr>
        <p:spPr>
          <a:xfrm>
            <a:off x="2190750" y="4381500"/>
            <a:ext cx="5429250" cy="1524000"/>
          </a:xfrm>
          <a:prstGeom prst="rect">
            <a:avLst/>
          </a:prstGeom>
          <a:noFill/>
          <a:ln/>
        </p:spPr>
        <p:txBody>
          <a:bodyPr wrap="square" lIns="0" tIns="0" rIns="0" bIns="0" rtlCol="0" anchor="t"/>
          <a:lstStyle/>
          <a:p>
            <a:pPr marL="0" indent="0" algn="l">
              <a:lnSpc>
                <a:spcPts val="6000"/>
              </a:lnSpc>
              <a:buNone/>
            </a:pPr>
            <a:r>
              <a:rPr lang="en-US" sz="4800" kern="0" spc="-112" dirty="0">
                <a:solidFill>
                  <a:srgbClr val="FFFFFF"/>
                </a:solidFill>
                <a:latin typeface="Equip Extended Regular" pitchFamily="34" charset="0"/>
                <a:ea typeface="Equip Extended Regular" pitchFamily="34" charset="-122"/>
                <a:cs typeface="Equip Extended Regular" pitchFamily="34" charset="-120"/>
              </a:rPr>
              <a:t>Imagine what we can do together!</a:t>
            </a:r>
            <a:endParaRPr lang="en-US" sz="4800" dirty="0"/>
          </a:p>
        </p:txBody>
      </p:sp>
      <p:sp>
        <p:nvSpPr>
          <p:cNvPr id="2" name="Digital Design Strategy">
            <a:extLst>
              <a:ext uri="{FF2B5EF4-FFF2-40B4-BE49-F238E27FC236}">
                <a16:creationId xmlns:a16="http://schemas.microsoft.com/office/drawing/2014/main" id="{19856448-6CDA-6999-6F43-E1D8966D455B}"/>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C4C9D2"/>
                </a:solidFill>
                <a:latin typeface="Equip Extended Regular" pitchFamily="34" charset="0"/>
                <a:ea typeface="Equip Extended Regular" pitchFamily="34" charset="-122"/>
                <a:cs typeface="Equip Extended Regular" pitchFamily="34" charset="-120"/>
              </a:rPr>
              <a:t>Capability Pitch</a:t>
            </a:r>
            <a:endParaRPr lang="en-US" sz="1200" dirty="0"/>
          </a:p>
        </p:txBody>
      </p:sp>
      <p:sp>
        <p:nvSpPr>
          <p:cNvPr id="10" name="Project Name">
            <a:extLst>
              <a:ext uri="{FF2B5EF4-FFF2-40B4-BE49-F238E27FC236}">
                <a16:creationId xmlns:a16="http://schemas.microsoft.com/office/drawing/2014/main" id="{0C4E3ED3-76BE-B573-1ADB-FF3F8F0F9C7F}"/>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C4C9D2"/>
                </a:solidFill>
                <a:latin typeface="Equip Extended Regular" pitchFamily="34" charset="0"/>
                <a:ea typeface="Equip Extended Regular" pitchFamily="34" charset="-122"/>
                <a:cs typeface="Equip Extended Regular" pitchFamily="34" charset="-120"/>
              </a:rPr>
              <a:t>Mercedes-Benz</a:t>
            </a:r>
            <a:endParaRPr lang="en-US" sz="1200" dirty="0"/>
          </a:p>
        </p:txBody>
      </p:sp>
      <p:sp>
        <p:nvSpPr>
          <p:cNvPr id="11" name="Month Year">
            <a:extLst>
              <a:ext uri="{FF2B5EF4-FFF2-40B4-BE49-F238E27FC236}">
                <a16:creationId xmlns:a16="http://schemas.microsoft.com/office/drawing/2014/main" id="{43F84514-7FF2-81CD-0931-C5F995825256}"/>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C4C9D2"/>
                </a:solidFill>
                <a:latin typeface="Equip Extended Regular" pitchFamily="34" charset="0"/>
                <a:ea typeface="Equip Extended Regular" pitchFamily="34" charset="-122"/>
                <a:cs typeface="Equip Extended Regular" pitchFamily="34" charset="-120"/>
              </a:rPr>
              <a:t>June 2026</a:t>
            </a:r>
            <a:endParaRPr lang="en-US" sz="1200" dirty="0"/>
          </a:p>
        </p:txBody>
      </p:sp>
      <p:sp>
        <p:nvSpPr>
          <p:cNvPr id="12" name="2026">
            <a:extLst>
              <a:ext uri="{FF2B5EF4-FFF2-40B4-BE49-F238E27FC236}">
                <a16:creationId xmlns:a16="http://schemas.microsoft.com/office/drawing/2014/main" id="{A6551B85-1FC0-F859-8A28-A8B23A232D3D}"/>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C4C9D2"/>
                </a:solidFill>
                <a:latin typeface="Equip Extended Regular" pitchFamily="34" charset="0"/>
                <a:ea typeface="Equip Extended Regular" pitchFamily="34" charset="-122"/>
                <a:cs typeface="Equip Extended Regular" pitchFamily="34" charset="-120"/>
              </a:rPr>
              <a:t>© 2026</a:t>
            </a:r>
            <a:endParaRPr lang="en-US" sz="1200" dirty="0"/>
          </a:p>
        </p:txBody>
      </p:sp>
      <p:cxnSp>
        <p:nvCxnSpPr>
          <p:cNvPr id="13" name="Straight Connector 12">
            <a:extLst>
              <a:ext uri="{FF2B5EF4-FFF2-40B4-BE49-F238E27FC236}">
                <a16:creationId xmlns:a16="http://schemas.microsoft.com/office/drawing/2014/main" id="{8C2ACE24-293A-784B-470A-89DC23918D4A}"/>
              </a:ext>
            </a:extLst>
          </p:cNvPr>
          <p:cNvCxnSpPr>
            <a:cxnSpLocks/>
          </p:cNvCxnSpPr>
          <p:nvPr/>
        </p:nvCxnSpPr>
        <p:spPr>
          <a:xfrm>
            <a:off x="800099" y="9222477"/>
            <a:ext cx="5400000" cy="0"/>
          </a:xfrm>
          <a:prstGeom prst="line">
            <a:avLst/>
          </a:prstGeom>
          <a:ln>
            <a:solidFill>
              <a:srgbClr val="FFFFFF">
                <a:alpha val="60000"/>
              </a:srgb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C51CC92-00E9-E7A9-E574-9EBA070F4F59}"/>
              </a:ext>
            </a:extLst>
          </p:cNvPr>
          <p:cNvCxnSpPr>
            <a:cxnSpLocks/>
          </p:cNvCxnSpPr>
          <p:nvPr/>
        </p:nvCxnSpPr>
        <p:spPr>
          <a:xfrm>
            <a:off x="12077700" y="9222477"/>
            <a:ext cx="5400000" cy="0"/>
          </a:xfrm>
          <a:prstGeom prst="line">
            <a:avLst/>
          </a:prstGeom>
          <a:ln>
            <a:solidFill>
              <a:srgbClr val="FFFFFF">
                <a:alpha val="60000"/>
              </a:srgb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C64EAD4-7D18-C5DD-3AC2-129EEB813E3F}"/>
              </a:ext>
            </a:extLst>
          </p:cNvPr>
          <p:cNvCxnSpPr>
            <a:cxnSpLocks/>
          </p:cNvCxnSpPr>
          <p:nvPr/>
        </p:nvCxnSpPr>
        <p:spPr>
          <a:xfrm>
            <a:off x="6438900" y="9222477"/>
            <a:ext cx="5400000" cy="0"/>
          </a:xfrm>
          <a:prstGeom prst="line">
            <a:avLst/>
          </a:prstGeom>
          <a:ln>
            <a:solidFill>
              <a:srgbClr val="FFFFFF">
                <a:alpha val="60000"/>
              </a:srgbClr>
            </a:solidFill>
          </a:ln>
        </p:spPr>
        <p:style>
          <a:lnRef idx="1">
            <a:schemeClr val="accent1"/>
          </a:lnRef>
          <a:fillRef idx="0">
            <a:schemeClr val="accent1"/>
          </a:fillRef>
          <a:effectRef idx="0">
            <a:schemeClr val="accent1"/>
          </a:effectRef>
          <a:fontRef idx="minor">
            <a:schemeClr val="tx1"/>
          </a:fontRef>
        </p:style>
      </p:cxnSp>
      <p:pic>
        <p:nvPicPr>
          <p:cNvPr id="16" name="Graphic 15">
            <a:extLst>
              <a:ext uri="{FF2B5EF4-FFF2-40B4-BE49-F238E27FC236}">
                <a16:creationId xmlns:a16="http://schemas.microsoft.com/office/drawing/2014/main" id="{D7D599C4-6B6D-4365-DFF8-2C0BEBBBE83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6040" y="101077"/>
            <a:ext cx="2198820" cy="164911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