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embeddedFontLst>
    <p:embeddedFont>
      <p:font typeface="Equip Extended Bold" panose="02000503030000020004" pitchFamily="2" charset="77"/>
      <p:bold r:id="rId5"/>
      <p:italic r:id="rId6"/>
      <p:boldItalic r:id="rId7"/>
    </p:embeddedFont>
    <p:embeddedFont>
      <p:font typeface="Equip Extended Medium" panose="02000603000000020004" pitchFamily="2" charset="77"/>
      <p:regular r:id="rId8"/>
      <p:italic r:id="rId9"/>
    </p:embeddedFont>
    <p:embeddedFont>
      <p:font typeface="Equip Extended Regular" panose="02000503030000020004" pitchFamily="2" charset="77"/>
      <p:regular r:id="rId10"/>
      <p:bold r:id="rId11"/>
      <p:italic r:id="rId12"/>
      <p:boldItalic r:id="rId13"/>
    </p:embeddedFont>
    <p:embeddedFont>
      <p:font typeface="Equip Regular" panose="02000503030000020004" pitchFamily="2" charset="77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able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1762125"/>
            <a:ext cx="16687800" cy="5419725"/>
          </a:xfrm>
          <a:prstGeom prst="rect">
            <a:avLst/>
          </a:prstGeom>
        </p:spPr>
      </p:pic>
      <p:sp>
        <p:nvSpPr>
          <p:cNvPr id="8" name="Category"/>
          <p:cNvSpPr/>
          <p:nvPr/>
        </p:nvSpPr>
        <p:spPr>
          <a:xfrm>
            <a:off x="895350" y="1876425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Category</a:t>
            </a:r>
            <a:endParaRPr lang="en-US" sz="1200" dirty="0"/>
          </a:p>
        </p:txBody>
      </p:sp>
      <p:sp>
        <p:nvSpPr>
          <p:cNvPr id="9" name="Sub-category"/>
          <p:cNvSpPr/>
          <p:nvPr/>
        </p:nvSpPr>
        <p:spPr>
          <a:xfrm>
            <a:off x="3486150" y="1876425"/>
            <a:ext cx="4527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Sub-category</a:t>
            </a:r>
            <a:endParaRPr lang="en-US" sz="1200" dirty="0"/>
          </a:p>
        </p:txBody>
      </p:sp>
      <p:sp>
        <p:nvSpPr>
          <p:cNvPr id="10" name="Description ToolTechnologies"/>
          <p:cNvSpPr/>
          <p:nvPr/>
        </p:nvSpPr>
        <p:spPr>
          <a:xfrm>
            <a:off x="8185147" y="1876425"/>
            <a:ext cx="4527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Description Tool/Technologies</a:t>
            </a:r>
            <a:endParaRPr lang="en-US" sz="1200" dirty="0"/>
          </a:p>
        </p:txBody>
      </p:sp>
      <p:sp>
        <p:nvSpPr>
          <p:cNvPr id="11" name="Licensing"/>
          <p:cNvSpPr/>
          <p:nvPr/>
        </p:nvSpPr>
        <p:spPr>
          <a:xfrm>
            <a:off x="12884153" y="1876425"/>
            <a:ext cx="4527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Licensing</a:t>
            </a:r>
            <a:endParaRPr lang="en-US" sz="1200" dirty="0"/>
          </a:p>
        </p:txBody>
      </p:sp>
      <p:sp>
        <p:nvSpPr>
          <p:cNvPr id="12" name="Frontend"/>
          <p:cNvSpPr/>
          <p:nvPr/>
        </p:nvSpPr>
        <p:spPr>
          <a:xfrm>
            <a:off x="895350" y="2852738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User Interface Orchestrator"/>
          <p:cNvSpPr/>
          <p:nvPr/>
        </p:nvSpPr>
        <p:spPr>
          <a:xfrm>
            <a:off x="3486150" y="2395538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User Interface: Orchestrator</a:t>
            </a:r>
            <a:endParaRPr lang="en-US" sz="1200" dirty="0"/>
          </a:p>
        </p:txBody>
      </p:sp>
      <p:sp>
        <p:nvSpPr>
          <p:cNvPr id="14" name="HTML5 CSS3 Typescript React Socketio webworkers react-hook-form RxJs Vite"/>
          <p:cNvSpPr/>
          <p:nvPr/>
        </p:nvSpPr>
        <p:spPr>
          <a:xfrm>
            <a:off x="8185147" y="2295525"/>
            <a:ext cx="4527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HTML5, CSS3, Typescript, React, Socket.io, webworkers, react-hook-form, RxJs, Vite</a:t>
            </a:r>
            <a:endParaRPr lang="en-US" sz="1200" dirty="0"/>
          </a:p>
        </p:txBody>
      </p:sp>
      <p:sp>
        <p:nvSpPr>
          <p:cNvPr id="15" name="Apache 20 MIT"/>
          <p:cNvSpPr/>
          <p:nvPr/>
        </p:nvSpPr>
        <p:spPr>
          <a:xfrm>
            <a:off x="12884148" y="2395538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Apache 2.0, MIT</a:t>
            </a:r>
            <a:endParaRPr lang="en-US" sz="1200" dirty="0"/>
          </a:p>
        </p:txBody>
      </p:sp>
      <p:sp>
        <p:nvSpPr>
          <p:cNvPr id="16" name="User Interface Scene"/>
          <p:cNvSpPr/>
          <p:nvPr/>
        </p:nvSpPr>
        <p:spPr>
          <a:xfrm>
            <a:off x="3486150" y="2947988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User Interface: Scene</a:t>
            </a:r>
            <a:endParaRPr lang="en-US" sz="1200" dirty="0"/>
          </a:p>
        </p:txBody>
      </p:sp>
      <p:sp>
        <p:nvSpPr>
          <p:cNvPr id="17" name="React Three Fiber R3F Zustand RxJs Vite-plugin-federation emotion Reavis VisX React Spring"/>
          <p:cNvSpPr/>
          <p:nvPr/>
        </p:nvSpPr>
        <p:spPr>
          <a:xfrm>
            <a:off x="8185147" y="2847975"/>
            <a:ext cx="4527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React Three Fiber (R3F), Zustand, RxJs, Vite-plugin-federation, emotion, Reavis, VisX, React Spring</a:t>
            </a:r>
            <a:endParaRPr lang="en-US" sz="1200" dirty="0"/>
          </a:p>
        </p:txBody>
      </p:sp>
      <p:sp>
        <p:nvSpPr>
          <p:cNvPr id="18" name="Apache 20 MIT Mulan PSL v2"/>
          <p:cNvSpPr/>
          <p:nvPr/>
        </p:nvSpPr>
        <p:spPr>
          <a:xfrm>
            <a:off x="12884148" y="2947988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Apache 2.0, MIT, Mulan PSL v2</a:t>
            </a:r>
            <a:endParaRPr lang="en-US" sz="1200" dirty="0"/>
          </a:p>
        </p:txBody>
      </p:sp>
      <p:sp>
        <p:nvSpPr>
          <p:cNvPr id="19" name="Unit Testing"/>
          <p:cNvSpPr/>
          <p:nvPr/>
        </p:nvSpPr>
        <p:spPr>
          <a:xfrm>
            <a:off x="3486150" y="34004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Unit Testing </a:t>
            </a:r>
            <a:endParaRPr lang="en-US" sz="1200" dirty="0"/>
          </a:p>
        </p:txBody>
      </p:sp>
      <p:sp>
        <p:nvSpPr>
          <p:cNvPr id="20" name="Vitest"/>
          <p:cNvSpPr/>
          <p:nvPr/>
        </p:nvSpPr>
        <p:spPr>
          <a:xfrm>
            <a:off x="8185147" y="34004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Vitest</a:t>
            </a:r>
            <a:endParaRPr lang="en-US" sz="1200" dirty="0"/>
          </a:p>
        </p:txBody>
      </p:sp>
      <p:sp>
        <p:nvSpPr>
          <p:cNvPr id="21" name="MIT"/>
          <p:cNvSpPr/>
          <p:nvPr/>
        </p:nvSpPr>
        <p:spPr>
          <a:xfrm>
            <a:off x="12884148" y="3400425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MIT</a:t>
            </a:r>
            <a:endParaRPr lang="en-US" sz="1200" dirty="0"/>
          </a:p>
        </p:txBody>
      </p:sp>
      <p:sp>
        <p:nvSpPr>
          <p:cNvPr id="22" name="Backend"/>
          <p:cNvSpPr/>
          <p:nvPr/>
        </p:nvSpPr>
        <p:spPr>
          <a:xfrm>
            <a:off x="895350" y="4614863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Microservices"/>
          <p:cNvSpPr/>
          <p:nvPr/>
        </p:nvSpPr>
        <p:spPr>
          <a:xfrm>
            <a:off x="3486150" y="390525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24" name="Nodejs Expressjs Websocket  RESTful services Jest"/>
          <p:cNvSpPr/>
          <p:nvPr/>
        </p:nvSpPr>
        <p:spPr>
          <a:xfrm>
            <a:off x="8185147" y="390525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Nodejs, Express.js, Websocket &amp; RESTful services, Jest</a:t>
            </a:r>
            <a:endParaRPr lang="en-US" sz="1200" dirty="0"/>
          </a:p>
        </p:txBody>
      </p:sp>
      <p:sp>
        <p:nvSpPr>
          <p:cNvPr id="25" name="Apache 20"/>
          <p:cNvSpPr/>
          <p:nvPr/>
        </p:nvSpPr>
        <p:spPr>
          <a:xfrm>
            <a:off x="12884148" y="390525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26" name="Event messaging"/>
          <p:cNvSpPr/>
          <p:nvPr/>
        </p:nvSpPr>
        <p:spPr>
          <a:xfrm>
            <a:off x="3486150" y="425767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Event messaging</a:t>
            </a:r>
            <a:endParaRPr lang="en-US" sz="1200" dirty="0"/>
          </a:p>
        </p:txBody>
      </p:sp>
      <p:sp>
        <p:nvSpPr>
          <p:cNvPr id="27" name="Kafka  Redis streams"/>
          <p:cNvSpPr/>
          <p:nvPr/>
        </p:nvSpPr>
        <p:spPr>
          <a:xfrm>
            <a:off x="8185147" y="425767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Kafka &amp; Redis streams</a:t>
            </a:r>
            <a:endParaRPr lang="en-US" sz="1200" dirty="0"/>
          </a:p>
        </p:txBody>
      </p:sp>
      <p:sp>
        <p:nvSpPr>
          <p:cNvPr id="28" name="Apache 20"/>
          <p:cNvSpPr/>
          <p:nvPr/>
        </p:nvSpPr>
        <p:spPr>
          <a:xfrm>
            <a:off x="12884148" y="425767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29" name="Data Store"/>
          <p:cNvSpPr/>
          <p:nvPr/>
        </p:nvSpPr>
        <p:spPr>
          <a:xfrm>
            <a:off x="3486150" y="461010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Data Store </a:t>
            </a:r>
            <a:endParaRPr lang="en-US" sz="1200" dirty="0"/>
          </a:p>
        </p:txBody>
      </p:sp>
      <p:sp>
        <p:nvSpPr>
          <p:cNvPr id="30" name="Redis"/>
          <p:cNvSpPr/>
          <p:nvPr/>
        </p:nvSpPr>
        <p:spPr>
          <a:xfrm>
            <a:off x="8185147" y="461010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Redis</a:t>
            </a:r>
            <a:endParaRPr lang="en-US" sz="1200" dirty="0"/>
          </a:p>
        </p:txBody>
      </p:sp>
      <p:sp>
        <p:nvSpPr>
          <p:cNvPr id="31" name="default_name"/>
          <p:cNvSpPr/>
          <p:nvPr/>
        </p:nvSpPr>
        <p:spPr>
          <a:xfrm>
            <a:off x="12884148" y="461010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Containerization"/>
          <p:cNvSpPr/>
          <p:nvPr/>
        </p:nvSpPr>
        <p:spPr>
          <a:xfrm>
            <a:off x="3486150" y="49625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33" name="Docker"/>
          <p:cNvSpPr/>
          <p:nvPr/>
        </p:nvSpPr>
        <p:spPr>
          <a:xfrm>
            <a:off x="8185147" y="49625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Docker</a:t>
            </a:r>
            <a:endParaRPr lang="en-US" sz="1200" dirty="0"/>
          </a:p>
        </p:txBody>
      </p:sp>
      <p:sp>
        <p:nvSpPr>
          <p:cNvPr id="34" name="Apache 20"/>
          <p:cNvSpPr/>
          <p:nvPr/>
        </p:nvSpPr>
        <p:spPr>
          <a:xfrm>
            <a:off x="12884148" y="49625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35" name="Real-time Service"/>
          <p:cNvSpPr/>
          <p:nvPr/>
        </p:nvSpPr>
        <p:spPr>
          <a:xfrm>
            <a:off x="3486150" y="531495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Real-time Service</a:t>
            </a:r>
            <a:endParaRPr lang="en-US" sz="1200" dirty="0"/>
          </a:p>
        </p:txBody>
      </p:sp>
      <p:sp>
        <p:nvSpPr>
          <p:cNvPr id="36" name="Socketio websockets"/>
          <p:cNvSpPr/>
          <p:nvPr/>
        </p:nvSpPr>
        <p:spPr>
          <a:xfrm>
            <a:off x="8185147" y="5314950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Socket.io (websockets)</a:t>
            </a:r>
            <a:endParaRPr lang="en-US" sz="1200" dirty="0"/>
          </a:p>
        </p:txBody>
      </p:sp>
      <p:sp>
        <p:nvSpPr>
          <p:cNvPr id="37" name="MIT"/>
          <p:cNvSpPr/>
          <p:nvPr/>
        </p:nvSpPr>
        <p:spPr>
          <a:xfrm>
            <a:off x="12884148" y="5314950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MIT</a:t>
            </a:r>
            <a:endParaRPr lang="en-US" sz="1200" dirty="0"/>
          </a:p>
        </p:txBody>
      </p:sp>
      <p:sp>
        <p:nvSpPr>
          <p:cNvPr id="38" name="Observability"/>
          <p:cNvSpPr/>
          <p:nvPr/>
        </p:nvSpPr>
        <p:spPr>
          <a:xfrm>
            <a:off x="895350" y="5824538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9" name="NA"/>
          <p:cNvSpPr/>
          <p:nvPr/>
        </p:nvSpPr>
        <p:spPr>
          <a:xfrm>
            <a:off x="3486150" y="5819775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0" name="NA"/>
          <p:cNvSpPr/>
          <p:nvPr/>
        </p:nvSpPr>
        <p:spPr>
          <a:xfrm>
            <a:off x="8185147" y="5819775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1" name="NA"/>
          <p:cNvSpPr/>
          <p:nvPr/>
        </p:nvSpPr>
        <p:spPr>
          <a:xfrm>
            <a:off x="12884153" y="5819775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2" name="Authentication Platform"/>
          <p:cNvSpPr/>
          <p:nvPr/>
        </p:nvSpPr>
        <p:spPr>
          <a:xfrm>
            <a:off x="895350" y="6329363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Authentication Platform</a:t>
            </a:r>
            <a:endParaRPr lang="en-US" sz="1200" dirty="0"/>
          </a:p>
        </p:txBody>
      </p:sp>
      <p:sp>
        <p:nvSpPr>
          <p:cNvPr id="43" name="NA"/>
          <p:cNvSpPr/>
          <p:nvPr/>
        </p:nvSpPr>
        <p:spPr>
          <a:xfrm>
            <a:off x="3486150" y="6324600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4" name="NA"/>
          <p:cNvSpPr/>
          <p:nvPr/>
        </p:nvSpPr>
        <p:spPr>
          <a:xfrm>
            <a:off x="8185147" y="6324600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5" name="NA"/>
          <p:cNvSpPr/>
          <p:nvPr/>
        </p:nvSpPr>
        <p:spPr>
          <a:xfrm>
            <a:off x="12884153" y="6324600"/>
            <a:ext cx="4632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NA</a:t>
            </a:r>
            <a:endParaRPr lang="en-US" sz="1200" dirty="0"/>
          </a:p>
        </p:txBody>
      </p:sp>
      <p:sp>
        <p:nvSpPr>
          <p:cNvPr id="46" name="Design"/>
          <p:cNvSpPr/>
          <p:nvPr/>
        </p:nvSpPr>
        <p:spPr>
          <a:xfrm>
            <a:off x="895350" y="6834188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Design</a:t>
            </a:r>
            <a:endParaRPr lang="en-US" sz="1200" dirty="0"/>
          </a:p>
        </p:txBody>
      </p:sp>
      <p:sp>
        <p:nvSpPr>
          <p:cNvPr id="47" name="UXUI  Dev Tools"/>
          <p:cNvSpPr/>
          <p:nvPr/>
        </p:nvSpPr>
        <p:spPr>
          <a:xfrm>
            <a:off x="3486150" y="68294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UX/UI &amp; Dev Tools</a:t>
            </a:r>
            <a:endParaRPr lang="en-US" sz="1200" dirty="0"/>
          </a:p>
        </p:txBody>
      </p:sp>
      <p:sp>
        <p:nvSpPr>
          <p:cNvPr id="48" name="Figma"/>
          <p:cNvSpPr/>
          <p:nvPr/>
        </p:nvSpPr>
        <p:spPr>
          <a:xfrm>
            <a:off x="8185147" y="68294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Figma</a:t>
            </a:r>
            <a:endParaRPr lang="en-US" sz="1200" dirty="0"/>
          </a:p>
        </p:txBody>
      </p:sp>
      <p:sp>
        <p:nvSpPr>
          <p:cNvPr id="49" name="default_name"/>
          <p:cNvSpPr/>
          <p:nvPr/>
        </p:nvSpPr>
        <p:spPr>
          <a:xfrm>
            <a:off x="12884153" y="6829425"/>
            <a:ext cx="452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</a:t>
            </a:r>
            <a:endParaRPr lang="en-US" sz="12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6400D413-8FBC-C4EB-08FE-6AE4B171E236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Project Name">
            <a:extLst>
              <a:ext uri="{FF2B5EF4-FFF2-40B4-BE49-F238E27FC236}">
                <a16:creationId xmlns:a16="http://schemas.microsoft.com/office/drawing/2014/main" id="{7824B4F3-3D32-F6A5-E7DE-EA914480D27A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Month Year">
            <a:extLst>
              <a:ext uri="{FF2B5EF4-FFF2-40B4-BE49-F238E27FC236}">
                <a16:creationId xmlns:a16="http://schemas.microsoft.com/office/drawing/2014/main" id="{1EEC49C9-5E98-E2FD-3406-7C8D54CBAEFB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2026">
            <a:extLst>
              <a:ext uri="{FF2B5EF4-FFF2-40B4-BE49-F238E27FC236}">
                <a16:creationId xmlns:a16="http://schemas.microsoft.com/office/drawing/2014/main" id="{591E09C6-4C9D-28C5-B152-7CD0313A47E1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234D311-9A3E-F84F-E53C-12025474E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1C5EF4F-6628-ADA6-4178-3B14E36B5468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01E33E7-21F2-5D76-C598-ED8B698A625B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9A928C5-128E-88ED-89C5-4B70D7ACE934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able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2133600"/>
            <a:ext cx="16687800" cy="3657600"/>
          </a:xfrm>
          <a:prstGeom prst="rect">
            <a:avLst/>
          </a:prstGeom>
        </p:spPr>
      </p:pic>
      <p:sp>
        <p:nvSpPr>
          <p:cNvPr id="8" name="Phase"/>
          <p:cNvSpPr/>
          <p:nvPr/>
        </p:nvSpPr>
        <p:spPr>
          <a:xfrm>
            <a:off x="800100" y="2133600"/>
            <a:ext cx="558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Phase </a:t>
            </a:r>
            <a:endParaRPr lang="en-US" sz="1800" dirty="0"/>
          </a:p>
        </p:txBody>
      </p:sp>
      <p:sp>
        <p:nvSpPr>
          <p:cNvPr id="9" name="Release R1  R2"/>
          <p:cNvSpPr/>
          <p:nvPr/>
        </p:nvSpPr>
        <p:spPr>
          <a:xfrm>
            <a:off x="914400" y="2838450"/>
            <a:ext cx="1476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Release (R1 + R2)
</a:t>
            </a:r>
            <a:endParaRPr lang="en-US" sz="1200" dirty="0"/>
          </a:p>
        </p:txBody>
      </p:sp>
      <p:sp>
        <p:nvSpPr>
          <p:cNvPr id="10" name="Total cost 2026"/>
          <p:cNvSpPr/>
          <p:nvPr/>
        </p:nvSpPr>
        <p:spPr>
          <a:xfrm>
            <a:off x="914400" y="360045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 Total cost 2026</a:t>
            </a:r>
            <a:endParaRPr lang="en-US" sz="1200" dirty="0"/>
          </a:p>
        </p:txBody>
      </p:sp>
      <p:sp>
        <p:nvSpPr>
          <p:cNvPr id="11" name="Build  Run 2027"/>
          <p:cNvSpPr/>
          <p:nvPr/>
        </p:nvSpPr>
        <p:spPr>
          <a:xfrm>
            <a:off x="914400" y="3981450"/>
            <a:ext cx="1457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Build &amp; Run 2027
</a:t>
            </a:r>
            <a:endParaRPr lang="en-US" sz="1200" dirty="0"/>
          </a:p>
        </p:txBody>
      </p:sp>
      <p:sp>
        <p:nvSpPr>
          <p:cNvPr id="12" name="Total cost 2027"/>
          <p:cNvSpPr/>
          <p:nvPr/>
        </p:nvSpPr>
        <p:spPr>
          <a:xfrm>
            <a:off x="914400" y="474345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 Total cost 2027</a:t>
            </a:r>
            <a:endParaRPr lang="en-US" sz="1200" dirty="0"/>
          </a:p>
        </p:txBody>
      </p:sp>
      <p:sp>
        <p:nvSpPr>
          <p:cNvPr id="13" name="Run 2028 AMS"/>
          <p:cNvSpPr/>
          <p:nvPr/>
        </p:nvSpPr>
        <p:spPr>
          <a:xfrm>
            <a:off x="914400" y="51244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Run 2028 (AMS)</a:t>
            </a:r>
            <a:endParaRPr lang="en-US" sz="1200" dirty="0"/>
          </a:p>
        </p:txBody>
      </p:sp>
      <p:sp>
        <p:nvSpPr>
          <p:cNvPr id="14" name="Total Sum NET 2026 2027 2028"/>
          <p:cNvSpPr/>
          <p:nvPr/>
        </p:nvSpPr>
        <p:spPr>
          <a:xfrm>
            <a:off x="914400" y="55054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Total Sum NET (2026, 2027, 2028)</a:t>
            </a:r>
            <a:endParaRPr lang="en-US" sz="1200" dirty="0"/>
          </a:p>
        </p:txBody>
      </p:sp>
      <p:sp>
        <p:nvSpPr>
          <p:cNvPr id="15" name="Breakdown"/>
          <p:cNvSpPr/>
          <p:nvPr/>
        </p:nvSpPr>
        <p:spPr>
          <a:xfrm>
            <a:off x="6362700" y="2133600"/>
            <a:ext cx="558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Breakdown</a:t>
            </a:r>
            <a:endParaRPr lang="en-US" sz="1800" dirty="0"/>
          </a:p>
        </p:txBody>
      </p:sp>
      <p:sp>
        <p:nvSpPr>
          <p:cNvPr id="16" name="Development Cost Design  Requirements"/>
          <p:cNvSpPr/>
          <p:nvPr/>
        </p:nvSpPr>
        <p:spPr>
          <a:xfrm>
            <a:off x="6477000" y="2838450"/>
            <a:ext cx="17049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Development Cost
Design &amp; Requirements</a:t>
            </a:r>
            <a:endParaRPr lang="en-US" sz="1200" dirty="0"/>
          </a:p>
        </p:txBody>
      </p:sp>
      <p:sp>
        <p:nvSpPr>
          <p:cNvPr id="17" name="Build PI-1  PI-2 Run AMS"/>
          <p:cNvSpPr/>
          <p:nvPr/>
        </p:nvSpPr>
        <p:spPr>
          <a:xfrm>
            <a:off x="6477000" y="3981450"/>
            <a:ext cx="1276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Build (PI-1 + PI-2)
Run (AMS)</a:t>
            </a:r>
            <a:endParaRPr lang="en-US" sz="1200" dirty="0"/>
          </a:p>
        </p:txBody>
      </p:sp>
      <p:sp>
        <p:nvSpPr>
          <p:cNvPr id="18" name="Run AMS"/>
          <p:cNvSpPr/>
          <p:nvPr/>
        </p:nvSpPr>
        <p:spPr>
          <a:xfrm>
            <a:off x="6477000" y="5119688"/>
            <a:ext cx="838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Run (AMS) </a:t>
            </a:r>
            <a:endParaRPr lang="en-US" sz="1200" dirty="0"/>
          </a:p>
        </p:txBody>
      </p:sp>
      <p:sp>
        <p:nvSpPr>
          <p:cNvPr id="19" name="Contract Value"/>
          <p:cNvSpPr/>
          <p:nvPr/>
        </p:nvSpPr>
        <p:spPr>
          <a:xfrm>
            <a:off x="11925300" y="2133600"/>
            <a:ext cx="558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Contract Value</a:t>
            </a:r>
            <a:endParaRPr lang="en-US" sz="1800" dirty="0"/>
          </a:p>
        </p:txBody>
      </p:sp>
      <p:sp>
        <p:nvSpPr>
          <p:cNvPr id="20" name="name_270160 148768"/>
          <p:cNvSpPr/>
          <p:nvPr/>
        </p:nvSpPr>
        <p:spPr>
          <a:xfrm>
            <a:off x="12039600" y="2838450"/>
            <a:ext cx="790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$270,160
$148,768</a:t>
            </a:r>
            <a:endParaRPr lang="en-US" sz="1200" dirty="0"/>
          </a:p>
        </p:txBody>
      </p:sp>
      <p:sp>
        <p:nvSpPr>
          <p:cNvPr id="21" name="name_418928"/>
          <p:cNvSpPr/>
          <p:nvPr/>
        </p:nvSpPr>
        <p:spPr>
          <a:xfrm>
            <a:off x="12039600" y="360045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$418,928</a:t>
            </a:r>
            <a:endParaRPr lang="en-US" sz="1200" dirty="0"/>
          </a:p>
        </p:txBody>
      </p:sp>
      <p:sp>
        <p:nvSpPr>
          <p:cNvPr id="22" name="name_269360 67600"/>
          <p:cNvSpPr/>
          <p:nvPr/>
        </p:nvSpPr>
        <p:spPr>
          <a:xfrm>
            <a:off x="12039600" y="3981450"/>
            <a:ext cx="790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$269,360
$67,600</a:t>
            </a:r>
            <a:endParaRPr lang="en-US" sz="1200" dirty="0"/>
          </a:p>
        </p:txBody>
      </p:sp>
      <p:sp>
        <p:nvSpPr>
          <p:cNvPr id="23" name="name_336960"/>
          <p:cNvSpPr/>
          <p:nvPr/>
        </p:nvSpPr>
        <p:spPr>
          <a:xfrm>
            <a:off x="12039600" y="474345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$336,960</a:t>
            </a:r>
            <a:endParaRPr lang="en-US" sz="1200" dirty="0"/>
          </a:p>
        </p:txBody>
      </p:sp>
      <p:sp>
        <p:nvSpPr>
          <p:cNvPr id="24" name="name_135200"/>
          <p:cNvSpPr/>
          <p:nvPr/>
        </p:nvSpPr>
        <p:spPr>
          <a:xfrm>
            <a:off x="12039600" y="512445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6041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$135,200</a:t>
            </a:r>
            <a:endParaRPr lang="en-US" sz="1200" dirty="0"/>
          </a:p>
        </p:txBody>
      </p:sp>
      <p:sp>
        <p:nvSpPr>
          <p:cNvPr id="25" name="name_891088"/>
          <p:cNvSpPr/>
          <p:nvPr/>
        </p:nvSpPr>
        <p:spPr>
          <a:xfrm>
            <a:off x="12039600" y="55054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06041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$891,088</a:t>
            </a:r>
            <a:endParaRPr lang="en-US" sz="12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F79C5220-1F1B-04FD-484A-6301FE3A3459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Project Name">
            <a:extLst>
              <a:ext uri="{FF2B5EF4-FFF2-40B4-BE49-F238E27FC236}">
                <a16:creationId xmlns:a16="http://schemas.microsoft.com/office/drawing/2014/main" id="{46DD37BF-D284-5098-CEE0-3658E1D34818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Month Year">
            <a:extLst>
              <a:ext uri="{FF2B5EF4-FFF2-40B4-BE49-F238E27FC236}">
                <a16:creationId xmlns:a16="http://schemas.microsoft.com/office/drawing/2014/main" id="{5099B6E1-87D3-664A-E800-A0F8DD8CD00F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2026">
            <a:extLst>
              <a:ext uri="{FF2B5EF4-FFF2-40B4-BE49-F238E27FC236}">
                <a16:creationId xmlns:a16="http://schemas.microsoft.com/office/drawing/2014/main" id="{DB9334A0-1F8E-1E90-03BF-202967224697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5EDBB8-1A92-7735-6FA0-9A8549EAD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FEAE42-9FCF-982C-E6E7-7D2A7C613B05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DBDF6E-4B67-09E9-0DE0-7C7C84386F04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B776A9-A60B-7F2C-3E9B-A2057D662ADE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226</Words>
  <Application>Microsoft Macintosh PowerPoint</Application>
  <PresentationFormat>Custom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Equip Extended Medium</vt:lpstr>
      <vt:lpstr>Equip Extended Bold</vt:lpstr>
      <vt:lpstr>Arial</vt:lpstr>
      <vt:lpstr>Equip Extended Regular</vt:lpstr>
      <vt:lpstr>Equip Regular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2026-06-02T12:18:14Z</dcterms:modified>
</cp:coreProperties>
</file>