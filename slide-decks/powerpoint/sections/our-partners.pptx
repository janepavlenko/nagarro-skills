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63" r:id="rId6"/>
    <p:sldId id="265" r:id="rId7"/>
    <p:sldId id="262" r:id="rId8"/>
    <p:sldId id="258" r:id="rId9"/>
    <p:sldId id="259" r:id="rId10"/>
    <p:sldId id="260" r:id="rId11"/>
    <p:sldId id="261" r:id="rId12"/>
    <p:sldId id="264" r:id="rId13"/>
    <p:sldId id="257" r:id="rId14"/>
  </p:sldIdLst>
  <p:sldSz cx="18288000" cy="10287000"/>
  <p:notesSz cx="10287000" cy="18288000"/>
  <p:embeddedFontLst>
    <p:embeddedFont>
      <p:font typeface="Equip Extended Bold" panose="02000503030000020004" pitchFamily="2" charset="77"/>
      <p:bold r:id="rId16"/>
      <p:italic r:id="rId17"/>
      <p:boldItalic r:id="rId18"/>
    </p:embeddedFont>
    <p:embeddedFont>
      <p:font typeface="Equip Extended Italic" panose="02000503030000020004" pitchFamily="2" charset="77"/>
      <p:bold r:id="rId19"/>
      <p:italic r:id="rId20"/>
      <p:boldItalic r:id="rId21"/>
    </p:embeddedFont>
    <p:embeddedFont>
      <p:font typeface="Equip Extended Medium" panose="02000603000000020004" pitchFamily="2" charset="77"/>
      <p:regular r:id="rId22"/>
      <p:italic r:id="rId23"/>
    </p:embeddedFont>
    <p:embeddedFont>
      <p:font typeface="Equip Extended Regular" panose="02000503030000020004" pitchFamily="2" charset="77"/>
      <p:regular r:id="rId24"/>
      <p:bold r:id="rId25"/>
      <p:italic r:id="rId26"/>
      <p:boldItalic r:id="rId27"/>
    </p:embeddedFont>
    <p:embeddedFont>
      <p:font typeface="Equip Regular" panose="02000503030000020004" pitchFamily="2" charset="77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110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50"/>
    <p:restoredTop sz="94610"/>
  </p:normalViewPr>
  <p:slideViewPr>
    <p:cSldViewPr snapToGrid="0" snapToObjects="1">
      <p:cViewPr>
        <p:scale>
          <a:sx n="70" d="100"/>
          <a:sy n="70" d="100"/>
        </p:scale>
        <p:origin x="680" y="504"/>
      </p:cViewPr>
      <p:guideLst>
        <p:guide pos="498"/>
        <p:guide pos="11022"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-grid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87026" y="1609725"/>
            <a:ext cx="11020425" cy="6791325"/>
          </a:xfrm>
          <a:prstGeom prst="rect">
            <a:avLst/>
          </a:prstGeom>
        </p:spPr>
      </p:pic>
      <p:sp>
        <p:nvSpPr>
          <p:cNvPr id="8" name="partners-title"/>
          <p:cNvSpPr/>
          <p:nvPr/>
        </p:nvSpPr>
        <p:spPr>
          <a:xfrm>
            <a:off x="800100" y="3648075"/>
            <a:ext cx="5429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Trusted by 
global brands</a:t>
            </a:r>
            <a:endParaRPr lang="en-US" sz="4800" dirty="0"/>
          </a:p>
        </p:txBody>
      </p:sp>
      <p:sp>
        <p:nvSpPr>
          <p:cNvPr id="9" name="partners-body"/>
          <p:cNvSpPr/>
          <p:nvPr/>
        </p:nvSpPr>
        <p:spPr>
          <a:xfrm>
            <a:off x="800100" y="5476875"/>
            <a:ext cx="54292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 help our clients transform innovative ideas into inspiring brands, amazing products and cutting-edge experiences that touch millions.</a:t>
            </a:r>
            <a:endParaRPr lang="en-US" sz="18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C78CC660-CBC7-28D7-32BA-019B011AFE1C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Project Name">
            <a:extLst>
              <a:ext uri="{FF2B5EF4-FFF2-40B4-BE49-F238E27FC236}">
                <a16:creationId xmlns:a16="http://schemas.microsoft.com/office/drawing/2014/main" id="{7D1368F2-EBF6-7817-3187-EB37938BC44E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Month Year">
            <a:extLst>
              <a:ext uri="{FF2B5EF4-FFF2-40B4-BE49-F238E27FC236}">
                <a16:creationId xmlns:a16="http://schemas.microsoft.com/office/drawing/2014/main" id="{CB126FD9-49A1-C316-7713-086677937854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2026">
            <a:extLst>
              <a:ext uri="{FF2B5EF4-FFF2-40B4-BE49-F238E27FC236}">
                <a16:creationId xmlns:a16="http://schemas.microsoft.com/office/drawing/2014/main" id="{12C90886-F56F-3238-F4D7-1EBF9FCC6F10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131717F-3130-79CE-FF54-03BF289E4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26A49B-2722-6AA4-3135-FA6E8AC07979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B1B317-4A97-CA6E-262F-188E55F05FB1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E8D9F1-7093-94FA-4394-A4216749A11F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-grid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942975"/>
            <a:ext cx="11020425" cy="7924800"/>
          </a:xfrm>
          <a:prstGeom prst="rect">
            <a:avLst/>
          </a:prstGeom>
        </p:spPr>
      </p:pic>
      <p:sp>
        <p:nvSpPr>
          <p:cNvPr id="8" name="partners-title"/>
          <p:cNvSpPr/>
          <p:nvPr/>
        </p:nvSpPr>
        <p:spPr>
          <a:xfrm>
            <a:off x="800100" y="3695700"/>
            <a:ext cx="5429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Trusted by 
global brands</a:t>
            </a:r>
            <a:endParaRPr lang="en-US" sz="4800" dirty="0"/>
          </a:p>
        </p:txBody>
      </p:sp>
      <p:sp>
        <p:nvSpPr>
          <p:cNvPr id="9" name="partners-body"/>
          <p:cNvSpPr/>
          <p:nvPr/>
        </p:nvSpPr>
        <p:spPr>
          <a:xfrm>
            <a:off x="800100" y="5524500"/>
            <a:ext cx="54292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 help our clients transform innovative ideas into inspiring brands, amazing products and cutting edge experiences that touch millions.</a:t>
            </a:r>
            <a:endParaRPr lang="en-US" sz="1800" dirty="0"/>
          </a:p>
        </p:txBody>
      </p:sp>
      <p:sp>
        <p:nvSpPr>
          <p:cNvPr id="10" name="Digital Design Strategy">
            <a:extLst>
              <a:ext uri="{FF2B5EF4-FFF2-40B4-BE49-F238E27FC236}">
                <a16:creationId xmlns:a16="http://schemas.microsoft.com/office/drawing/2014/main" id="{AB8CADF0-A5EB-85C7-4D33-9A89E1300A7A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Project Name">
            <a:extLst>
              <a:ext uri="{FF2B5EF4-FFF2-40B4-BE49-F238E27FC236}">
                <a16:creationId xmlns:a16="http://schemas.microsoft.com/office/drawing/2014/main" id="{0483B643-B22E-7C5D-8FF8-4AD3EE2C1CB5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Month Year">
            <a:extLst>
              <a:ext uri="{FF2B5EF4-FFF2-40B4-BE49-F238E27FC236}">
                <a16:creationId xmlns:a16="http://schemas.microsoft.com/office/drawing/2014/main" id="{4E5E33FC-F9A2-EB4D-0E05-8BEF1CED96B9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2026">
            <a:extLst>
              <a:ext uri="{FF2B5EF4-FFF2-40B4-BE49-F238E27FC236}">
                <a16:creationId xmlns:a16="http://schemas.microsoft.com/office/drawing/2014/main" id="{153E80AB-5200-B433-9DDE-A27AD08FB202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856129-2958-65D3-1319-C8ED1DC3F947}"/>
              </a:ext>
            </a:extLst>
          </p:cNvPr>
          <p:cNvCxnSpPr>
            <a:cxnSpLocks/>
          </p:cNvCxnSpPr>
          <p:nvPr/>
        </p:nvCxnSpPr>
        <p:spPr>
          <a:xfrm>
            <a:off x="800100" y="9222477"/>
            <a:ext cx="5187745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1281B8-E7A5-2876-B086-BF47D2E4C400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063904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B28CDB-713F-9402-1C39-6B4ED63F5313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063904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1FFB080D-F9E0-5E42-3E65-D7D44CEDF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744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-grid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1800225"/>
            <a:ext cx="16687800" cy="6924675"/>
          </a:xfrm>
          <a:prstGeom prst="rect">
            <a:avLst/>
          </a:prstGeom>
        </p:spPr>
      </p:pic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88C15C39-4D67-9EEC-41E5-79D0B4903455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Project Name">
            <a:extLst>
              <a:ext uri="{FF2B5EF4-FFF2-40B4-BE49-F238E27FC236}">
                <a16:creationId xmlns:a16="http://schemas.microsoft.com/office/drawing/2014/main" id="{6F473C34-19AE-CA7C-C6C9-6E5F4633EE5D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Month Year">
            <a:extLst>
              <a:ext uri="{FF2B5EF4-FFF2-40B4-BE49-F238E27FC236}">
                <a16:creationId xmlns:a16="http://schemas.microsoft.com/office/drawing/2014/main" id="{79472344-6CE9-2F6A-89DE-89D892E2AB2B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2026">
            <a:extLst>
              <a:ext uri="{FF2B5EF4-FFF2-40B4-BE49-F238E27FC236}">
                <a16:creationId xmlns:a16="http://schemas.microsoft.com/office/drawing/2014/main" id="{D707E40D-F7FE-C6A0-0E75-3C1B895C73F7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545AB4-D4B6-1FA7-BAE2-E9BBF35974EB}"/>
              </a:ext>
            </a:extLst>
          </p:cNvPr>
          <p:cNvCxnSpPr>
            <a:cxnSpLocks/>
          </p:cNvCxnSpPr>
          <p:nvPr/>
        </p:nvCxnSpPr>
        <p:spPr>
          <a:xfrm>
            <a:off x="800100" y="9222477"/>
            <a:ext cx="5187745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E497B8-6108-9859-C637-280A5177E412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063904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BE153A-1677-DB83-68BF-CDBC6E4E0FD1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063904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61A35A1E-4C0E-606A-CE09-1589CBD95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744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rands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2552700"/>
            <a:ext cx="16459200" cy="7118350"/>
          </a:xfrm>
          <a:prstGeom prst="rect">
            <a:avLst/>
          </a:prstGeom>
        </p:spPr>
      </p:pic>
      <p:sp>
        <p:nvSpPr>
          <p:cNvPr id="4" name="partners-title"/>
          <p:cNvSpPr/>
          <p:nvPr/>
        </p:nvSpPr>
        <p:spPr>
          <a:xfrm>
            <a:off x="800100" y="1581150"/>
            <a:ext cx="12592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Working with the leaders in each industry</a:t>
            </a:r>
            <a:endParaRPr lang="en-US" sz="3600" dirty="0"/>
          </a:p>
        </p:txBody>
      </p:sp>
      <p:sp>
        <p:nvSpPr>
          <p:cNvPr id="5" name="industry-title-1"/>
          <p:cNvSpPr/>
          <p:nvPr/>
        </p:nvSpPr>
        <p:spPr>
          <a:xfrm>
            <a:off x="800100" y="25527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Financial Services and Insurance</a:t>
            </a:r>
            <a:endParaRPr lang="en-US" sz="1800" dirty="0"/>
          </a:p>
        </p:txBody>
      </p:sp>
      <p:sp>
        <p:nvSpPr>
          <p:cNvPr id="6" name="industry-title-2"/>
          <p:cNvSpPr/>
          <p:nvPr/>
        </p:nvSpPr>
        <p:spPr>
          <a:xfrm>
            <a:off x="800100" y="40259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Automotive, Manufacturing and Industrial</a:t>
            </a:r>
            <a:endParaRPr lang="en-US" sz="1800" dirty="0"/>
          </a:p>
        </p:txBody>
      </p:sp>
      <p:sp>
        <p:nvSpPr>
          <p:cNvPr id="7" name="industry-title-3"/>
          <p:cNvSpPr/>
          <p:nvPr/>
        </p:nvSpPr>
        <p:spPr>
          <a:xfrm>
            <a:off x="800100" y="54991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Travel and Logistics</a:t>
            </a:r>
            <a:endParaRPr lang="en-US" sz="1800" dirty="0"/>
          </a:p>
        </p:txBody>
      </p:sp>
      <p:sp>
        <p:nvSpPr>
          <p:cNvPr id="8" name="industry-title-4"/>
          <p:cNvSpPr/>
          <p:nvPr/>
        </p:nvSpPr>
        <p:spPr>
          <a:xfrm>
            <a:off x="800100" y="69723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Telecom, Media and Entertainment</a:t>
            </a:r>
            <a:endParaRPr lang="en-US" sz="1800" dirty="0"/>
          </a:p>
        </p:txBody>
      </p:sp>
      <p:sp>
        <p:nvSpPr>
          <p:cNvPr id="9" name="industry-title-5"/>
          <p:cNvSpPr/>
          <p:nvPr/>
        </p:nvSpPr>
        <p:spPr>
          <a:xfrm>
            <a:off x="800100" y="84455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Retail and CPG</a:t>
            </a:r>
            <a:endParaRPr lang="en-US" sz="1800" dirty="0"/>
          </a:p>
        </p:txBody>
      </p:sp>
      <p:sp>
        <p:nvSpPr>
          <p:cNvPr id="10" name="industry-title-6"/>
          <p:cNvSpPr/>
          <p:nvPr/>
        </p:nvSpPr>
        <p:spPr>
          <a:xfrm>
            <a:off x="9385288" y="25527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Energy, Utilities and Building Automation</a:t>
            </a:r>
            <a:endParaRPr lang="en-US" sz="1800" dirty="0"/>
          </a:p>
        </p:txBody>
      </p:sp>
      <p:sp>
        <p:nvSpPr>
          <p:cNvPr id="11" name="industry-title-7"/>
          <p:cNvSpPr/>
          <p:nvPr/>
        </p:nvSpPr>
        <p:spPr>
          <a:xfrm>
            <a:off x="9385288" y="40259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Public, Non-profit and Education</a:t>
            </a:r>
            <a:endParaRPr lang="en-US" sz="1800" dirty="0"/>
          </a:p>
        </p:txBody>
      </p:sp>
      <p:sp>
        <p:nvSpPr>
          <p:cNvPr id="12" name="industry-title-8"/>
          <p:cNvSpPr/>
          <p:nvPr/>
        </p:nvSpPr>
        <p:spPr>
          <a:xfrm>
            <a:off x="9385288" y="54991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Life Sciences and Healthcare</a:t>
            </a:r>
            <a:endParaRPr lang="en-US" sz="1800" dirty="0"/>
          </a:p>
        </p:txBody>
      </p:sp>
      <p:sp>
        <p:nvSpPr>
          <p:cNvPr id="13" name="industry-title-9"/>
          <p:cNvSpPr/>
          <p:nvPr/>
        </p:nvSpPr>
        <p:spPr>
          <a:xfrm>
            <a:off x="9385288" y="69723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Horizontal Tech</a:t>
            </a:r>
            <a:endParaRPr lang="en-US" sz="1800" dirty="0"/>
          </a:p>
        </p:txBody>
      </p:sp>
      <p:sp>
        <p:nvSpPr>
          <p:cNvPr id="14" name="industry-title-10"/>
          <p:cNvSpPr/>
          <p:nvPr/>
        </p:nvSpPr>
        <p:spPr>
          <a:xfrm>
            <a:off x="9385288" y="8445500"/>
            <a:ext cx="789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8893A5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Management Consulting and Business Information</a:t>
            </a:r>
            <a:endParaRPr lang="en-US" sz="1800" dirty="0"/>
          </a:p>
        </p:txBody>
      </p:sp>
      <p:sp>
        <p:nvSpPr>
          <p:cNvPr id="15" name="name_2 of the Big 3 management consulting firms"/>
          <p:cNvSpPr/>
          <p:nvPr/>
        </p:nvSpPr>
        <p:spPr>
          <a:xfrm>
            <a:off x="11572354" y="8921750"/>
            <a:ext cx="1647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kern="0" spc="-75" dirty="0">
                <a:solidFill>
                  <a:srgbClr val="010716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2 OF THE BIG 3 
MANAGEMENT 
CONSULTING FIRMS</a:t>
            </a:r>
            <a:endParaRPr lang="en-US" sz="1200" dirty="0"/>
          </a:p>
        </p:txBody>
      </p:sp>
      <p:pic>
        <p:nvPicPr>
          <p:cNvPr id="16" name="Layout" descr="preencoded.png">
            <a:extLst>
              <a:ext uri="{FF2B5EF4-FFF2-40B4-BE49-F238E27FC236}">
                <a16:creationId xmlns:a16="http://schemas.microsoft.com/office/drawing/2014/main" id="{E15C8658-62C9-7F42-8ED2-040CE0F3A7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1" t="4985" r="87886" b="88782"/>
          <a:stretch>
            <a:fillRect/>
          </a:stretch>
        </p:blipFill>
        <p:spPr>
          <a:xfrm>
            <a:off x="790575" y="513347"/>
            <a:ext cx="1426842" cy="641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s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62750" y="2190750"/>
            <a:ext cx="10677537" cy="5895975"/>
          </a:xfrm>
          <a:prstGeom prst="rect">
            <a:avLst/>
          </a:prstGeom>
        </p:spPr>
      </p:pic>
      <p:sp>
        <p:nvSpPr>
          <p:cNvPr id="8" name="partners-title"/>
          <p:cNvSpPr/>
          <p:nvPr/>
        </p:nvSpPr>
        <p:spPr>
          <a:xfrm>
            <a:off x="800100" y="3286125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112" dirty="0">
                <a:solidFill>
                  <a:srgbClr val="D2D6DD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Trusted by:</a:t>
            </a:r>
            <a:endParaRPr lang="en-US" sz="3000" dirty="0"/>
          </a:p>
        </p:txBody>
      </p:sp>
      <p:sp>
        <p:nvSpPr>
          <p:cNvPr id="9" name="partners-body"/>
          <p:cNvSpPr/>
          <p:nvPr/>
        </p:nvSpPr>
        <p:spPr>
          <a:xfrm>
            <a:off x="800100" y="3952875"/>
            <a:ext cx="5429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Leading clients we work with in the Middle East region</a:t>
            </a:r>
            <a:endParaRPr lang="en-US" sz="48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33FE4FE1-FA1E-C9A0-8067-AF10170AE086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4" name="Project Name">
            <a:extLst>
              <a:ext uri="{FF2B5EF4-FFF2-40B4-BE49-F238E27FC236}">
                <a16:creationId xmlns:a16="http://schemas.microsoft.com/office/drawing/2014/main" id="{4B8162FA-7008-1A46-B263-028C600A5228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5" name="Month Year">
            <a:extLst>
              <a:ext uri="{FF2B5EF4-FFF2-40B4-BE49-F238E27FC236}">
                <a16:creationId xmlns:a16="http://schemas.microsoft.com/office/drawing/2014/main" id="{91959C25-7FE9-9307-F946-84069DCAB2CB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6" name="2026">
            <a:extLst>
              <a:ext uri="{FF2B5EF4-FFF2-40B4-BE49-F238E27FC236}">
                <a16:creationId xmlns:a16="http://schemas.microsoft.com/office/drawing/2014/main" id="{0655B61F-7DE7-2960-EA80-C8A59298F49D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D52FF7-B35D-56A4-9510-798E77A77ECE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F3C551-3172-56EA-32D5-A6FCEBC1F0EF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056E48-056B-5344-7DD5-95E40494BBEE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4701034B-6476-BD31-CF3F-9889D94717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4372532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95338" y="2905125"/>
            <a:ext cx="16705269" cy="6292550"/>
          </a:xfrm>
          <a:prstGeom prst="rect">
            <a:avLst/>
          </a:prstGeom>
        </p:spPr>
      </p:pic>
      <p:sp>
        <p:nvSpPr>
          <p:cNvPr id="4" name="partners-title"/>
          <p:cNvSpPr/>
          <p:nvPr/>
        </p:nvSpPr>
        <p:spPr>
          <a:xfrm>
            <a:off x="800100" y="1581150"/>
            <a:ext cx="12592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EFF1F4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We have so much more to offer</a:t>
            </a:r>
            <a:endParaRPr lang="en-US" sz="3600" dirty="0"/>
          </a:p>
        </p:txBody>
      </p:sp>
      <p:sp>
        <p:nvSpPr>
          <p:cNvPr id="5" name="We work with"/>
          <p:cNvSpPr/>
          <p:nvPr/>
        </p:nvSpPr>
        <p:spPr>
          <a:xfrm>
            <a:off x="800100" y="2905214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We work with</a:t>
            </a:r>
            <a:endParaRPr lang="en-US" sz="1800" dirty="0"/>
          </a:p>
        </p:txBody>
      </p:sp>
      <p:sp>
        <p:nvSpPr>
          <p:cNvPr id="6" name="In multiple areas"/>
          <p:cNvSpPr/>
          <p:nvPr/>
        </p:nvSpPr>
        <p:spPr>
          <a:xfrm>
            <a:off x="6496050" y="2905214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In multiple areas</a:t>
            </a:r>
            <a:endParaRPr lang="en-US" sz="1800" dirty="0"/>
          </a:p>
        </p:txBody>
      </p:sp>
      <p:sp>
        <p:nvSpPr>
          <p:cNvPr id="7" name="Across technology"/>
          <p:cNvSpPr/>
          <p:nvPr/>
        </p:nvSpPr>
        <p:spPr>
          <a:xfrm>
            <a:off x="12192000" y="2905214"/>
            <a:ext cx="532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Across technology</a:t>
            </a:r>
            <a:endParaRPr lang="en-US" sz="1800" dirty="0"/>
          </a:p>
        </p:txBody>
      </p:sp>
      <p:sp>
        <p:nvSpPr>
          <p:cNvPr id="8" name="Innovation"/>
          <p:cNvSpPr/>
          <p:nvPr/>
        </p:nvSpPr>
        <p:spPr>
          <a:xfrm>
            <a:off x="6619875" y="46342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INNOVATION</a:t>
            </a:r>
            <a:endParaRPr lang="en-US" sz="963" dirty="0"/>
          </a:p>
        </p:txBody>
      </p:sp>
      <p:sp>
        <p:nvSpPr>
          <p:cNvPr id="9" name="LEGACY MODERNIZATION"/>
          <p:cNvSpPr/>
          <p:nvPr/>
        </p:nvSpPr>
        <p:spPr>
          <a:xfrm>
            <a:off x="6619875" y="59184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LEGACY MODERNIZATION</a:t>
            </a:r>
            <a:endParaRPr lang="en-US" sz="963" dirty="0"/>
          </a:p>
        </p:txBody>
      </p:sp>
      <p:sp>
        <p:nvSpPr>
          <p:cNvPr id="10" name="BUSINESS RESILIENCE"/>
          <p:cNvSpPr/>
          <p:nvPr/>
        </p:nvSpPr>
        <p:spPr>
          <a:xfrm>
            <a:off x="6619875" y="7202667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BUSINESS RESILIENCE</a:t>
            </a:r>
            <a:endParaRPr lang="en-US" sz="963" dirty="0"/>
          </a:p>
        </p:txBody>
      </p:sp>
      <p:sp>
        <p:nvSpPr>
          <p:cNvPr id="11" name="CONNECTED WORKFORCE"/>
          <p:cNvSpPr/>
          <p:nvPr/>
        </p:nvSpPr>
        <p:spPr>
          <a:xfrm>
            <a:off x="8258175" y="46342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CONNECTED WORKFORCE</a:t>
            </a:r>
            <a:endParaRPr lang="en-US" sz="963" dirty="0"/>
          </a:p>
        </p:txBody>
      </p:sp>
      <p:sp>
        <p:nvSpPr>
          <p:cNvPr id="12" name="Customer experience design"/>
          <p:cNvSpPr/>
          <p:nvPr/>
        </p:nvSpPr>
        <p:spPr>
          <a:xfrm>
            <a:off x="8258175" y="59184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CUSTOMER EXPERIENCE DESIGN</a:t>
            </a:r>
            <a:endParaRPr lang="en-US" sz="963" dirty="0"/>
          </a:p>
        </p:txBody>
      </p:sp>
      <p:sp>
        <p:nvSpPr>
          <p:cNvPr id="13" name="many more"/>
          <p:cNvSpPr/>
          <p:nvPr/>
        </p:nvSpPr>
        <p:spPr>
          <a:xfrm>
            <a:off x="8258175" y="7202667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&amp; MANY MORE…</a:t>
            </a:r>
            <a:endParaRPr lang="en-US" sz="963" dirty="0"/>
          </a:p>
        </p:txBody>
      </p:sp>
      <p:sp>
        <p:nvSpPr>
          <p:cNvPr id="14" name="Digital transformation"/>
          <p:cNvSpPr/>
          <p:nvPr/>
        </p:nvSpPr>
        <p:spPr>
          <a:xfrm>
            <a:off x="9896475" y="46342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DIGITAL TRANSFORMATION</a:t>
            </a:r>
            <a:endParaRPr lang="en-US" sz="963" dirty="0"/>
          </a:p>
        </p:txBody>
      </p:sp>
      <p:sp>
        <p:nvSpPr>
          <p:cNvPr id="15" name="EMPLOYEE SAFETY"/>
          <p:cNvSpPr/>
          <p:nvPr/>
        </p:nvSpPr>
        <p:spPr>
          <a:xfrm>
            <a:off x="9896475" y="5918464"/>
            <a:ext cx="1328550" cy="146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8"/>
              </a:lnSpc>
              <a:buNone/>
            </a:pPr>
            <a:r>
              <a:rPr lang="en-US" sz="96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EMPLOYEE
SAFETY</a:t>
            </a:r>
            <a:endParaRPr lang="en-US" sz="963" dirty="0"/>
          </a:p>
        </p:txBody>
      </p:sp>
      <p:sp>
        <p:nvSpPr>
          <p:cNvPr id="16" name="Business Intelligence"/>
          <p:cNvSpPr/>
          <p:nvPr/>
        </p:nvSpPr>
        <p:spPr>
          <a:xfrm>
            <a:off x="12334875" y="4627893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BUSINESS INTELLIGENCE</a:t>
            </a:r>
            <a:endParaRPr lang="en-US" sz="953" dirty="0"/>
          </a:p>
        </p:txBody>
      </p:sp>
      <p:sp>
        <p:nvSpPr>
          <p:cNvPr id="17" name="Azure AWS Google Cloud Alibabacom"/>
          <p:cNvSpPr/>
          <p:nvPr/>
        </p:nvSpPr>
        <p:spPr>
          <a:xfrm>
            <a:off x="12334875" y="5898960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AZURE, AWS, GOOGLE CLOUD, ALIBABA.COM</a:t>
            </a:r>
            <a:endParaRPr lang="en-US" sz="953" dirty="0"/>
          </a:p>
        </p:txBody>
      </p:sp>
      <p:sp>
        <p:nvSpPr>
          <p:cNvPr id="18" name="Salesforce"/>
          <p:cNvSpPr/>
          <p:nvPr/>
        </p:nvSpPr>
        <p:spPr>
          <a:xfrm>
            <a:off x="12334875" y="7170024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SALESFORCE</a:t>
            </a:r>
            <a:endParaRPr lang="en-US" sz="953" dirty="0"/>
          </a:p>
        </p:txBody>
      </p:sp>
      <p:sp>
        <p:nvSpPr>
          <p:cNvPr id="19" name="AIML"/>
          <p:cNvSpPr/>
          <p:nvPr/>
        </p:nvSpPr>
        <p:spPr>
          <a:xfrm>
            <a:off x="13954125" y="4627893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AI/ML</a:t>
            </a:r>
            <a:endParaRPr lang="en-US" sz="953" dirty="0"/>
          </a:p>
        </p:txBody>
      </p:sp>
      <p:sp>
        <p:nvSpPr>
          <p:cNvPr id="20" name="Microsoft"/>
          <p:cNvSpPr/>
          <p:nvPr/>
        </p:nvSpPr>
        <p:spPr>
          <a:xfrm>
            <a:off x="13954125" y="5898960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MICROSOFT</a:t>
            </a:r>
            <a:endParaRPr lang="en-US" sz="953" dirty="0"/>
          </a:p>
        </p:txBody>
      </p:sp>
      <p:sp>
        <p:nvSpPr>
          <p:cNvPr id="21" name="SITECORE"/>
          <p:cNvSpPr/>
          <p:nvPr/>
        </p:nvSpPr>
        <p:spPr>
          <a:xfrm>
            <a:off x="13954125" y="7170024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SITECORE</a:t>
            </a:r>
            <a:endParaRPr lang="en-US" sz="953" dirty="0"/>
          </a:p>
        </p:txBody>
      </p:sp>
      <p:sp>
        <p:nvSpPr>
          <p:cNvPr id="22" name="many more"/>
          <p:cNvSpPr/>
          <p:nvPr/>
        </p:nvSpPr>
        <p:spPr>
          <a:xfrm>
            <a:off x="12334875" y="8441091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&amp; MANY MORE…</a:t>
            </a:r>
            <a:endParaRPr lang="en-US" sz="953" dirty="0"/>
          </a:p>
        </p:txBody>
      </p:sp>
      <p:sp>
        <p:nvSpPr>
          <p:cNvPr id="23" name="Low code platforms"/>
          <p:cNvSpPr/>
          <p:nvPr/>
        </p:nvSpPr>
        <p:spPr>
          <a:xfrm>
            <a:off x="15573375" y="4627893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LOW CODE PLATFORMS</a:t>
            </a:r>
            <a:endParaRPr lang="en-US" sz="953" dirty="0"/>
          </a:p>
        </p:txBody>
      </p:sp>
      <p:sp>
        <p:nvSpPr>
          <p:cNvPr id="24" name="SAP"/>
          <p:cNvSpPr/>
          <p:nvPr/>
        </p:nvSpPr>
        <p:spPr>
          <a:xfrm>
            <a:off x="15573375" y="5898960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SAP</a:t>
            </a:r>
            <a:endParaRPr lang="en-US" sz="953" dirty="0"/>
          </a:p>
        </p:txBody>
      </p:sp>
      <p:sp>
        <p:nvSpPr>
          <p:cNvPr id="25" name="IIOT  REALITY TECH"/>
          <p:cNvSpPr/>
          <p:nvPr/>
        </p:nvSpPr>
        <p:spPr>
          <a:xfrm>
            <a:off x="15573375" y="7170024"/>
            <a:ext cx="1306025" cy="14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34"/>
              </a:lnSpc>
              <a:buNone/>
            </a:pPr>
            <a:r>
              <a:rPr lang="en-US" sz="953" dirty="0">
                <a:solidFill>
                  <a:srgbClr val="06041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IIOT &amp; REALITY TECH</a:t>
            </a:r>
            <a:endParaRPr lang="en-US" sz="953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1F97E28-A550-C22C-9C81-CA8E3935F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showcase-headline"/>
          <p:cNvSpPr/>
          <p:nvPr/>
        </p:nvSpPr>
        <p:spPr>
          <a:xfrm>
            <a:off x="800100" y="4838700"/>
            <a:ext cx="12477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Chances are we’ve met before…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2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showcase-headline"/>
          <p:cNvSpPr/>
          <p:nvPr/>
        </p:nvSpPr>
        <p:spPr>
          <a:xfrm>
            <a:off x="800100" y="3924300"/>
            <a:ext cx="124777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We co-created flight planning software to calculate 30,000+ flights daily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showcase-headline"/>
          <p:cNvSpPr/>
          <p:nvPr/>
        </p:nvSpPr>
        <p:spPr>
          <a:xfrm>
            <a:off x="800100" y="3924300"/>
            <a:ext cx="124777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We built lighting control software that lights up the 
White House &amp; Statue of Liberty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4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showcase-headline"/>
          <p:cNvSpPr/>
          <p:nvPr/>
        </p:nvSpPr>
        <p:spPr>
          <a:xfrm>
            <a:off x="800100" y="3924300"/>
            <a:ext cx="124777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We work on door opening solutions for more than half of the world’s hotel rooms</a:t>
            </a:r>
            <a:endParaRPr 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5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showcase-headline"/>
          <p:cNvSpPr/>
          <p:nvPr/>
        </p:nvSpPr>
        <p:spPr>
          <a:xfrm>
            <a:off x="800100" y="3467100"/>
            <a:ext cx="1129665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60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We delight users, at scale:
We took this consumer app from 2.5 stars to 4.5, 4M+ customers served</a:t>
            </a:r>
            <a:endParaRPr lang="en-US" sz="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oup 3633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34150" y="4562475"/>
            <a:ext cx="5219700" cy="1409700"/>
          </a:xfrm>
          <a:prstGeom prst="rect">
            <a:avLst/>
          </a:prstGeom>
        </p:spPr>
      </p:pic>
      <p:sp>
        <p:nvSpPr>
          <p:cNvPr id="8" name="partners-headline"/>
          <p:cNvSpPr/>
          <p:nvPr/>
        </p:nvSpPr>
        <p:spPr>
          <a:xfrm>
            <a:off x="6524625" y="5629275"/>
            <a:ext cx="471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1815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A Partnership to Stay.</a:t>
            </a:r>
            <a:endParaRPr lang="en-US" sz="1815" dirty="0"/>
          </a:p>
        </p:txBody>
      </p:sp>
      <p:sp>
        <p:nvSpPr>
          <p:cNvPr id="9" name="Digital Design Strategy">
            <a:extLst>
              <a:ext uri="{FF2B5EF4-FFF2-40B4-BE49-F238E27FC236}">
                <a16:creationId xmlns:a16="http://schemas.microsoft.com/office/drawing/2014/main" id="{939B7829-2EDE-39E1-7054-F131BB75E6E5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CE56A0B6-3BEC-7C3E-FAA8-A86672885838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D77BDEAE-40D7-4F5E-6520-06FA586CED42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198E340C-B297-81B6-316A-6948F80B096C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ight-content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2149" y="3019425"/>
            <a:ext cx="7715250" cy="5753100"/>
          </a:xfrm>
          <a:prstGeom prst="rect">
            <a:avLst/>
          </a:prstGeom>
        </p:spPr>
      </p:pic>
      <p:pic>
        <p:nvPicPr>
          <p:cNvPr id="4" name="right-content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26645" y="3019427"/>
            <a:ext cx="7667625" cy="5991225"/>
          </a:xfrm>
          <a:prstGeom prst="rect">
            <a:avLst/>
          </a:prstGeom>
        </p:spPr>
      </p:pic>
      <p:sp>
        <p:nvSpPr>
          <p:cNvPr id="9" name="testimonials-title"/>
          <p:cNvSpPr/>
          <p:nvPr/>
        </p:nvSpPr>
        <p:spPr>
          <a:xfrm>
            <a:off x="793642" y="1543050"/>
            <a:ext cx="166973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What Our Clients Say About Us</a:t>
            </a:r>
            <a:endParaRPr lang="en-US" sz="4800" dirty="0"/>
          </a:p>
        </p:txBody>
      </p:sp>
      <p:sp>
        <p:nvSpPr>
          <p:cNvPr id="10" name="text-content"/>
          <p:cNvSpPr/>
          <p:nvPr/>
        </p:nvSpPr>
        <p:spPr>
          <a:xfrm>
            <a:off x="1866026" y="3019425"/>
            <a:ext cx="66683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“…Nagarro stands for competence and technology, for open and transparent communication, and for the ambition to develop a long-term partnership. …”​</a:t>
            </a:r>
            <a:endParaRPr lang="en-US" sz="1335" dirty="0"/>
          </a:p>
        </p:txBody>
      </p:sp>
      <p:sp>
        <p:nvSpPr>
          <p:cNvPr id="11" name="text-content"/>
          <p:cNvSpPr/>
          <p:nvPr/>
        </p:nvSpPr>
        <p:spPr>
          <a:xfrm>
            <a:off x="1866026" y="3616802"/>
            <a:ext cx="6668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Dr. Thomas Wittmann​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CEO, Lufthansa Systems</a:t>
            </a:r>
            <a:endParaRPr lang="en-US" sz="1526" dirty="0"/>
          </a:p>
        </p:txBody>
      </p:sp>
      <p:sp>
        <p:nvSpPr>
          <p:cNvPr id="12" name="text-content"/>
          <p:cNvSpPr/>
          <p:nvPr/>
        </p:nvSpPr>
        <p:spPr>
          <a:xfrm>
            <a:off x="1866026" y="4425271"/>
            <a:ext cx="666838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“I wouldn’t recommend Nagarro to our competitors—but for any organization looking for an agile and experienced partner to navigate the complexities of digital transformation and innovation, I would recommend Nagarro100%…”</a:t>
            </a:r>
            <a:endParaRPr lang="en-US" sz="1335" dirty="0"/>
          </a:p>
        </p:txBody>
      </p:sp>
      <p:sp>
        <p:nvSpPr>
          <p:cNvPr id="13" name="text-content"/>
          <p:cNvSpPr/>
          <p:nvPr/>
        </p:nvSpPr>
        <p:spPr>
          <a:xfrm>
            <a:off x="1866026" y="5260773"/>
            <a:ext cx="6668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Andreas Demetriou​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CIO of Alphamega​</a:t>
            </a:r>
            <a:endParaRPr lang="en-US" sz="1526" dirty="0"/>
          </a:p>
        </p:txBody>
      </p:sp>
      <p:sp>
        <p:nvSpPr>
          <p:cNvPr id="14" name="text-content"/>
          <p:cNvSpPr/>
          <p:nvPr/>
        </p:nvSpPr>
        <p:spPr>
          <a:xfrm>
            <a:off x="1866026" y="6069242"/>
            <a:ext cx="66683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“...we are looking forward to continuing the development…I feel honored to be working in such a great team ”​</a:t>
            </a:r>
            <a:endParaRPr lang="en-US" sz="1335" dirty="0"/>
          </a:p>
        </p:txBody>
      </p:sp>
      <p:sp>
        <p:nvSpPr>
          <p:cNvPr id="15" name="text-content"/>
          <p:cNvSpPr/>
          <p:nvPr/>
        </p:nvSpPr>
        <p:spPr>
          <a:xfrm>
            <a:off x="1866026" y="6666619"/>
            <a:ext cx="6668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Gunther Machu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Head of New Ventures Lab &amp; Senior VP, Hoerbiger​​</a:t>
            </a:r>
            <a:endParaRPr lang="en-US" sz="1526" dirty="0"/>
          </a:p>
        </p:txBody>
      </p:sp>
      <p:sp>
        <p:nvSpPr>
          <p:cNvPr id="16" name="text-content"/>
          <p:cNvSpPr/>
          <p:nvPr/>
        </p:nvSpPr>
        <p:spPr>
          <a:xfrm>
            <a:off x="1866026" y="7475088"/>
            <a:ext cx="666838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“We wanted our customers to self-service order information online. We have chosen Nagarro as an e-commerce partner around the world and had a wonderful experience working with them …”​</a:t>
            </a:r>
            <a:endParaRPr lang="en-US" sz="1335" dirty="0"/>
          </a:p>
        </p:txBody>
      </p:sp>
      <p:sp>
        <p:nvSpPr>
          <p:cNvPr id="17" name="text-content"/>
          <p:cNvSpPr/>
          <p:nvPr/>
        </p:nvSpPr>
        <p:spPr>
          <a:xfrm>
            <a:off x="1866026" y="8310590"/>
            <a:ext cx="6668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Jill Ullathorne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Director – Sales &amp; marketing,​ Croda</a:t>
            </a:r>
            <a:endParaRPr lang="en-US" sz="1526" dirty="0"/>
          </a:p>
        </p:txBody>
      </p:sp>
      <p:sp>
        <p:nvSpPr>
          <p:cNvPr id="18" name="text-content"/>
          <p:cNvSpPr/>
          <p:nvPr/>
        </p:nvSpPr>
        <p:spPr>
          <a:xfrm>
            <a:off x="10876669" y="3019427"/>
            <a:ext cx="662075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“…Nagarro played a key role in onboarding our acquired entities across the globe to HID’s unified Oracle platform. Nagarro has been extremely agile and followed a customer-centric approach...”​</a:t>
            </a:r>
            <a:endParaRPr lang="en-US" sz="1335" dirty="0"/>
          </a:p>
        </p:txBody>
      </p:sp>
      <p:sp>
        <p:nvSpPr>
          <p:cNvPr id="19" name="text-content"/>
          <p:cNvSpPr/>
          <p:nvPr/>
        </p:nvSpPr>
        <p:spPr>
          <a:xfrm>
            <a:off x="10876669" y="3854929"/>
            <a:ext cx="6620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Elizabeth Bayer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Sr. Director - Global Application,​ HID Global​</a:t>
            </a:r>
            <a:endParaRPr lang="en-US" sz="1526" dirty="0"/>
          </a:p>
        </p:txBody>
      </p:sp>
      <p:sp>
        <p:nvSpPr>
          <p:cNvPr id="20" name="text-content"/>
          <p:cNvSpPr/>
          <p:nvPr/>
        </p:nvSpPr>
        <p:spPr>
          <a:xfrm>
            <a:off x="10876669" y="4663398"/>
            <a:ext cx="662075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“…When Nagarro is given something, they own and run with it. When they deliver the solution, it’s not individual ownership but it’s  the ownership from the company...”</a:t>
            </a:r>
            <a:endParaRPr lang="en-US" sz="1335" dirty="0"/>
          </a:p>
        </p:txBody>
      </p:sp>
      <p:sp>
        <p:nvSpPr>
          <p:cNvPr id="21" name="text-content"/>
          <p:cNvSpPr/>
          <p:nvPr/>
        </p:nvSpPr>
        <p:spPr>
          <a:xfrm>
            <a:off x="10876669" y="5498900"/>
            <a:ext cx="6620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Fawad Ahmed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Director Data Analytics,​ Hood Industries</a:t>
            </a:r>
            <a:endParaRPr lang="en-US" sz="1526" dirty="0"/>
          </a:p>
        </p:txBody>
      </p:sp>
      <p:sp>
        <p:nvSpPr>
          <p:cNvPr id="22" name="text-content"/>
          <p:cNvSpPr/>
          <p:nvPr/>
        </p:nvSpPr>
        <p:spPr>
          <a:xfrm>
            <a:off x="10876669" y="6307369"/>
            <a:ext cx="662075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“We were looking for a technology partner to become an extension of our team. I would recommend Nagarro to any company looking for a true partner to help them evolve the digital platform…”</a:t>
            </a:r>
            <a:endParaRPr lang="en-US" sz="1335" dirty="0"/>
          </a:p>
        </p:txBody>
      </p:sp>
      <p:sp>
        <p:nvSpPr>
          <p:cNvPr id="23" name="text-content"/>
          <p:cNvSpPr/>
          <p:nvPr/>
        </p:nvSpPr>
        <p:spPr>
          <a:xfrm>
            <a:off x="10876669" y="7142871"/>
            <a:ext cx="6620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Lea Volpe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VP - Communications &amp; Community Relations, Huber​</a:t>
            </a:r>
            <a:endParaRPr lang="en-US" sz="1526" dirty="0"/>
          </a:p>
        </p:txBody>
      </p:sp>
      <p:sp>
        <p:nvSpPr>
          <p:cNvPr id="24" name="text-content"/>
          <p:cNvSpPr/>
          <p:nvPr/>
        </p:nvSpPr>
        <p:spPr>
          <a:xfrm>
            <a:off x="10876669" y="7951340"/>
            <a:ext cx="66207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335" i="1" dirty="0">
                <a:solidFill>
                  <a:srgbClr val="535457"/>
                </a:solidFill>
                <a:latin typeface="Equip Extended Italic" pitchFamily="34" charset="0"/>
                <a:ea typeface="Equip Extended Italic" pitchFamily="34" charset="-122"/>
                <a:cs typeface="Equip Extended Italic" pitchFamily="34" charset="-120"/>
              </a:rPr>
              <a:t>“…trusted relationship with Nagarro based on innovation, easy to work with, competency, problem-solving attitude and transparency…”</a:t>
            </a:r>
            <a:endParaRPr lang="en-US" sz="1335" dirty="0"/>
          </a:p>
        </p:txBody>
      </p:sp>
      <p:sp>
        <p:nvSpPr>
          <p:cNvPr id="25" name="text-content"/>
          <p:cNvSpPr/>
          <p:nvPr/>
        </p:nvSpPr>
        <p:spPr>
          <a:xfrm>
            <a:off x="10876669" y="8548717"/>
            <a:ext cx="6620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Stéphane Mermilliod
</a:t>
            </a:r>
            <a:r>
              <a:rPr lang="en-US" sz="1145" dirty="0">
                <a:solidFill>
                  <a:srgbClr val="000000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Vice President CPQ,​ Schneider Electric​</a:t>
            </a:r>
            <a:endParaRPr lang="en-US" sz="1526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93BF4299-CDEB-7C54-9B0F-B5F0BD6064A1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Project Name">
            <a:extLst>
              <a:ext uri="{FF2B5EF4-FFF2-40B4-BE49-F238E27FC236}">
                <a16:creationId xmlns:a16="http://schemas.microsoft.com/office/drawing/2014/main" id="{1EB893A8-5714-BE07-BE4C-4D5EB91B09CB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Month Year">
            <a:extLst>
              <a:ext uri="{FF2B5EF4-FFF2-40B4-BE49-F238E27FC236}">
                <a16:creationId xmlns:a16="http://schemas.microsoft.com/office/drawing/2014/main" id="{EA744312-0460-823C-6F2D-5FDB47ACF27B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2026">
            <a:extLst>
              <a:ext uri="{FF2B5EF4-FFF2-40B4-BE49-F238E27FC236}">
                <a16:creationId xmlns:a16="http://schemas.microsoft.com/office/drawing/2014/main" id="{EC824B86-6D39-FE51-420F-C9EB32E32A12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993C98B-3C15-7CBA-1D5A-B5E85BC43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9E6271-263D-59C3-1CE5-0CBFD98EA507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2D692A-E4D8-D96A-ACC4-303CE4D92186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EBD36E-9E50-C09D-E798-F564DD4C6178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636</Words>
  <Application>Microsoft Macintosh PowerPoint</Application>
  <PresentationFormat>Custom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Equip Extended Medium</vt:lpstr>
      <vt:lpstr>Equip Extended Bold</vt:lpstr>
      <vt:lpstr>Arial</vt:lpstr>
      <vt:lpstr>Equip Extended Italic</vt:lpstr>
      <vt:lpstr>Equip Extended Regular</vt:lpstr>
      <vt:lpstr>Equip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2026-06-02T12:16:53Z</dcterms:modified>
</cp:coreProperties>
</file>