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8288000" cy="10287000"/>
  <p:notesSz cx="10287000" cy="18288000"/>
  <p:embeddedFontLst>
    <p:embeddedFont>
      <p:font typeface="Equip Extended Medium" panose="02000603000000020004" pitchFamily="2" charset="77"/>
      <p:regular r:id="rId7"/>
      <p:italic r:id="rId8"/>
    </p:embeddedFont>
    <p:embeddedFont>
      <p:font typeface="Equip Extended Regular" panose="02000503030000020004" pitchFamily="2" charset="77"/>
      <p:regular r:id="rId9"/>
      <p:bold r:id="rId10"/>
      <p:italic r:id="rId11"/>
      <p:boldItalic r:id="rId12"/>
    </p:embeddedFont>
    <p:embeddedFont>
      <p:font typeface="Equip Regular" panose="02000503030000020004" pitchFamily="2" charset="77"/>
      <p:regular r:id="rId13"/>
      <p:bold r:id="rId14"/>
      <p:italic r:id="rId15"/>
      <p:boldItalic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98" userDrawn="1">
          <p15:clr>
            <a:srgbClr val="A4A3A4"/>
          </p15:clr>
        </p15:guide>
        <p15:guide id="2" pos="1102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716"/>
    <a:srgbClr val="A4EBD5"/>
    <a:srgbClr val="2C807C"/>
    <a:srgbClr val="FDF4D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92"/>
    <p:restoredTop sz="94610"/>
  </p:normalViewPr>
  <p:slideViewPr>
    <p:cSldViewPr snapToGrid="0" snapToObjects="1">
      <p:cViewPr>
        <p:scale>
          <a:sx n="55" d="100"/>
          <a:sy n="55" d="100"/>
        </p:scale>
        <p:origin x="1560" y="1000"/>
      </p:cViewPr>
      <p:guideLst>
        <p:guide pos="498"/>
        <p:guide pos="11022"/>
        <p:guide orient="horz" pos="32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0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10" Type="http://schemas.openxmlformats.org/officeDocument/2006/relationships/font" Target="fonts/font4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0411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3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timeline layout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00100" y="2333625"/>
            <a:ext cx="16687800" cy="6238875"/>
          </a:xfrm>
          <a:prstGeom prst="rect">
            <a:avLst/>
          </a:prstGeom>
        </p:spPr>
      </p:pic>
      <p:pic>
        <p:nvPicPr>
          <p:cNvPr id="4" name="content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9898" y="2762250"/>
            <a:ext cx="16687800" cy="5810250"/>
          </a:xfrm>
          <a:prstGeom prst="rect">
            <a:avLst/>
          </a:prstGeom>
        </p:spPr>
      </p:pic>
      <p:sp>
        <p:nvSpPr>
          <p:cNvPr id="9" name="Week 1"/>
          <p:cNvSpPr/>
          <p:nvPr/>
        </p:nvSpPr>
        <p:spPr>
          <a:xfrm>
            <a:off x="904198" y="2333625"/>
            <a:ext cx="5429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8893A5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Week 1</a:t>
            </a:r>
            <a:endParaRPr lang="en-US" sz="1200" dirty="0"/>
          </a:p>
        </p:txBody>
      </p:sp>
      <p:sp>
        <p:nvSpPr>
          <p:cNvPr id="10" name="Week 2"/>
          <p:cNvSpPr/>
          <p:nvPr/>
        </p:nvSpPr>
        <p:spPr>
          <a:xfrm>
            <a:off x="2990173" y="2333625"/>
            <a:ext cx="5429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8893A5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Week 2</a:t>
            </a:r>
            <a:endParaRPr lang="en-US" sz="1200" dirty="0"/>
          </a:p>
        </p:txBody>
      </p:sp>
      <p:sp>
        <p:nvSpPr>
          <p:cNvPr id="11" name="Week 3"/>
          <p:cNvSpPr/>
          <p:nvPr/>
        </p:nvSpPr>
        <p:spPr>
          <a:xfrm>
            <a:off x="5076148" y="2333625"/>
            <a:ext cx="5429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8893A5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Week 3</a:t>
            </a:r>
            <a:endParaRPr lang="en-US" sz="1200" dirty="0"/>
          </a:p>
        </p:txBody>
      </p:sp>
      <p:sp>
        <p:nvSpPr>
          <p:cNvPr id="12" name="Week 4"/>
          <p:cNvSpPr/>
          <p:nvPr/>
        </p:nvSpPr>
        <p:spPr>
          <a:xfrm>
            <a:off x="7162123" y="2333625"/>
            <a:ext cx="5429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8893A5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Week 4</a:t>
            </a:r>
            <a:endParaRPr lang="en-US" sz="1200" dirty="0"/>
          </a:p>
        </p:txBody>
      </p:sp>
      <p:sp>
        <p:nvSpPr>
          <p:cNvPr id="13" name="Week 5"/>
          <p:cNvSpPr/>
          <p:nvPr/>
        </p:nvSpPr>
        <p:spPr>
          <a:xfrm>
            <a:off x="9248098" y="2333625"/>
            <a:ext cx="5429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8893A5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Week 5</a:t>
            </a:r>
            <a:endParaRPr lang="en-US" sz="1200" dirty="0"/>
          </a:p>
        </p:txBody>
      </p:sp>
      <p:sp>
        <p:nvSpPr>
          <p:cNvPr id="14" name="Week 6"/>
          <p:cNvSpPr/>
          <p:nvPr/>
        </p:nvSpPr>
        <p:spPr>
          <a:xfrm>
            <a:off x="11334073" y="2333625"/>
            <a:ext cx="5429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8893A5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Week 6</a:t>
            </a:r>
            <a:endParaRPr lang="en-US" sz="1200" dirty="0"/>
          </a:p>
        </p:txBody>
      </p:sp>
      <p:sp>
        <p:nvSpPr>
          <p:cNvPr id="15" name="Week 7"/>
          <p:cNvSpPr/>
          <p:nvPr/>
        </p:nvSpPr>
        <p:spPr>
          <a:xfrm>
            <a:off x="13420048" y="2333625"/>
            <a:ext cx="5429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8893A5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Week 7</a:t>
            </a:r>
            <a:endParaRPr lang="en-US" sz="1200" dirty="0"/>
          </a:p>
        </p:txBody>
      </p:sp>
      <p:sp>
        <p:nvSpPr>
          <p:cNvPr id="16" name="Week 8"/>
          <p:cNvSpPr/>
          <p:nvPr/>
        </p:nvSpPr>
        <p:spPr>
          <a:xfrm>
            <a:off x="15506023" y="2333625"/>
            <a:ext cx="5429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8893A5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Week 8</a:t>
            </a:r>
            <a:endParaRPr lang="en-US" sz="1200" dirty="0"/>
          </a:p>
        </p:txBody>
      </p:sp>
      <p:sp>
        <p:nvSpPr>
          <p:cNvPr id="17" name="Project Kick-Off"/>
          <p:cNvSpPr/>
          <p:nvPr/>
        </p:nvSpPr>
        <p:spPr>
          <a:xfrm>
            <a:off x="1075648" y="2890838"/>
            <a:ext cx="6667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13294B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Workshop</a:t>
            </a:r>
            <a:endParaRPr lang="en-US" sz="1050" dirty="0"/>
          </a:p>
        </p:txBody>
      </p:sp>
      <p:sp>
        <p:nvSpPr>
          <p:cNvPr id="18" name="Project Kick-Off"/>
          <p:cNvSpPr/>
          <p:nvPr/>
        </p:nvSpPr>
        <p:spPr>
          <a:xfrm>
            <a:off x="11505523" y="3405188"/>
            <a:ext cx="5143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13294B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Sprint 2</a:t>
            </a:r>
            <a:endParaRPr lang="en-US" sz="1050" dirty="0"/>
          </a:p>
        </p:txBody>
      </p:sp>
      <p:sp>
        <p:nvSpPr>
          <p:cNvPr id="19" name="Project Kick-Off"/>
          <p:cNvSpPr/>
          <p:nvPr/>
        </p:nvSpPr>
        <p:spPr>
          <a:xfrm>
            <a:off x="13591498" y="3919537"/>
            <a:ext cx="5143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13294B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Sprint 3</a:t>
            </a:r>
            <a:endParaRPr lang="en-US" sz="1050" dirty="0"/>
          </a:p>
        </p:txBody>
      </p:sp>
      <p:sp>
        <p:nvSpPr>
          <p:cNvPr id="20" name="Project Kick-Off"/>
          <p:cNvSpPr/>
          <p:nvPr/>
        </p:nvSpPr>
        <p:spPr>
          <a:xfrm>
            <a:off x="15677473" y="4433888"/>
            <a:ext cx="5143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13294B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Sprint 4</a:t>
            </a:r>
            <a:endParaRPr lang="en-US" sz="1050" dirty="0"/>
          </a:p>
        </p:txBody>
      </p:sp>
      <p:sp>
        <p:nvSpPr>
          <p:cNvPr id="30" name="Digital Design Strategy">
            <a:extLst>
              <a:ext uri="{FF2B5EF4-FFF2-40B4-BE49-F238E27FC236}">
                <a16:creationId xmlns:a16="http://schemas.microsoft.com/office/drawing/2014/main" id="{5ACC3B2B-C07C-66E2-E1F3-42803C849D60}"/>
              </a:ext>
            </a:extLst>
          </p:cNvPr>
          <p:cNvSpPr/>
          <p:nvPr/>
        </p:nvSpPr>
        <p:spPr>
          <a:xfrm>
            <a:off x="800100" y="9486900"/>
            <a:ext cx="1790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Digital Design Strategy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1" name="Project Name">
            <a:extLst>
              <a:ext uri="{FF2B5EF4-FFF2-40B4-BE49-F238E27FC236}">
                <a16:creationId xmlns:a16="http://schemas.microsoft.com/office/drawing/2014/main" id="{9070CC90-3DD1-8474-3D05-9A27571329AA}"/>
              </a:ext>
            </a:extLst>
          </p:cNvPr>
          <p:cNvSpPr/>
          <p:nvPr/>
        </p:nvSpPr>
        <p:spPr>
          <a:xfrm>
            <a:off x="6438900" y="9486900"/>
            <a:ext cx="1076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Project Name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2" name="Month Year">
            <a:extLst>
              <a:ext uri="{FF2B5EF4-FFF2-40B4-BE49-F238E27FC236}">
                <a16:creationId xmlns:a16="http://schemas.microsoft.com/office/drawing/2014/main" id="{49221A7D-29A2-887D-19DD-BC464595C72B}"/>
              </a:ext>
            </a:extLst>
          </p:cNvPr>
          <p:cNvSpPr/>
          <p:nvPr/>
        </p:nvSpPr>
        <p:spPr>
          <a:xfrm>
            <a:off x="12077700" y="9486900"/>
            <a:ext cx="914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Month Year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3" name="2026">
            <a:extLst>
              <a:ext uri="{FF2B5EF4-FFF2-40B4-BE49-F238E27FC236}">
                <a16:creationId xmlns:a16="http://schemas.microsoft.com/office/drawing/2014/main" id="{6BE88792-40A7-B270-A472-416C9C928B13}"/>
              </a:ext>
            </a:extLst>
          </p:cNvPr>
          <p:cNvSpPr/>
          <p:nvPr/>
        </p:nvSpPr>
        <p:spPr>
          <a:xfrm>
            <a:off x="16925925" y="9486900"/>
            <a:ext cx="590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© 2026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ECD3DE6A-65DB-24BF-93AB-DF8B27524F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2730" y="101077"/>
            <a:ext cx="2198820" cy="1649115"/>
          </a:xfrm>
          <a:prstGeom prst="rect">
            <a:avLst/>
          </a:prstGeom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E8E0429-C0A9-A996-DBCA-19E932B38BE6}"/>
              </a:ext>
            </a:extLst>
          </p:cNvPr>
          <p:cNvCxnSpPr>
            <a:cxnSpLocks/>
          </p:cNvCxnSpPr>
          <p:nvPr/>
        </p:nvCxnSpPr>
        <p:spPr>
          <a:xfrm>
            <a:off x="800098" y="9222477"/>
            <a:ext cx="5400000" cy="0"/>
          </a:xfrm>
          <a:prstGeom prst="line">
            <a:avLst/>
          </a:prstGeom>
          <a:ln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7E7EB45-F7C1-1F45-432E-1B0056D1C7C9}"/>
              </a:ext>
            </a:extLst>
          </p:cNvPr>
          <p:cNvCxnSpPr>
            <a:cxnSpLocks/>
          </p:cNvCxnSpPr>
          <p:nvPr/>
        </p:nvCxnSpPr>
        <p:spPr>
          <a:xfrm>
            <a:off x="12077698" y="9222477"/>
            <a:ext cx="5400000" cy="0"/>
          </a:xfrm>
          <a:prstGeom prst="line">
            <a:avLst/>
          </a:prstGeom>
          <a:ln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62637DD-06BB-5C67-DFF1-3CA479FECF4B}"/>
              </a:ext>
            </a:extLst>
          </p:cNvPr>
          <p:cNvCxnSpPr>
            <a:cxnSpLocks/>
          </p:cNvCxnSpPr>
          <p:nvPr/>
        </p:nvCxnSpPr>
        <p:spPr>
          <a:xfrm>
            <a:off x="6438898" y="9222477"/>
            <a:ext cx="5400000" cy="0"/>
          </a:xfrm>
          <a:prstGeom prst="line">
            <a:avLst/>
          </a:prstGeom>
          <a:ln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timeline layout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00100" y="2247900"/>
            <a:ext cx="16687800" cy="6238875"/>
          </a:xfrm>
          <a:prstGeom prst="rect">
            <a:avLst/>
          </a:prstGeom>
        </p:spPr>
      </p:pic>
      <p:pic>
        <p:nvPicPr>
          <p:cNvPr id="4" name="content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0100" y="2676525"/>
            <a:ext cx="16687800" cy="5810250"/>
          </a:xfrm>
          <a:prstGeom prst="rect">
            <a:avLst/>
          </a:prstGeom>
        </p:spPr>
      </p:pic>
      <p:sp>
        <p:nvSpPr>
          <p:cNvPr id="9" name="Week 1"/>
          <p:cNvSpPr/>
          <p:nvPr/>
        </p:nvSpPr>
        <p:spPr>
          <a:xfrm>
            <a:off x="914400" y="2247900"/>
            <a:ext cx="5429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8893A5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Week 1</a:t>
            </a:r>
            <a:endParaRPr lang="en-US" sz="1200" dirty="0"/>
          </a:p>
        </p:txBody>
      </p:sp>
      <p:sp>
        <p:nvSpPr>
          <p:cNvPr id="10" name="Week 2"/>
          <p:cNvSpPr/>
          <p:nvPr/>
        </p:nvSpPr>
        <p:spPr>
          <a:xfrm>
            <a:off x="5086350" y="2247900"/>
            <a:ext cx="5429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8893A5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Week 2</a:t>
            </a:r>
            <a:endParaRPr lang="en-US" sz="1200" dirty="0"/>
          </a:p>
        </p:txBody>
      </p:sp>
      <p:sp>
        <p:nvSpPr>
          <p:cNvPr id="11" name="Week 3"/>
          <p:cNvSpPr/>
          <p:nvPr/>
        </p:nvSpPr>
        <p:spPr>
          <a:xfrm>
            <a:off x="9258300" y="2247900"/>
            <a:ext cx="5429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8893A5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Week 3</a:t>
            </a:r>
            <a:endParaRPr lang="en-US" sz="1200" dirty="0"/>
          </a:p>
        </p:txBody>
      </p:sp>
      <p:sp>
        <p:nvSpPr>
          <p:cNvPr id="12" name="Week 4"/>
          <p:cNvSpPr/>
          <p:nvPr/>
        </p:nvSpPr>
        <p:spPr>
          <a:xfrm>
            <a:off x="13430250" y="2247900"/>
            <a:ext cx="5429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8893A5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Week 4</a:t>
            </a:r>
            <a:endParaRPr lang="en-US" sz="1200" dirty="0"/>
          </a:p>
        </p:txBody>
      </p:sp>
      <p:sp>
        <p:nvSpPr>
          <p:cNvPr id="13" name="Workshop"/>
          <p:cNvSpPr/>
          <p:nvPr/>
        </p:nvSpPr>
        <p:spPr>
          <a:xfrm>
            <a:off x="1162050" y="2905125"/>
            <a:ext cx="1676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spcAft>
                <a:spcPts val="2100"/>
              </a:spcAft>
              <a:buNone/>
            </a:pPr>
            <a:r>
              <a:rPr lang="en-US" sz="2400" dirty="0">
                <a:solidFill>
                  <a:srgbClr val="13294B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Workshop</a:t>
            </a:r>
            <a:endParaRPr lang="en-US" sz="2400" dirty="0"/>
          </a:p>
        </p:txBody>
      </p:sp>
      <p:sp>
        <p:nvSpPr>
          <p:cNvPr id="14" name="Project Steps  Points go here"/>
          <p:cNvSpPr/>
          <p:nvPr/>
        </p:nvSpPr>
        <p:spPr>
          <a:xfrm>
            <a:off x="1028700" y="7067550"/>
            <a:ext cx="2305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200" dirty="0">
                <a:solidFill>
                  <a:srgbClr val="4E5E78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Project Steps / Points go here</a:t>
            </a:r>
            <a:endParaRPr lang="en-US" sz="1200" dirty="0"/>
          </a:p>
        </p:txBody>
      </p:sp>
      <p:sp>
        <p:nvSpPr>
          <p:cNvPr id="15" name="Project Kick-Off"/>
          <p:cNvSpPr/>
          <p:nvPr/>
        </p:nvSpPr>
        <p:spPr>
          <a:xfrm>
            <a:off x="9458325" y="7805738"/>
            <a:ext cx="12477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spcAft>
                <a:spcPts val="2100"/>
              </a:spcAft>
              <a:buNone/>
            </a:pPr>
            <a:r>
              <a:rPr lang="en-US" sz="2400" dirty="0">
                <a:solidFill>
                  <a:srgbClr val="205463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Sprint 3</a:t>
            </a:r>
            <a:endParaRPr lang="en-US" sz="2400" dirty="0"/>
          </a:p>
        </p:txBody>
      </p:sp>
      <p:sp>
        <p:nvSpPr>
          <p:cNvPr id="2" name="Digital Design Strategy">
            <a:extLst>
              <a:ext uri="{FF2B5EF4-FFF2-40B4-BE49-F238E27FC236}">
                <a16:creationId xmlns:a16="http://schemas.microsoft.com/office/drawing/2014/main" id="{E403EBE4-525A-AFD6-7D5C-4EE9D16164FA}"/>
              </a:ext>
            </a:extLst>
          </p:cNvPr>
          <p:cNvSpPr/>
          <p:nvPr/>
        </p:nvSpPr>
        <p:spPr>
          <a:xfrm>
            <a:off x="800100" y="9486900"/>
            <a:ext cx="1790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Digital Design Strategy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Project Name">
            <a:extLst>
              <a:ext uri="{FF2B5EF4-FFF2-40B4-BE49-F238E27FC236}">
                <a16:creationId xmlns:a16="http://schemas.microsoft.com/office/drawing/2014/main" id="{B1DB2AE8-E120-5697-41DA-ECB15ACB6046}"/>
              </a:ext>
            </a:extLst>
          </p:cNvPr>
          <p:cNvSpPr/>
          <p:nvPr/>
        </p:nvSpPr>
        <p:spPr>
          <a:xfrm>
            <a:off x="6438900" y="9486900"/>
            <a:ext cx="1076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Project Name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Month Year">
            <a:extLst>
              <a:ext uri="{FF2B5EF4-FFF2-40B4-BE49-F238E27FC236}">
                <a16:creationId xmlns:a16="http://schemas.microsoft.com/office/drawing/2014/main" id="{14CCAD5D-C076-DD24-E504-B7619237737A}"/>
              </a:ext>
            </a:extLst>
          </p:cNvPr>
          <p:cNvSpPr/>
          <p:nvPr/>
        </p:nvSpPr>
        <p:spPr>
          <a:xfrm>
            <a:off x="12077700" y="9486900"/>
            <a:ext cx="914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Month Year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2026">
            <a:extLst>
              <a:ext uri="{FF2B5EF4-FFF2-40B4-BE49-F238E27FC236}">
                <a16:creationId xmlns:a16="http://schemas.microsoft.com/office/drawing/2014/main" id="{4457B150-9739-65B9-FEDC-192BCFD1E7AE}"/>
              </a:ext>
            </a:extLst>
          </p:cNvPr>
          <p:cNvSpPr/>
          <p:nvPr/>
        </p:nvSpPr>
        <p:spPr>
          <a:xfrm>
            <a:off x="16925925" y="9486900"/>
            <a:ext cx="590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© 2026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CFF0129-58EF-42B1-1EA4-2ACB4081D1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2730" y="101077"/>
            <a:ext cx="2198820" cy="1649115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2C700F0-70C5-34AE-6EF4-ECE0BE7317CB}"/>
              </a:ext>
            </a:extLst>
          </p:cNvPr>
          <p:cNvCxnSpPr>
            <a:cxnSpLocks/>
          </p:cNvCxnSpPr>
          <p:nvPr/>
        </p:nvCxnSpPr>
        <p:spPr>
          <a:xfrm>
            <a:off x="800098" y="9222477"/>
            <a:ext cx="5400000" cy="0"/>
          </a:xfrm>
          <a:prstGeom prst="line">
            <a:avLst/>
          </a:prstGeom>
          <a:ln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51D56A0-353B-F78C-E0B9-963231328AE1}"/>
              </a:ext>
            </a:extLst>
          </p:cNvPr>
          <p:cNvCxnSpPr>
            <a:cxnSpLocks/>
          </p:cNvCxnSpPr>
          <p:nvPr/>
        </p:nvCxnSpPr>
        <p:spPr>
          <a:xfrm>
            <a:off x="12077698" y="9222477"/>
            <a:ext cx="5400000" cy="0"/>
          </a:xfrm>
          <a:prstGeom prst="line">
            <a:avLst/>
          </a:prstGeom>
          <a:ln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4BA6113-B0A3-9C04-218E-CE3F2C971DC1}"/>
              </a:ext>
            </a:extLst>
          </p:cNvPr>
          <p:cNvCxnSpPr>
            <a:cxnSpLocks/>
          </p:cNvCxnSpPr>
          <p:nvPr/>
        </p:nvCxnSpPr>
        <p:spPr>
          <a:xfrm>
            <a:off x="6438898" y="9222477"/>
            <a:ext cx="5400000" cy="0"/>
          </a:xfrm>
          <a:prstGeom prst="line">
            <a:avLst/>
          </a:prstGeom>
          <a:ln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ell-text"/>
          <p:cNvSpPr/>
          <p:nvPr/>
        </p:nvSpPr>
        <p:spPr>
          <a:xfrm>
            <a:off x="795599" y="3152775"/>
            <a:ext cx="1200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667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4E5E78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Milestone</a:t>
            </a:r>
            <a:endParaRPr lang="en-US" sz="1500" dirty="0"/>
          </a:p>
        </p:txBody>
      </p:sp>
      <p:sp>
        <p:nvSpPr>
          <p:cNvPr id="8" name="cell-text"/>
          <p:cNvSpPr/>
          <p:nvPr/>
        </p:nvSpPr>
        <p:spPr>
          <a:xfrm>
            <a:off x="2209800" y="3152775"/>
            <a:ext cx="4257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667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4E5E78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What BRAND receives</a:t>
            </a:r>
            <a:endParaRPr lang="en-US" sz="1500" dirty="0"/>
          </a:p>
        </p:txBody>
      </p:sp>
      <p:sp>
        <p:nvSpPr>
          <p:cNvPr id="9" name="cell-text"/>
          <p:cNvSpPr/>
          <p:nvPr/>
        </p:nvSpPr>
        <p:spPr>
          <a:xfrm>
            <a:off x="6677025" y="3152775"/>
            <a:ext cx="4962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667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4E5E78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Key dependencies</a:t>
            </a:r>
            <a:endParaRPr lang="en-US" sz="1500" dirty="0"/>
          </a:p>
        </p:txBody>
      </p:sp>
      <p:sp>
        <p:nvSpPr>
          <p:cNvPr id="10" name="cell-text"/>
          <p:cNvSpPr/>
          <p:nvPr/>
        </p:nvSpPr>
        <p:spPr>
          <a:xfrm>
            <a:off x="11849100" y="3152775"/>
            <a:ext cx="507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667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4E5E78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Approval outcome</a:t>
            </a:r>
            <a:endParaRPr lang="en-US" sz="1500" dirty="0"/>
          </a:p>
        </p:txBody>
      </p:sp>
      <p:sp>
        <p:nvSpPr>
          <p:cNvPr id="11" name="cell-text"/>
          <p:cNvSpPr/>
          <p:nvPr/>
        </p:nvSpPr>
        <p:spPr>
          <a:xfrm>
            <a:off x="795599" y="4067175"/>
            <a:ext cx="1200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kern="0" spc="-75" dirty="0">
                <a:solidFill>
                  <a:srgbClr val="4E5E78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M1</a:t>
            </a:r>
            <a:endParaRPr lang="en-US" sz="1800" dirty="0"/>
          </a:p>
        </p:txBody>
      </p:sp>
      <p:sp>
        <p:nvSpPr>
          <p:cNvPr id="12" name="cell-text"/>
          <p:cNvSpPr/>
          <p:nvPr/>
        </p:nvSpPr>
        <p:spPr>
          <a:xfrm>
            <a:off x="2209800" y="4067175"/>
            <a:ext cx="425767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010716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Product vision and direction, platform analysis findings, journey hypotheses and opportunity mapping, IA direction, UX principles, low-fidelity wireframes for priority journeys, initial usability testing results and UX metrics</a:t>
            </a:r>
            <a:endParaRPr lang="en-US" sz="1200" dirty="0"/>
          </a:p>
        </p:txBody>
      </p:sp>
      <p:sp>
        <p:nvSpPr>
          <p:cNvPr id="13" name="cell-text"/>
          <p:cNvSpPr/>
          <p:nvPr/>
        </p:nvSpPr>
        <p:spPr>
          <a:xfrm>
            <a:off x="2209800" y="5362575"/>
            <a:ext cx="425767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010716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Frontend foundations ready: repo setup, token pipeline, theming approach, component structure, linting / CI checks, environment readiness, implementation approach aligned to the existing stack</a:t>
            </a:r>
            <a:endParaRPr lang="en-US" sz="1200" dirty="0"/>
          </a:p>
        </p:txBody>
      </p:sp>
      <p:sp>
        <p:nvSpPr>
          <p:cNvPr id="14" name="cell-text"/>
          <p:cNvSpPr/>
          <p:nvPr/>
        </p:nvSpPr>
        <p:spPr>
          <a:xfrm>
            <a:off x="2209800" y="6657975"/>
            <a:ext cx="425767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010716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Designs for priority journeys across Android, iOS, mSite, and desktop, initial design direction and visual language, initial core UI components, updated testing insights for priority flows</a:t>
            </a:r>
            <a:endParaRPr lang="en-US" sz="1200" dirty="0"/>
          </a:p>
        </p:txBody>
      </p:sp>
      <p:sp>
        <p:nvSpPr>
          <p:cNvPr id="15" name="cell-text"/>
          <p:cNvSpPr/>
          <p:nvPr/>
        </p:nvSpPr>
        <p:spPr>
          <a:xfrm>
            <a:off x="2209800" y="7953375"/>
            <a:ext cx="425767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010716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Final UI direction, visual design system, storefront expressions, edge-case and extreme-case coverage, accessibility review at design stage, matured tokens and component definitions, usability evidence.</a:t>
            </a:r>
            <a:endParaRPr lang="en-US" sz="1200" dirty="0"/>
          </a:p>
        </p:txBody>
      </p:sp>
      <p:sp>
        <p:nvSpPr>
          <p:cNvPr id="16" name="cell-text"/>
          <p:cNvSpPr/>
          <p:nvPr/>
        </p:nvSpPr>
        <p:spPr>
          <a:xfrm>
            <a:off x="795599" y="5362575"/>
            <a:ext cx="1200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kern="0" spc="-75" dirty="0">
                <a:solidFill>
                  <a:srgbClr val="4E5E78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IM1</a:t>
            </a:r>
            <a:endParaRPr lang="en-US" sz="1800" dirty="0"/>
          </a:p>
        </p:txBody>
      </p:sp>
      <p:sp>
        <p:nvSpPr>
          <p:cNvPr id="17" name="cell-text"/>
          <p:cNvSpPr/>
          <p:nvPr/>
        </p:nvSpPr>
        <p:spPr>
          <a:xfrm>
            <a:off x="795599" y="6657975"/>
            <a:ext cx="1200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kern="0" spc="-75" dirty="0">
                <a:solidFill>
                  <a:srgbClr val="4E5E78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M2</a:t>
            </a:r>
            <a:endParaRPr lang="en-US" sz="1800" dirty="0"/>
          </a:p>
        </p:txBody>
      </p:sp>
      <p:sp>
        <p:nvSpPr>
          <p:cNvPr id="18" name="cell-text"/>
          <p:cNvSpPr/>
          <p:nvPr/>
        </p:nvSpPr>
        <p:spPr>
          <a:xfrm>
            <a:off x="795599" y="7953375"/>
            <a:ext cx="1200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kern="0" spc="-75" dirty="0">
                <a:solidFill>
                  <a:srgbClr val="4E5E78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M3</a:t>
            </a:r>
            <a:endParaRPr lang="en-US" sz="1800" dirty="0"/>
          </a:p>
        </p:txBody>
      </p:sp>
      <p:sp>
        <p:nvSpPr>
          <p:cNvPr id="19" name="cell-text"/>
          <p:cNvSpPr/>
          <p:nvPr/>
        </p:nvSpPr>
        <p:spPr>
          <a:xfrm>
            <a:off x="6677025" y="4067175"/>
            <a:ext cx="496252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010716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Discovery inputs, access to current flows and analytics, existing design/assets, priority scope alignment, user-testing recruitment and scheduling, timely AJIO review and approval</a:t>
            </a:r>
            <a:endParaRPr lang="en-US" sz="1200" dirty="0"/>
          </a:p>
        </p:txBody>
      </p:sp>
      <p:sp>
        <p:nvSpPr>
          <p:cNvPr id="20" name="cell-text"/>
          <p:cNvSpPr/>
          <p:nvPr/>
        </p:nvSpPr>
        <p:spPr>
          <a:xfrm>
            <a:off x="11849100" y="4067175"/>
            <a:ext cx="51149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010716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IA, UX principles, and priority journeys are tested and formally approved</a:t>
            </a:r>
            <a:endParaRPr lang="en-US" sz="1200" dirty="0"/>
          </a:p>
        </p:txBody>
      </p:sp>
      <p:sp>
        <p:nvSpPr>
          <p:cNvPr id="21" name="cell-text"/>
          <p:cNvSpPr/>
          <p:nvPr/>
        </p:nvSpPr>
        <p:spPr>
          <a:xfrm>
            <a:off x="6677025" y="5362575"/>
            <a:ext cx="496252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010716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M1 direction sufficiently stable, access to current frontend architecture, alignment with AJIO / vendor engineering, component model and token logic available, environment and pipeline access</a:t>
            </a:r>
            <a:endParaRPr lang="en-US" sz="1200" dirty="0"/>
          </a:p>
        </p:txBody>
      </p:sp>
      <p:sp>
        <p:nvSpPr>
          <p:cNvPr id="22" name="cell-text"/>
          <p:cNvSpPr/>
          <p:nvPr/>
        </p:nvSpPr>
        <p:spPr>
          <a:xfrm>
            <a:off x="11849100" y="5362575"/>
            <a:ext cx="5076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010716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Frontend foundations are established and ready to support implementation of approved journeys</a:t>
            </a:r>
            <a:endParaRPr lang="en-US" sz="1200" dirty="0"/>
          </a:p>
        </p:txBody>
      </p:sp>
      <p:sp>
        <p:nvSpPr>
          <p:cNvPr id="23" name="cell-text"/>
          <p:cNvSpPr/>
          <p:nvPr/>
        </p:nvSpPr>
        <p:spPr>
          <a:xfrm>
            <a:off x="6677025" y="6657975"/>
            <a:ext cx="496252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010716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M1 approved, platform constraints and responsive logic confirmed, alignment on what constitutes “core journeys,” timely design reviews, no major scope expansion after M1</a:t>
            </a:r>
            <a:endParaRPr lang="en-US" sz="1200" dirty="0"/>
          </a:p>
        </p:txBody>
      </p:sp>
      <p:sp>
        <p:nvSpPr>
          <p:cNvPr id="24" name="cell-text"/>
          <p:cNvSpPr/>
          <p:nvPr/>
        </p:nvSpPr>
        <p:spPr>
          <a:xfrm>
            <a:off x="11849100" y="6657975"/>
            <a:ext cx="5076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010716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Priority journeys are fully designed across platforms, validated, and approved</a:t>
            </a:r>
            <a:endParaRPr lang="en-US" sz="1200" dirty="0"/>
          </a:p>
        </p:txBody>
      </p:sp>
      <p:sp>
        <p:nvSpPr>
          <p:cNvPr id="25" name="cell-text"/>
          <p:cNvSpPr/>
          <p:nvPr/>
        </p:nvSpPr>
        <p:spPr>
          <a:xfrm>
            <a:off x="11849100" y="7953375"/>
            <a:ext cx="5076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010716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Final UI and visual design system are approved for the core release scope</a:t>
            </a:r>
            <a:endParaRPr lang="en-US" sz="1200" dirty="0"/>
          </a:p>
        </p:txBody>
      </p:sp>
      <p:sp>
        <p:nvSpPr>
          <p:cNvPr id="26" name="cell-text"/>
          <p:cNvSpPr/>
          <p:nvPr/>
        </p:nvSpPr>
        <p:spPr>
          <a:xfrm>
            <a:off x="6677025" y="7953375"/>
            <a:ext cx="496252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010716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M2 approved, stable visual direction, storefront logic aligned, edge and exception scenarios confirmed, design system foundation sufficiently stable</a:t>
            </a:r>
            <a:endParaRPr lang="en-US" sz="1200" dirty="0"/>
          </a:p>
        </p:txBody>
      </p:sp>
      <p:sp>
        <p:nvSpPr>
          <p:cNvPr id="27" name="table-title"/>
          <p:cNvSpPr/>
          <p:nvPr/>
        </p:nvSpPr>
        <p:spPr>
          <a:xfrm>
            <a:off x="795521" y="1714500"/>
            <a:ext cx="167068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4800" kern="0" spc="-112" dirty="0">
                <a:solidFill>
                  <a:srgbClr val="010716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Milestone Outputs &amp; Dependencies</a:t>
            </a:r>
            <a:endParaRPr lang="en-US" sz="4800" dirty="0"/>
          </a:p>
        </p:txBody>
      </p:sp>
      <p:sp>
        <p:nvSpPr>
          <p:cNvPr id="2" name="Digital Design Strategy">
            <a:extLst>
              <a:ext uri="{FF2B5EF4-FFF2-40B4-BE49-F238E27FC236}">
                <a16:creationId xmlns:a16="http://schemas.microsoft.com/office/drawing/2014/main" id="{0F28C26E-E2E8-2FDE-8DAF-B14064EE6014}"/>
              </a:ext>
            </a:extLst>
          </p:cNvPr>
          <p:cNvSpPr/>
          <p:nvPr/>
        </p:nvSpPr>
        <p:spPr>
          <a:xfrm>
            <a:off x="800100" y="9486900"/>
            <a:ext cx="1790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Digital Design Strategy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Project Name">
            <a:extLst>
              <a:ext uri="{FF2B5EF4-FFF2-40B4-BE49-F238E27FC236}">
                <a16:creationId xmlns:a16="http://schemas.microsoft.com/office/drawing/2014/main" id="{0F323B99-9179-BE86-ACD2-3BB26E7CC329}"/>
              </a:ext>
            </a:extLst>
          </p:cNvPr>
          <p:cNvSpPr/>
          <p:nvPr/>
        </p:nvSpPr>
        <p:spPr>
          <a:xfrm>
            <a:off x="6438900" y="9486900"/>
            <a:ext cx="1076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Project Name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Month Year">
            <a:extLst>
              <a:ext uri="{FF2B5EF4-FFF2-40B4-BE49-F238E27FC236}">
                <a16:creationId xmlns:a16="http://schemas.microsoft.com/office/drawing/2014/main" id="{18E17F23-74C0-6B50-7041-249E02F635F9}"/>
              </a:ext>
            </a:extLst>
          </p:cNvPr>
          <p:cNvSpPr/>
          <p:nvPr/>
        </p:nvSpPr>
        <p:spPr>
          <a:xfrm>
            <a:off x="12077700" y="9486900"/>
            <a:ext cx="914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Month Year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2026">
            <a:extLst>
              <a:ext uri="{FF2B5EF4-FFF2-40B4-BE49-F238E27FC236}">
                <a16:creationId xmlns:a16="http://schemas.microsoft.com/office/drawing/2014/main" id="{94029A04-BCF3-1975-36EE-8C99FF38ED2B}"/>
              </a:ext>
            </a:extLst>
          </p:cNvPr>
          <p:cNvSpPr/>
          <p:nvPr/>
        </p:nvSpPr>
        <p:spPr>
          <a:xfrm>
            <a:off x="16925925" y="9486900"/>
            <a:ext cx="590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© 2026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7E4A870-3065-9AF8-E1A7-E45E0EB074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2730" y="101077"/>
            <a:ext cx="2198820" cy="1649115"/>
          </a:xfrm>
          <a:prstGeom prst="rect">
            <a:avLst/>
          </a:prstGeom>
        </p:spPr>
      </p:pic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DBCA54B-67F0-83FD-D6F9-85184971B644}"/>
              </a:ext>
            </a:extLst>
          </p:cNvPr>
          <p:cNvCxnSpPr>
            <a:cxnSpLocks/>
          </p:cNvCxnSpPr>
          <p:nvPr/>
        </p:nvCxnSpPr>
        <p:spPr>
          <a:xfrm>
            <a:off x="800098" y="9222477"/>
            <a:ext cx="5400000" cy="0"/>
          </a:xfrm>
          <a:prstGeom prst="line">
            <a:avLst/>
          </a:prstGeom>
          <a:ln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E05BDD4-249E-1A8D-1DCD-04BE7BA0AC7D}"/>
              </a:ext>
            </a:extLst>
          </p:cNvPr>
          <p:cNvCxnSpPr>
            <a:cxnSpLocks/>
          </p:cNvCxnSpPr>
          <p:nvPr/>
        </p:nvCxnSpPr>
        <p:spPr>
          <a:xfrm>
            <a:off x="12077698" y="9222477"/>
            <a:ext cx="5400000" cy="0"/>
          </a:xfrm>
          <a:prstGeom prst="line">
            <a:avLst/>
          </a:prstGeom>
          <a:ln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D566FAA-CB47-274F-8D44-A1F2EDE1F298}"/>
              </a:ext>
            </a:extLst>
          </p:cNvPr>
          <p:cNvCxnSpPr>
            <a:cxnSpLocks/>
          </p:cNvCxnSpPr>
          <p:nvPr/>
        </p:nvCxnSpPr>
        <p:spPr>
          <a:xfrm>
            <a:off x="6438898" y="9222477"/>
            <a:ext cx="5400000" cy="0"/>
          </a:xfrm>
          <a:prstGeom prst="line">
            <a:avLst/>
          </a:prstGeom>
          <a:ln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Timeframe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55343" y="3124199"/>
            <a:ext cx="17211675" cy="5800725"/>
          </a:xfrm>
          <a:prstGeom prst="rect">
            <a:avLst/>
          </a:prstGeom>
        </p:spPr>
      </p:pic>
      <p:pic>
        <p:nvPicPr>
          <p:cNvPr id="4" name="Timeline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57488" y="3606798"/>
            <a:ext cx="2678432" cy="1060450"/>
          </a:xfrm>
          <a:prstGeom prst="rect">
            <a:avLst/>
          </a:prstGeom>
        </p:spPr>
      </p:pic>
      <p:pic>
        <p:nvPicPr>
          <p:cNvPr id="5" name="Timeline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57488" y="5790563"/>
            <a:ext cx="2678432" cy="860425"/>
          </a:xfrm>
          <a:prstGeom prst="rect">
            <a:avLst/>
          </a:prstGeom>
        </p:spPr>
      </p:pic>
      <p:pic>
        <p:nvPicPr>
          <p:cNvPr id="6" name="Timeline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57488" y="4801233"/>
            <a:ext cx="2678432" cy="860425"/>
          </a:xfrm>
          <a:prstGeom prst="rect">
            <a:avLst/>
          </a:prstGeom>
        </p:spPr>
      </p:pic>
      <p:pic>
        <p:nvPicPr>
          <p:cNvPr id="7" name="Timeline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138946" y="3606798"/>
            <a:ext cx="5417186" cy="860425"/>
          </a:xfrm>
          <a:prstGeom prst="rect">
            <a:avLst/>
          </a:prstGeom>
        </p:spPr>
      </p:pic>
      <p:pic>
        <p:nvPicPr>
          <p:cNvPr id="8" name="Timeline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985796" y="3606798"/>
            <a:ext cx="2690496" cy="1679575"/>
          </a:xfrm>
          <a:prstGeom prst="rect">
            <a:avLst/>
          </a:prstGeom>
        </p:spPr>
      </p:pic>
      <p:pic>
        <p:nvPicPr>
          <p:cNvPr id="9" name="Timeline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985796" y="5428613"/>
            <a:ext cx="2690496" cy="1327150"/>
          </a:xfrm>
          <a:prstGeom prst="rect">
            <a:avLst/>
          </a:prstGeom>
        </p:spPr>
      </p:pic>
      <p:pic>
        <p:nvPicPr>
          <p:cNvPr id="10" name="Timeline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026178" y="3606798"/>
            <a:ext cx="2750820" cy="1460500"/>
          </a:xfrm>
          <a:prstGeom prst="rect">
            <a:avLst/>
          </a:prstGeom>
        </p:spPr>
      </p:pic>
      <p:pic>
        <p:nvPicPr>
          <p:cNvPr id="11" name="Timeline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138946" y="4596129"/>
            <a:ext cx="5417186" cy="860425"/>
          </a:xfrm>
          <a:prstGeom prst="rect">
            <a:avLst/>
          </a:prstGeom>
        </p:spPr>
      </p:pic>
      <p:sp>
        <p:nvSpPr>
          <p:cNvPr id="16" name="column-label"/>
          <p:cNvSpPr/>
          <p:nvPr/>
        </p:nvSpPr>
        <p:spPr>
          <a:xfrm>
            <a:off x="957488" y="3124199"/>
            <a:ext cx="5238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2280"/>
              </a:spcAft>
              <a:buNone/>
            </a:pPr>
            <a:r>
              <a:rPr lang="en-US" sz="1520" dirty="0">
                <a:solidFill>
                  <a:srgbClr val="8893A5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Day 1</a:t>
            </a:r>
            <a:endParaRPr lang="en-US" sz="1520" dirty="0"/>
          </a:p>
        </p:txBody>
      </p:sp>
      <p:sp>
        <p:nvSpPr>
          <p:cNvPr id="17" name="column-label"/>
          <p:cNvSpPr/>
          <p:nvPr/>
        </p:nvSpPr>
        <p:spPr>
          <a:xfrm>
            <a:off x="4026817" y="3124199"/>
            <a:ext cx="5238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2280"/>
              </a:spcAft>
              <a:buNone/>
            </a:pPr>
            <a:r>
              <a:rPr lang="en-US" sz="1520" dirty="0">
                <a:solidFill>
                  <a:srgbClr val="8893A5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Day 2</a:t>
            </a:r>
            <a:endParaRPr lang="en-US" sz="1520" dirty="0"/>
          </a:p>
        </p:txBody>
      </p:sp>
      <p:sp>
        <p:nvSpPr>
          <p:cNvPr id="18" name="column-label"/>
          <p:cNvSpPr/>
          <p:nvPr/>
        </p:nvSpPr>
        <p:spPr>
          <a:xfrm>
            <a:off x="7096155" y="3124199"/>
            <a:ext cx="5238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2280"/>
              </a:spcAft>
              <a:buNone/>
            </a:pPr>
            <a:r>
              <a:rPr lang="en-US" sz="1520" dirty="0">
                <a:solidFill>
                  <a:srgbClr val="8893A5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Day 3</a:t>
            </a:r>
            <a:endParaRPr lang="en-US" sz="1520" dirty="0"/>
          </a:p>
        </p:txBody>
      </p:sp>
      <p:sp>
        <p:nvSpPr>
          <p:cNvPr id="19" name="column-label"/>
          <p:cNvSpPr/>
          <p:nvPr/>
        </p:nvSpPr>
        <p:spPr>
          <a:xfrm>
            <a:off x="10165493" y="3124199"/>
            <a:ext cx="5238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2280"/>
              </a:spcAft>
              <a:buNone/>
            </a:pPr>
            <a:r>
              <a:rPr lang="en-US" sz="1520" dirty="0">
                <a:solidFill>
                  <a:srgbClr val="8893A5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Day 4</a:t>
            </a:r>
            <a:endParaRPr lang="en-US" sz="1520" dirty="0"/>
          </a:p>
        </p:txBody>
      </p:sp>
      <p:sp>
        <p:nvSpPr>
          <p:cNvPr id="20" name="column-label"/>
          <p:cNvSpPr/>
          <p:nvPr/>
        </p:nvSpPr>
        <p:spPr>
          <a:xfrm>
            <a:off x="13234832" y="3124199"/>
            <a:ext cx="5238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2280"/>
              </a:spcAft>
              <a:buNone/>
            </a:pPr>
            <a:r>
              <a:rPr lang="en-US" sz="1520" dirty="0">
                <a:solidFill>
                  <a:srgbClr val="8893A5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Day 5</a:t>
            </a:r>
            <a:endParaRPr lang="en-US" sz="1520" dirty="0"/>
          </a:p>
        </p:txBody>
      </p:sp>
      <p:sp>
        <p:nvSpPr>
          <p:cNvPr id="21" name="card-1-title"/>
          <p:cNvSpPr/>
          <p:nvPr/>
        </p:nvSpPr>
        <p:spPr>
          <a:xfrm>
            <a:off x="1222914" y="3703318"/>
            <a:ext cx="221488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1330" dirty="0">
                <a:solidFill>
                  <a:srgbClr val="13294B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Project Context</a:t>
            </a:r>
            <a:endParaRPr lang="en-US" sz="1330" dirty="0"/>
          </a:p>
        </p:txBody>
      </p:sp>
      <p:sp>
        <p:nvSpPr>
          <p:cNvPr id="22" name="card-1-body"/>
          <p:cNvSpPr/>
          <p:nvPr/>
        </p:nvSpPr>
        <p:spPr>
          <a:xfrm>
            <a:off x="1222914" y="3970654"/>
            <a:ext cx="2214881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30" dirty="0">
                <a:solidFill>
                  <a:srgbClr val="06041F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Understand and define project vision and main goals.</a:t>
            </a:r>
            <a:endParaRPr lang="en-US" sz="1330" dirty="0"/>
          </a:p>
        </p:txBody>
      </p:sp>
      <p:sp>
        <p:nvSpPr>
          <p:cNvPr id="23" name="card-2-title"/>
          <p:cNvSpPr/>
          <p:nvPr/>
        </p:nvSpPr>
        <p:spPr>
          <a:xfrm>
            <a:off x="1222914" y="5887083"/>
            <a:ext cx="221488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1330" dirty="0">
                <a:solidFill>
                  <a:srgbClr val="13294B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Jobs to be Done</a:t>
            </a:r>
            <a:endParaRPr lang="en-US" sz="1330" dirty="0"/>
          </a:p>
        </p:txBody>
      </p:sp>
      <p:sp>
        <p:nvSpPr>
          <p:cNvPr id="24" name="card-2-body"/>
          <p:cNvSpPr/>
          <p:nvPr/>
        </p:nvSpPr>
        <p:spPr>
          <a:xfrm>
            <a:off x="1222914" y="6154417"/>
            <a:ext cx="221488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30" dirty="0">
                <a:solidFill>
                  <a:srgbClr val="06041F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Define the main tasks target audience wants to get done.</a:t>
            </a:r>
            <a:endParaRPr lang="en-US" sz="1330" dirty="0"/>
          </a:p>
        </p:txBody>
      </p:sp>
      <p:sp>
        <p:nvSpPr>
          <p:cNvPr id="25" name="card-3-title"/>
          <p:cNvSpPr/>
          <p:nvPr/>
        </p:nvSpPr>
        <p:spPr>
          <a:xfrm>
            <a:off x="1222914" y="4897752"/>
            <a:ext cx="221488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1330" dirty="0">
                <a:solidFill>
                  <a:srgbClr val="13294B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Persona Mapping</a:t>
            </a:r>
            <a:endParaRPr lang="en-US" sz="1330" dirty="0"/>
          </a:p>
        </p:txBody>
      </p:sp>
      <p:sp>
        <p:nvSpPr>
          <p:cNvPr id="26" name="card-3-body"/>
          <p:cNvSpPr/>
          <p:nvPr/>
        </p:nvSpPr>
        <p:spPr>
          <a:xfrm>
            <a:off x="1222914" y="5165087"/>
            <a:ext cx="221488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30" dirty="0">
                <a:solidFill>
                  <a:srgbClr val="06041F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Define the main tasks target audience wants to get done.</a:t>
            </a:r>
            <a:endParaRPr lang="en-US" sz="1330" dirty="0"/>
          </a:p>
        </p:txBody>
      </p:sp>
      <p:sp>
        <p:nvSpPr>
          <p:cNvPr id="27" name="card-4-title"/>
          <p:cNvSpPr/>
          <p:nvPr/>
        </p:nvSpPr>
        <p:spPr>
          <a:xfrm>
            <a:off x="10404372" y="3703318"/>
            <a:ext cx="495363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1330" dirty="0">
                <a:solidFill>
                  <a:srgbClr val="13294B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Information Analysis</a:t>
            </a:r>
            <a:endParaRPr lang="en-US" sz="1330" dirty="0"/>
          </a:p>
        </p:txBody>
      </p:sp>
      <p:sp>
        <p:nvSpPr>
          <p:cNvPr id="28" name="card-4-body"/>
          <p:cNvSpPr/>
          <p:nvPr/>
        </p:nvSpPr>
        <p:spPr>
          <a:xfrm>
            <a:off x="10404372" y="3970654"/>
            <a:ext cx="495363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30" dirty="0">
                <a:solidFill>
                  <a:srgbClr val="06041F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Gather and analyse generated information to document in Product Requirements Document</a:t>
            </a:r>
            <a:endParaRPr lang="en-US" sz="1330" dirty="0"/>
          </a:p>
        </p:txBody>
      </p:sp>
      <p:sp>
        <p:nvSpPr>
          <p:cNvPr id="29" name="card-5-title"/>
          <p:cNvSpPr/>
          <p:nvPr/>
        </p:nvSpPr>
        <p:spPr>
          <a:xfrm>
            <a:off x="4251222" y="3703318"/>
            <a:ext cx="2226946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1330" dirty="0">
                <a:solidFill>
                  <a:srgbClr val="13294B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Customer Journey Mapping</a:t>
            </a:r>
            <a:endParaRPr lang="en-US" sz="1330" dirty="0"/>
          </a:p>
        </p:txBody>
      </p:sp>
      <p:sp>
        <p:nvSpPr>
          <p:cNvPr id="30" name="card-5-body"/>
          <p:cNvSpPr/>
          <p:nvPr/>
        </p:nvSpPr>
        <p:spPr>
          <a:xfrm>
            <a:off x="4251222" y="4189729"/>
            <a:ext cx="2226946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30" dirty="0">
                <a:solidFill>
                  <a:srgbClr val="06041F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For the jobs identified develop a customer journey map to identify touch-points, challenges and opportunities.</a:t>
            </a:r>
            <a:endParaRPr lang="en-US" sz="1330" dirty="0"/>
          </a:p>
        </p:txBody>
      </p:sp>
      <p:sp>
        <p:nvSpPr>
          <p:cNvPr id="31" name="card-6-title"/>
          <p:cNvSpPr/>
          <p:nvPr/>
        </p:nvSpPr>
        <p:spPr>
          <a:xfrm>
            <a:off x="4251222" y="5525133"/>
            <a:ext cx="222694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1330" dirty="0">
                <a:solidFill>
                  <a:srgbClr val="13294B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Workflow Mapping</a:t>
            </a:r>
            <a:endParaRPr lang="en-US" sz="1330" dirty="0"/>
          </a:p>
        </p:txBody>
      </p:sp>
      <p:sp>
        <p:nvSpPr>
          <p:cNvPr id="32" name="card-6-body"/>
          <p:cNvSpPr/>
          <p:nvPr/>
        </p:nvSpPr>
        <p:spPr>
          <a:xfrm>
            <a:off x="4251222" y="5792467"/>
            <a:ext cx="222694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30" dirty="0">
                <a:solidFill>
                  <a:srgbClr val="06041F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Diagraming workflows of how work gets done from troubleshooting point of view.</a:t>
            </a:r>
            <a:endParaRPr lang="en-US" sz="1330" dirty="0"/>
          </a:p>
        </p:txBody>
      </p:sp>
      <p:sp>
        <p:nvSpPr>
          <p:cNvPr id="33" name="card-7-title"/>
          <p:cNvSpPr/>
          <p:nvPr/>
        </p:nvSpPr>
        <p:spPr>
          <a:xfrm>
            <a:off x="7291604" y="3703318"/>
            <a:ext cx="228727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1330" dirty="0">
                <a:solidFill>
                  <a:srgbClr val="13294B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Stakeholder Interviews</a:t>
            </a:r>
            <a:endParaRPr lang="en-US" sz="1330" dirty="0"/>
          </a:p>
        </p:txBody>
      </p:sp>
      <p:sp>
        <p:nvSpPr>
          <p:cNvPr id="34" name="card-7-body"/>
          <p:cNvSpPr/>
          <p:nvPr/>
        </p:nvSpPr>
        <p:spPr>
          <a:xfrm>
            <a:off x="7291604" y="3970654"/>
            <a:ext cx="2287270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30" dirty="0">
                <a:solidFill>
                  <a:srgbClr val="06041F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One to one or group conversations where we explore and discuss needs, challenges and overall requirements.</a:t>
            </a:r>
            <a:endParaRPr lang="en-US" sz="1330" dirty="0"/>
          </a:p>
        </p:txBody>
      </p:sp>
      <p:sp>
        <p:nvSpPr>
          <p:cNvPr id="35" name="card-8-title"/>
          <p:cNvSpPr/>
          <p:nvPr/>
        </p:nvSpPr>
        <p:spPr>
          <a:xfrm>
            <a:off x="10404372" y="4692649"/>
            <a:ext cx="495363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1330" dirty="0">
                <a:solidFill>
                  <a:srgbClr val="13294B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MVP Feature Mapping</a:t>
            </a:r>
            <a:endParaRPr lang="en-US" sz="1330" dirty="0"/>
          </a:p>
        </p:txBody>
      </p:sp>
      <p:sp>
        <p:nvSpPr>
          <p:cNvPr id="36" name="card-8-body"/>
          <p:cNvSpPr/>
          <p:nvPr/>
        </p:nvSpPr>
        <p:spPr>
          <a:xfrm>
            <a:off x="10404372" y="4959984"/>
            <a:ext cx="495363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30" dirty="0">
                <a:solidFill>
                  <a:srgbClr val="06041F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Taking most priority features and creating user story mapping to define the scope of the MVP backlog.</a:t>
            </a:r>
            <a:endParaRPr lang="en-US" sz="1330" dirty="0"/>
          </a:p>
        </p:txBody>
      </p:sp>
      <p:sp>
        <p:nvSpPr>
          <p:cNvPr id="37" name="kicker"/>
          <p:cNvSpPr/>
          <p:nvPr/>
        </p:nvSpPr>
        <p:spPr>
          <a:xfrm>
            <a:off x="794299" y="1733550"/>
            <a:ext cx="166973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kern="0" spc="-75" dirty="0">
                <a:solidFill>
                  <a:srgbClr val="010716"/>
                </a:solidFill>
                <a:latin typeface="Equip Regular" pitchFamily="34" charset="0"/>
                <a:ea typeface="Equip Regular" pitchFamily="34" charset="-122"/>
                <a:cs typeface="Equip Regular" pitchFamily="34" charset="-120"/>
              </a:rPr>
              <a:t>Proposed Approach</a:t>
            </a:r>
            <a:endParaRPr lang="en-US" sz="1800" dirty="0"/>
          </a:p>
        </p:txBody>
      </p:sp>
      <p:sp>
        <p:nvSpPr>
          <p:cNvPr id="38" name="timeline-title"/>
          <p:cNvSpPr/>
          <p:nvPr/>
        </p:nvSpPr>
        <p:spPr>
          <a:xfrm>
            <a:off x="795458" y="2162175"/>
            <a:ext cx="166973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kern="0" spc="-112" dirty="0">
                <a:solidFill>
                  <a:srgbClr val="010716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MVP Kick-Off Timeline</a:t>
            </a:r>
            <a:endParaRPr lang="en-US" sz="3600" dirty="0"/>
          </a:p>
        </p:txBody>
      </p:sp>
      <p:sp>
        <p:nvSpPr>
          <p:cNvPr id="50" name="Digital Design Strategy">
            <a:extLst>
              <a:ext uri="{FF2B5EF4-FFF2-40B4-BE49-F238E27FC236}">
                <a16:creationId xmlns:a16="http://schemas.microsoft.com/office/drawing/2014/main" id="{A2B35155-465E-C560-1B88-4C3CFD35C178}"/>
              </a:ext>
            </a:extLst>
          </p:cNvPr>
          <p:cNvSpPr/>
          <p:nvPr/>
        </p:nvSpPr>
        <p:spPr>
          <a:xfrm>
            <a:off x="800100" y="9486900"/>
            <a:ext cx="1790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Digital Design Strategy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1" name="Project Name">
            <a:extLst>
              <a:ext uri="{FF2B5EF4-FFF2-40B4-BE49-F238E27FC236}">
                <a16:creationId xmlns:a16="http://schemas.microsoft.com/office/drawing/2014/main" id="{CD142A0F-1B1B-4AA5-46AB-73B415EFF42E}"/>
              </a:ext>
            </a:extLst>
          </p:cNvPr>
          <p:cNvSpPr/>
          <p:nvPr/>
        </p:nvSpPr>
        <p:spPr>
          <a:xfrm>
            <a:off x="6438900" y="9486900"/>
            <a:ext cx="1076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Project Name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2" name="Month Year">
            <a:extLst>
              <a:ext uri="{FF2B5EF4-FFF2-40B4-BE49-F238E27FC236}">
                <a16:creationId xmlns:a16="http://schemas.microsoft.com/office/drawing/2014/main" id="{4A62F245-E7FA-81E7-F911-5BA6AB64FACC}"/>
              </a:ext>
            </a:extLst>
          </p:cNvPr>
          <p:cNvSpPr/>
          <p:nvPr/>
        </p:nvSpPr>
        <p:spPr>
          <a:xfrm>
            <a:off x="12077700" y="9486900"/>
            <a:ext cx="914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Month Year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3" name="2026">
            <a:extLst>
              <a:ext uri="{FF2B5EF4-FFF2-40B4-BE49-F238E27FC236}">
                <a16:creationId xmlns:a16="http://schemas.microsoft.com/office/drawing/2014/main" id="{66EC88DF-CC91-01FD-3E15-D5733BC4ECA5}"/>
              </a:ext>
            </a:extLst>
          </p:cNvPr>
          <p:cNvSpPr/>
          <p:nvPr/>
        </p:nvSpPr>
        <p:spPr>
          <a:xfrm>
            <a:off x="16925925" y="9486900"/>
            <a:ext cx="590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© 2026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54" name="Graphic 53">
            <a:extLst>
              <a:ext uri="{FF2B5EF4-FFF2-40B4-BE49-F238E27FC236}">
                <a16:creationId xmlns:a16="http://schemas.microsoft.com/office/drawing/2014/main" id="{2986CF99-30F1-FDD4-B58F-F17C1D20F7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2730" y="101077"/>
            <a:ext cx="2198820" cy="1649115"/>
          </a:xfrm>
          <a:prstGeom prst="rect">
            <a:avLst/>
          </a:prstGeom>
        </p:spPr>
      </p:pic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1BBABB66-ACAA-96D1-98EB-D542C5679992}"/>
              </a:ext>
            </a:extLst>
          </p:cNvPr>
          <p:cNvCxnSpPr>
            <a:cxnSpLocks/>
          </p:cNvCxnSpPr>
          <p:nvPr/>
        </p:nvCxnSpPr>
        <p:spPr>
          <a:xfrm>
            <a:off x="713008" y="9222477"/>
            <a:ext cx="5400000" cy="0"/>
          </a:xfrm>
          <a:prstGeom prst="line">
            <a:avLst/>
          </a:prstGeom>
          <a:ln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223975E-4699-9677-C1E7-4CB1D8338E38}"/>
              </a:ext>
            </a:extLst>
          </p:cNvPr>
          <p:cNvCxnSpPr>
            <a:cxnSpLocks/>
          </p:cNvCxnSpPr>
          <p:nvPr/>
        </p:nvCxnSpPr>
        <p:spPr>
          <a:xfrm>
            <a:off x="11990608" y="9222477"/>
            <a:ext cx="5400000" cy="0"/>
          </a:xfrm>
          <a:prstGeom prst="line">
            <a:avLst/>
          </a:prstGeom>
          <a:ln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D3FEC8F2-AF79-CFD9-332F-60AA8CBFB706}"/>
              </a:ext>
            </a:extLst>
          </p:cNvPr>
          <p:cNvCxnSpPr>
            <a:cxnSpLocks/>
          </p:cNvCxnSpPr>
          <p:nvPr/>
        </p:nvCxnSpPr>
        <p:spPr>
          <a:xfrm>
            <a:off x="6351808" y="9222477"/>
            <a:ext cx="5400000" cy="0"/>
          </a:xfrm>
          <a:prstGeom prst="line">
            <a:avLst/>
          </a:prstGeom>
          <a:ln>
            <a:solidFill>
              <a:schemeClr val="bg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521</Words>
  <Application>Microsoft Macintosh PowerPoint</Application>
  <PresentationFormat>Custom</PresentationFormat>
  <Paragraphs>79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Equip Extended Medium</vt:lpstr>
      <vt:lpstr>Arial</vt:lpstr>
      <vt:lpstr>Equip Regular</vt:lpstr>
      <vt:lpstr>Equip Extended Regular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Carolina Baptista</cp:lastModifiedBy>
  <cp:revision>7</cp:revision>
  <dcterms:created xsi:type="dcterms:W3CDTF">2026-05-27T18:03:55Z</dcterms:created>
  <dcterms:modified xsi:type="dcterms:W3CDTF">2026-06-02T12:29:36Z</dcterms:modified>
</cp:coreProperties>
</file>