
<file path=[Content_Types].xml><?xml version="1.0" encoding="utf-8"?>
<Types xmlns="http://schemas.openxmlformats.org/package/2006/content-types">
  <Default Extension="fntdata" ContentType="application/x-fontdata"/>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6"/>
  </p:notesMasterIdLst>
  <p:sldIdLst>
    <p:sldId id="256" r:id="rId2"/>
    <p:sldId id="257" r:id="rId3"/>
    <p:sldId id="258" r:id="rId4"/>
    <p:sldId id="259" r:id="rId5"/>
  </p:sldIdLst>
  <p:sldSz cx="18288000" cy="10287000"/>
  <p:notesSz cx="10287000" cy="18288000"/>
  <p:embeddedFontLst>
    <p:embeddedFont>
      <p:font typeface="Equip Extended Medium" panose="02000603000000020004" pitchFamily="2" charset="77"/>
      <p:regular r:id="rId7"/>
      <p:italic r:id="rId8"/>
    </p:embeddedFont>
    <p:embeddedFont>
      <p:font typeface="Equip Extended Regular" panose="02000503030000020004" pitchFamily="2" charset="77"/>
      <p:regular r:id="rId9"/>
      <p:bold r:id="rId10"/>
      <p:italic r:id="rId11"/>
      <p:boldItalic r:id="rId12"/>
    </p:embeddedFont>
    <p:embeddedFont>
      <p:font typeface="Equip Regular" panose="02000503030000020004" pitchFamily="2" charset="77"/>
      <p:regular r:id="rId13"/>
      <p:bold r:id="rId14"/>
      <p:italic r:id="rId15"/>
      <p:boldItalic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4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716"/>
    <a:srgbClr val="A4EBD5"/>
    <a:srgbClr val="2C807C"/>
    <a:srgbClr val="FDF4D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92"/>
    <p:restoredTop sz="94610"/>
  </p:normalViewPr>
  <p:slideViewPr>
    <p:cSldViewPr snapToGrid="0" snapToObjects="1">
      <p:cViewPr>
        <p:scale>
          <a:sx n="64" d="100"/>
          <a:sy n="64" d="100"/>
        </p:scale>
        <p:origin x="1000" y="680"/>
      </p:cViewPr>
      <p:guideLst>
        <p:guide orient="horz" pos="3240"/>
        <p:guide pos="49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font" Target="fonts/font9.fntdata"/><Relationship Id="rId10" Type="http://schemas.openxmlformats.org/officeDocument/2006/relationships/font" Target="fonts/font4.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041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assumptions-title"/>
          <p:cNvSpPr/>
          <p:nvPr/>
        </p:nvSpPr>
        <p:spPr>
          <a:xfrm>
            <a:off x="800100" y="2085975"/>
            <a:ext cx="5429250" cy="1524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Assumptions Taken</a:t>
            </a:r>
            <a:endParaRPr lang="en-US" sz="4800" dirty="0"/>
          </a:p>
        </p:txBody>
      </p:sp>
      <p:sp>
        <p:nvSpPr>
          <p:cNvPr id="8" name="assumptions-body-1"/>
          <p:cNvSpPr/>
          <p:nvPr/>
        </p:nvSpPr>
        <p:spPr>
          <a:xfrm>
            <a:off x="6457950" y="2085975"/>
            <a:ext cx="5524500" cy="6400800"/>
          </a:xfrm>
          <a:prstGeom prst="rect">
            <a:avLst/>
          </a:prstGeom>
          <a:noFill/>
          <a:ln/>
        </p:spPr>
        <p:txBody>
          <a:bodyPr wrap="square" lIns="152400" tIns="152400" rIns="152400" bIns="152400" rtlCol="0" anchor="t"/>
          <a:lstStyle/>
          <a:p>
            <a:pPr marL="152400" indent="-152400" algn="l">
              <a:lnSpc>
                <a:spcPts val="1500"/>
              </a:lnSpc>
              <a:buSzPct val="100000"/>
              <a:buChar char="•"/>
            </a:pPr>
            <a:r>
              <a:rPr lang="en-US" sz="1200" dirty="0">
                <a:solidFill>
                  <a:srgbClr val="13294B"/>
                </a:solidFill>
                <a:latin typeface="Equip Regular" pitchFamily="34" charset="0"/>
                <a:ea typeface="Equip Regular" pitchFamily="34" charset="-122"/>
                <a:cs typeface="Equip Regular" pitchFamily="34" charset="-120"/>
              </a:rPr>
              <a:t>The fan entity already exists in the FIFAGG MySQL/RDS database (confirmed via dashboard.fifa.gg: user identity, rewards points, game title preferences, player profile creation, team/org associations, settings, and notifications are all live). New fan preferences and personalization attributes will be added as schema extensions to the existing data model.
The current platform operates across fifa.gg (public website) and dashboard.fifa.gg (authenticated user area) as separate Angular apps sharing a common PHP Symfony backend
Contentful will be consumed purely heedlessly, all rendering is owned by the Next.js front end.
Brand assets, player images, and media are available in Bynder with appropriate CDN caching.
The PHP Symfony backend already serves the Angular front-end with competition data, player data, registration, and user management APIs.
RBAC Baseline: Basic role separation already exists (player vs admin via dashboard.fifa.gg). Phase 1 extends this to a 5-tier RBAC model (Anonymous, Registered Fan, Verified Player, MA Admin, Platform Admin).
Competition Engine (WS3) exposes well-documented RESTful and WebSocket APIs with versioning.
Adobe Analytics, and AEP Launch are already configured in FIFA's Adobe organisation.
A dedicated SPOC will be assigned by FIFA to streamline communication, address issues promptly, and escalate any potential delays to ensure smooth progress and resolution of challenges
FIFA already has brand guidance and existing design foundations in place. Our proposal therefore assumes these foundations will be reused and evolved, rather than replaced through a full standalone design-system program. Where needed, we will introduce new reusable front-end components and extend the existing pattern library to support consistency across the refreshed experience. This approach gives FIFA a practical, scalable UI foundation without implying a full system redesign or a separate documentation-heavy design-system workstream.</a:t>
            </a:r>
            <a:endParaRPr lang="en-US" sz="1200" dirty="0"/>
          </a:p>
        </p:txBody>
      </p:sp>
      <p:sp>
        <p:nvSpPr>
          <p:cNvPr id="9" name="assumptions-body-2"/>
          <p:cNvSpPr/>
          <p:nvPr/>
        </p:nvSpPr>
        <p:spPr>
          <a:xfrm>
            <a:off x="12115800" y="2085975"/>
            <a:ext cx="5524500" cy="5400675"/>
          </a:xfrm>
          <a:prstGeom prst="rect">
            <a:avLst/>
          </a:prstGeom>
          <a:noFill/>
          <a:ln/>
        </p:spPr>
        <p:txBody>
          <a:bodyPr wrap="square" lIns="152400" tIns="152400" rIns="152400" bIns="152400" rtlCol="0" anchor="t"/>
          <a:lstStyle/>
          <a:p>
            <a:pPr marL="152400" indent="-152400" algn="l">
              <a:lnSpc>
                <a:spcPts val="1500"/>
              </a:lnSpc>
              <a:buSzPct val="100000"/>
              <a:buChar char="•"/>
            </a:pPr>
            <a:r>
              <a:rPr lang="en-US" sz="1200" dirty="0">
                <a:solidFill>
                  <a:srgbClr val="13294B"/>
                </a:solidFill>
                <a:latin typeface="Equip Regular" pitchFamily="34" charset="0"/>
                <a:ea typeface="Equip Regular" pitchFamily="34" charset="-122"/>
                <a:cs typeface="Equip Regular" pitchFamily="34" charset="-120"/>
              </a:rPr>
              <a:t>The SPOC will enable support needed for the activities planned​ especially during discovery phase to understand KPIs, platform, functions and processes.
A reward point system already exists, Nagarro will integrate with the existing system via API
FIFA owns an OTT platform (FIFA+) with its own video players. FIFA+ players will be embedded directly into FIFA.GG for live match streams and VOD. Only FIFA+ and YouTube are planned for video integration.
Basic player pages already exist with minimal data. Nagarro will enhance profiles with career timeline, peak rankings, linked game accounts, and verified badges.
OpenSearch (or Elasticsearch) is either available in the FIFA AWS environment or will be provisioned.
Community features (fan clubs, groups, feed, chat, UGC, prediction leagues) will be delivered via a third-party community platform, not custom-built. Nagarro's scope is limited to widget injection (iframe/JS SDK), feed pull via REST API, SSO federation, and CSS theming to match FIFA.GG design system.
Discord integration (bot, account linking) is configured through the third-party community platform's Discord module where possible.
FIFAe Fantasy already exists on the current Angular platform — team selection, scoring engine, leaderboards, and Redis infrastructure are all operational.
OneTrust is assumed deployed for GDPR consent management. UGC moderation (NLP) is required before community features go live. Content moderation rules and escalation paths to be agreed with FIFA's Data Protection team.</a:t>
            </a:r>
            <a:endParaRPr lang="en-US" sz="1200" dirty="0"/>
          </a:p>
        </p:txBody>
      </p:sp>
      <p:sp>
        <p:nvSpPr>
          <p:cNvPr id="10" name="Digital Design Strategy">
            <a:extLst>
              <a:ext uri="{FF2B5EF4-FFF2-40B4-BE49-F238E27FC236}">
                <a16:creationId xmlns:a16="http://schemas.microsoft.com/office/drawing/2014/main" id="{28DC11A8-CB20-5CAC-6338-0044360EFA31}"/>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1" name="Project Name">
            <a:extLst>
              <a:ext uri="{FF2B5EF4-FFF2-40B4-BE49-F238E27FC236}">
                <a16:creationId xmlns:a16="http://schemas.microsoft.com/office/drawing/2014/main" id="{C1D33ECF-7C22-246B-669D-9E6EE2549DC8}"/>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2" name="Month Year">
            <a:extLst>
              <a:ext uri="{FF2B5EF4-FFF2-40B4-BE49-F238E27FC236}">
                <a16:creationId xmlns:a16="http://schemas.microsoft.com/office/drawing/2014/main" id="{33E21283-E596-CB5B-3AF1-061FC9A966DB}"/>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3" name="2026">
            <a:extLst>
              <a:ext uri="{FF2B5EF4-FFF2-40B4-BE49-F238E27FC236}">
                <a16:creationId xmlns:a16="http://schemas.microsoft.com/office/drawing/2014/main" id="{4CC21CC0-5140-4456-33EA-BFD371F6359A}"/>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8DA17171-588E-7CD0-0706-0826F11695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402BF3CF-BEAD-7B8B-DCD2-F18881EECA5F}"/>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56F3215-11BF-FD11-7FEF-6232CD2BB637}"/>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93905E6-63B1-1891-87DA-11A10A2CA421}"/>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assumptions-title"/>
          <p:cNvSpPr/>
          <p:nvPr/>
        </p:nvSpPr>
        <p:spPr>
          <a:xfrm>
            <a:off x="800100" y="2514600"/>
            <a:ext cx="16697325"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Assumptions Taken</a:t>
            </a:r>
            <a:endParaRPr lang="en-US" sz="4800" dirty="0"/>
          </a:p>
        </p:txBody>
      </p:sp>
      <p:sp>
        <p:nvSpPr>
          <p:cNvPr id="8" name="assumptions-body-1"/>
          <p:cNvSpPr/>
          <p:nvPr/>
        </p:nvSpPr>
        <p:spPr>
          <a:xfrm>
            <a:off x="800100" y="3581400"/>
            <a:ext cx="5473700" cy="4000500"/>
          </a:xfrm>
          <a:prstGeom prst="rect">
            <a:avLst/>
          </a:prstGeom>
          <a:noFill/>
          <a:ln/>
        </p:spPr>
        <p:txBody>
          <a:bodyPr wrap="square" lIns="152400" tIns="152400" rIns="152400" bIns="152400" rtlCol="0" anchor="t"/>
          <a:lstStyle/>
          <a:p>
            <a:pPr marL="152400" indent="-152400" algn="l">
              <a:lnSpc>
                <a:spcPts val="1500"/>
              </a:lnSpc>
              <a:buSzPct val="100000"/>
              <a:buChar char="•"/>
            </a:pPr>
            <a:r>
              <a:rPr lang="en-US" sz="1200" dirty="0">
                <a:solidFill>
                  <a:srgbClr val="13294B"/>
                </a:solidFill>
                <a:latin typeface="Equip Regular" pitchFamily="34" charset="0"/>
                <a:ea typeface="Equip Regular" pitchFamily="34" charset="-122"/>
                <a:cs typeface="Equip Regular" pitchFamily="34" charset="-120"/>
              </a:rPr>
              <a:t>The fan entity already exists in the FIFAGG MySQL/RDS database (confirmed via dashboard.fifa.gg: user identity, rewards points, game title preferences, player profile creation, team/org associations, settings, and notifications are all live). New fan preferences and personalization attributes will be added as schema extensions to the existing data model.
The current platform operates across fifa.gg (public website) and dashboard.fifa.gg (authenticated user area) as separate Angular apps sharing a common PHP Symfony backend
Contentful will be consumed purely heedlessly, all rendering is owned by the Next.js front end.
Brand assets, player images, and media are available in Bynder with appropriate CDN caching.
The PHP Symfony backend already serves the Angular front-end with competition data, player data, registration, and user management APIs.
RBAC Baseline: Basic role separation already exists (player vs admin via dashboard.fifa.gg). Phase 1 extends this to a 5-tier RBAC model (Anonymous, Registered Fan, Verified Player, MA Admin, Platform Admin).
Competition Engine (WS3) exposes well-documented RESTful and WebSocket APIs with versioning.</a:t>
            </a:r>
            <a:endParaRPr lang="en-US" sz="1200" dirty="0"/>
          </a:p>
        </p:txBody>
      </p:sp>
      <p:sp>
        <p:nvSpPr>
          <p:cNvPr id="9" name="assumptions-body-2"/>
          <p:cNvSpPr/>
          <p:nvPr/>
        </p:nvSpPr>
        <p:spPr>
          <a:xfrm>
            <a:off x="6464294" y="3581400"/>
            <a:ext cx="5473700" cy="4200525"/>
          </a:xfrm>
          <a:prstGeom prst="rect">
            <a:avLst/>
          </a:prstGeom>
          <a:noFill/>
          <a:ln/>
        </p:spPr>
        <p:txBody>
          <a:bodyPr wrap="square" lIns="152400" tIns="152400" rIns="152400" bIns="152400" rtlCol="0" anchor="t"/>
          <a:lstStyle/>
          <a:p>
            <a:pPr marL="152400" indent="-152400" algn="l">
              <a:lnSpc>
                <a:spcPts val="1500"/>
              </a:lnSpc>
              <a:buSzPct val="100000"/>
              <a:buChar char="•"/>
            </a:pPr>
            <a:r>
              <a:rPr lang="en-US" sz="1200" dirty="0">
                <a:solidFill>
                  <a:srgbClr val="13294B"/>
                </a:solidFill>
                <a:latin typeface="Equip Regular" pitchFamily="34" charset="0"/>
                <a:ea typeface="Equip Regular" pitchFamily="34" charset="-122"/>
                <a:cs typeface="Equip Regular" pitchFamily="34" charset="-120"/>
              </a:rPr>
              <a:t>Adobe Analytics, and AEP Launch are already configured in FIFA's Adobe organisation.
A dedicated SPOC will be assigned by FIFA to streamline communication, address issues promptly, and escalate any potential delays to ensure smooth progress and resolution of challenges
FIFA already has brand guidance and existing design foundations in place. Our proposal therefore assumes these foundations will be reused and evolved, rather than replaced through a full standalone design-system program. Where needed, we will introduce new reusable front-end components and extend the existing pattern library to support consistency across the refreshed experience. This approach gives FIFA a practical, scalable UI foundation without implying a full system redesign or a separate documentation-heavy design-system workstream.
The SPOC will enable support needed for the activities planned​ especially during discovery phase to understand KPIs, platform, functions and processes.
A reward point system already exists, Nagarro will integrate with the existing system via API
FIFA owns an OTT platform (FIFA+) with its own video players. FIFA+ players will be embedded directly into FIFA.GG for live match streams and VOD. Only FIFA+ and YouTube are planned for video integration.</a:t>
            </a:r>
            <a:endParaRPr lang="en-US" sz="1200" dirty="0"/>
          </a:p>
        </p:txBody>
      </p:sp>
      <p:sp>
        <p:nvSpPr>
          <p:cNvPr id="10" name="assumptions-body-3"/>
          <p:cNvSpPr/>
          <p:nvPr/>
        </p:nvSpPr>
        <p:spPr>
          <a:xfrm>
            <a:off x="12128506" y="3581400"/>
            <a:ext cx="5473700" cy="3800475"/>
          </a:xfrm>
          <a:prstGeom prst="rect">
            <a:avLst/>
          </a:prstGeom>
          <a:noFill/>
          <a:ln/>
        </p:spPr>
        <p:txBody>
          <a:bodyPr wrap="square" lIns="152400" tIns="152400" rIns="152400" bIns="152400" rtlCol="0" anchor="t"/>
          <a:lstStyle/>
          <a:p>
            <a:pPr marL="152400" indent="-152400" algn="l">
              <a:lnSpc>
                <a:spcPts val="1500"/>
              </a:lnSpc>
              <a:buSzPct val="100000"/>
              <a:buChar char="•"/>
            </a:pPr>
            <a:r>
              <a:rPr lang="en-US" sz="1200" dirty="0">
                <a:solidFill>
                  <a:srgbClr val="13294B"/>
                </a:solidFill>
                <a:latin typeface="Equip Regular" pitchFamily="34" charset="0"/>
                <a:ea typeface="Equip Regular" pitchFamily="34" charset="-122"/>
                <a:cs typeface="Equip Regular" pitchFamily="34" charset="-120"/>
              </a:rPr>
              <a:t>Basic player pages already exist with minimal data. Nagarro will enhance profiles with career timeline, peak rankings, linked game accounts, and verified badges.
OpenSearch (or Elasticsearch) is either available in the FIFA AWS environment or will be provisioned.
Community features (fan clubs, groups, feed, chat, UGC, prediction leagues) will be delivered via a third-party community platform, not custom-built. Nagarro's scope is limited to widget injection (iframe/JS SDK), feed pull via REST API, SSO federation, and CSS theming to match FIFA.GG design system.
Discord integration (bot, account linking) is configured through the third-party community platform's Discord module where possible.
FIFAe Fantasy already exists on the current Angular platform — team selection, scoring engine, leaderboards, and Redis infrastructure are all operational.
OneTrust is assumed deployed for GDPR consent management. UGC moderation (NLP) is required before community features go live. Content moderation rules and escalation paths to be agreed with FIFA's Data Protection team.</a:t>
            </a:r>
            <a:endParaRPr lang="en-US" sz="1200" dirty="0"/>
          </a:p>
        </p:txBody>
      </p:sp>
      <p:sp>
        <p:nvSpPr>
          <p:cNvPr id="11" name="Digital Design Strategy">
            <a:extLst>
              <a:ext uri="{FF2B5EF4-FFF2-40B4-BE49-F238E27FC236}">
                <a16:creationId xmlns:a16="http://schemas.microsoft.com/office/drawing/2014/main" id="{60D71D80-7271-EA6D-9F47-F37406828F32}"/>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2" name="Project Name">
            <a:extLst>
              <a:ext uri="{FF2B5EF4-FFF2-40B4-BE49-F238E27FC236}">
                <a16:creationId xmlns:a16="http://schemas.microsoft.com/office/drawing/2014/main" id="{BDFA715B-1281-2AAB-575E-D8FDEBA41BF3}"/>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3" name="Month Year">
            <a:extLst>
              <a:ext uri="{FF2B5EF4-FFF2-40B4-BE49-F238E27FC236}">
                <a16:creationId xmlns:a16="http://schemas.microsoft.com/office/drawing/2014/main" id="{F8679C8D-922E-9B44-5BDC-6A66693E2181}"/>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4" name="2026">
            <a:extLst>
              <a:ext uri="{FF2B5EF4-FFF2-40B4-BE49-F238E27FC236}">
                <a16:creationId xmlns:a16="http://schemas.microsoft.com/office/drawing/2014/main" id="{9B2E3CAE-3A66-E3D5-A2FB-EFB0FCEC04C6}"/>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7F22B0EA-5E3D-7ECD-E614-4396A5AAF8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73608783-A04C-1EC3-5057-4F218633670A}"/>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A95751D2-B797-23AE-B6A1-8E7683616046}"/>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99DAC44-DFF7-9540-F13C-8C1888B9CFC5}"/>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assumptions-title"/>
          <p:cNvSpPr/>
          <p:nvPr/>
        </p:nvSpPr>
        <p:spPr>
          <a:xfrm>
            <a:off x="800171" y="2514600"/>
            <a:ext cx="16706850" cy="762000"/>
          </a:xfrm>
          <a:prstGeom prst="rect">
            <a:avLst/>
          </a:prstGeom>
          <a:noFill/>
          <a:ln/>
        </p:spPr>
        <p:txBody>
          <a:bodyPr wrap="square" lIns="0" tIns="0" rIns="0" bIns="0" rtlCol="0" anchor="t"/>
          <a:lstStyle/>
          <a:p>
            <a:pPr marL="0" indent="0" algn="l">
              <a:lnSpc>
                <a:spcPts val="6000"/>
              </a:lnSpc>
              <a:buNone/>
            </a:pPr>
            <a:r>
              <a:rPr lang="en-US" sz="4800" kern="0" spc="-112" dirty="0">
                <a:solidFill>
                  <a:srgbClr val="010716"/>
                </a:solidFill>
                <a:latin typeface="Equip Extended Regular" pitchFamily="34" charset="0"/>
                <a:ea typeface="Equip Extended Regular" pitchFamily="34" charset="-122"/>
                <a:cs typeface="Equip Extended Regular" pitchFamily="34" charset="-120"/>
              </a:rPr>
              <a:t>Assumptions Taken</a:t>
            </a:r>
            <a:endParaRPr lang="en-US" sz="4800" dirty="0"/>
          </a:p>
        </p:txBody>
      </p:sp>
      <p:sp>
        <p:nvSpPr>
          <p:cNvPr id="8" name="assumptions-body-1"/>
          <p:cNvSpPr/>
          <p:nvPr/>
        </p:nvSpPr>
        <p:spPr>
          <a:xfrm>
            <a:off x="792514" y="3581400"/>
            <a:ext cx="8229600" cy="4200525"/>
          </a:xfrm>
          <a:prstGeom prst="rect">
            <a:avLst/>
          </a:prstGeom>
          <a:noFill/>
          <a:ln/>
        </p:spPr>
        <p:txBody>
          <a:bodyPr wrap="square" lIns="152400" tIns="152400" rIns="152400" bIns="152400" rtlCol="0" anchor="t"/>
          <a:lstStyle/>
          <a:p>
            <a:pPr marL="152400" indent="-152400" algn="l">
              <a:lnSpc>
                <a:spcPts val="1500"/>
              </a:lnSpc>
              <a:buSzPct val="100000"/>
              <a:buChar char="•"/>
            </a:pPr>
            <a:r>
              <a:rPr lang="en-US" sz="1200" dirty="0">
                <a:solidFill>
                  <a:srgbClr val="13294B"/>
                </a:solidFill>
                <a:latin typeface="Equip Regular" pitchFamily="34" charset="0"/>
                <a:ea typeface="Equip Regular" pitchFamily="34" charset="-122"/>
                <a:cs typeface="Equip Regular" pitchFamily="34" charset="-120"/>
              </a:rPr>
              <a:t>The fan entity already exists in the FIFAGG MySQL/RDS database (confirmed via dashboard.fifa.gg: user identity, rewards points, game title preferences, player profile creation, team/org associations, settings, and notifications are all live). New fan preferences and personalization attributes will be added as schema extensions to the existing data model.
The current platform operates across fifa.gg (public website) and dashboard.fifa.gg (authenticated user area) as separate Angular apps sharing a common PHP Symfony backend
Contentful will be consumed purely heedlessly, all rendering is owned by the Next.js front end.
Brand assets, player images, and media are available in Bynder with appropriate CDN caching.
The PHP Symfony backend already serves the Angular front-end with competition data, player data, registration, and user management APIs.
RBAC Baseline: Basic role separation already exists (player vs admin via dashboard.fifa.gg). Phase 1 extends this to a 5-tier RBAC model (Anonymous, Registered Fan, Verified Player, MA Admin, Platform Admin).
Competition Engine (WS3) exposes well-documented RESTful and WebSocket APIs with versioning.
Adobe Analytics, and AEP Launch are already configured in FIFA's Adobe organisation.
A dedicated SPOC will be assigned by FIFA to streamline communication, address issues promptly, and escalate any potential delays to ensure smooth progress and resolution of challenges
FIFA already has brand guidance and existing design foundations in place. Our proposal therefore assumes these foundations will be reused and evolved, rather than replaced through a full standalone design-system program. Where needed, we will introduce new reusable front-end components and extend the existing pattern library to support consistency across the refreshed experience. This approach gives FIFA a practical, scalable UI foundation without implying a full system redesign or a separate documentation-heavy design-system workstream.</a:t>
            </a:r>
            <a:endParaRPr lang="en-US" sz="1200" dirty="0"/>
          </a:p>
        </p:txBody>
      </p:sp>
      <p:sp>
        <p:nvSpPr>
          <p:cNvPr id="9" name="assumptions-body-2"/>
          <p:cNvSpPr/>
          <p:nvPr/>
        </p:nvSpPr>
        <p:spPr>
          <a:xfrm>
            <a:off x="9429750" y="3581400"/>
            <a:ext cx="8229600" cy="3600450"/>
          </a:xfrm>
          <a:prstGeom prst="rect">
            <a:avLst/>
          </a:prstGeom>
          <a:noFill/>
          <a:ln/>
        </p:spPr>
        <p:txBody>
          <a:bodyPr wrap="square" lIns="152400" tIns="152400" rIns="152400" bIns="152400" rtlCol="0" anchor="t"/>
          <a:lstStyle/>
          <a:p>
            <a:pPr marL="152400" indent="-152400" algn="l">
              <a:lnSpc>
                <a:spcPts val="1500"/>
              </a:lnSpc>
              <a:buSzPct val="100000"/>
              <a:buChar char="•"/>
            </a:pPr>
            <a:r>
              <a:rPr lang="en-US" sz="1200" dirty="0">
                <a:solidFill>
                  <a:srgbClr val="13294B"/>
                </a:solidFill>
                <a:latin typeface="Equip Regular" pitchFamily="34" charset="0"/>
                <a:ea typeface="Equip Regular" pitchFamily="34" charset="-122"/>
                <a:cs typeface="Equip Regular" pitchFamily="34" charset="-120"/>
              </a:rPr>
              <a:t>The SPOC will enable support needed for the activities planned​ especially during discovery phase to understand KPIs, platform, functions and processes.
A reward point system already exists, Nagarro will integrate with the existing system via API
FIFA owns an OTT platform (FIFA+) with its own video players. FIFA+ players will be embedded directly into FIFA.GG for live match streams and VOD. Only FIFA+ and YouTube are planned for video integration.
Basic player pages already exist with minimal data. Nagarro will enhance profiles with career timeline, peak rankings, linked game accounts, and verified badges.
OpenSearch (or Elasticsearch) is either available in the FIFA AWS environment or will be provisioned.
Community features (fan clubs, groups, feed, chat, UGC, prediction leagues) will be delivered via a third-party community platform, not custom-built. Nagarro's scope is limited to widget injection (iframe/JS SDK), feed pull via REST API, SSO federation, and CSS theming to match FIFA.GG design system.
Discord integration (bot, account linking) is configured through the third-party community platform's Discord module where possible.
FIFAe Fantasy already exists on the current Angular platform — team selection, scoring engine, leaderboards, and Redis infrastructure are all operational.
OneTrust is assumed deployed for GDPR consent management. UGC moderation (NLP) is required before community features go live. Content moderation rules and escalation paths to be agreed with FIFA's Data Protection team.</a:t>
            </a:r>
            <a:endParaRPr lang="en-US" sz="1200" dirty="0"/>
          </a:p>
        </p:txBody>
      </p:sp>
      <p:sp>
        <p:nvSpPr>
          <p:cNvPr id="10" name="Digital Design Strategy">
            <a:extLst>
              <a:ext uri="{FF2B5EF4-FFF2-40B4-BE49-F238E27FC236}">
                <a16:creationId xmlns:a16="http://schemas.microsoft.com/office/drawing/2014/main" id="{3C5CD0C6-CA45-1909-900D-B0DDCA78822F}"/>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1" name="Project Name">
            <a:extLst>
              <a:ext uri="{FF2B5EF4-FFF2-40B4-BE49-F238E27FC236}">
                <a16:creationId xmlns:a16="http://schemas.microsoft.com/office/drawing/2014/main" id="{3A02C0D4-CD4B-A9D7-8405-B2F068430DD5}"/>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2" name="Month Year">
            <a:extLst>
              <a:ext uri="{FF2B5EF4-FFF2-40B4-BE49-F238E27FC236}">
                <a16:creationId xmlns:a16="http://schemas.microsoft.com/office/drawing/2014/main" id="{6CE8D875-7FB6-857E-B862-F1FE9B52ED76}"/>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3" name="2026">
            <a:extLst>
              <a:ext uri="{FF2B5EF4-FFF2-40B4-BE49-F238E27FC236}">
                <a16:creationId xmlns:a16="http://schemas.microsoft.com/office/drawing/2014/main" id="{CE14AA47-3130-4DDA-A784-7B772BE0D0DB}"/>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FE759EA6-B10D-143A-A64D-9ECCDE48165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327111A1-2555-1A26-9EE7-8E5390871F0B}"/>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1CDD07E-C1F2-DCE2-F5E0-05817A49933B}"/>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09AE250-18F6-7144-6032-F0FB932E0377}"/>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assumptions-title"/>
          <p:cNvSpPr/>
          <p:nvPr/>
        </p:nvSpPr>
        <p:spPr>
          <a:xfrm>
            <a:off x="793632" y="1914525"/>
            <a:ext cx="15516225" cy="762000"/>
          </a:xfrm>
          <a:prstGeom prst="rect">
            <a:avLst/>
          </a:prstGeom>
          <a:noFill/>
          <a:ln/>
        </p:spPr>
        <p:txBody>
          <a:bodyPr wrap="square" lIns="0" tIns="0" rIns="0" bIns="0" rtlCol="0" anchor="t"/>
          <a:lstStyle/>
          <a:p>
            <a:pPr marL="0" indent="0" algn="l">
              <a:lnSpc>
                <a:spcPts val="6000"/>
              </a:lnSpc>
              <a:buNone/>
            </a:pPr>
            <a:r>
              <a:rPr lang="en-US" sz="6000" kern="0" spc="-112" dirty="0">
                <a:solidFill>
                  <a:srgbClr val="010716"/>
                </a:solidFill>
                <a:latin typeface="Equip Extended Medium" pitchFamily="34" charset="0"/>
                <a:ea typeface="Equip Extended Medium" pitchFamily="34" charset="-122"/>
                <a:cs typeface="Equip Extended Medium" pitchFamily="34" charset="-120"/>
              </a:rPr>
              <a:t>Assumptions Taken</a:t>
            </a:r>
            <a:endParaRPr lang="en-US" sz="6000" dirty="0"/>
          </a:p>
        </p:txBody>
      </p:sp>
      <p:sp>
        <p:nvSpPr>
          <p:cNvPr id="8" name="assumptions-body-1"/>
          <p:cNvSpPr/>
          <p:nvPr/>
        </p:nvSpPr>
        <p:spPr>
          <a:xfrm>
            <a:off x="800100" y="3849238"/>
            <a:ext cx="5524500" cy="4788572"/>
          </a:xfrm>
          <a:prstGeom prst="rect">
            <a:avLst/>
          </a:prstGeom>
          <a:noFill/>
          <a:ln/>
        </p:spPr>
        <p:txBody>
          <a:bodyPr wrap="square" lIns="152400" tIns="152400" rIns="152400" bIns="152400" rtlCol="0" anchor="t"/>
          <a:lstStyle/>
          <a:p>
            <a:pPr marL="152400" indent="-152400" algn="l">
              <a:lnSpc>
                <a:spcPts val="1500"/>
              </a:lnSpc>
              <a:buSzPct val="100000"/>
              <a:buChar char="•"/>
            </a:pPr>
            <a:r>
              <a:rPr lang="en-US" sz="1200" dirty="0">
                <a:solidFill>
                  <a:srgbClr val="13294B"/>
                </a:solidFill>
                <a:latin typeface="Equip Regular" pitchFamily="34" charset="0"/>
                <a:ea typeface="Equip Regular" pitchFamily="34" charset="-122"/>
                <a:cs typeface="Equip Regular" pitchFamily="34" charset="-120"/>
              </a:rPr>
              <a:t>The fan entity already exists in the FIFAGG MySQL/RDS database (confirmed via dashboard.fifa.gg: user identity, rewards points, game title preferences, player profile creation, team/org associations, settings, and notifications are all live). New fan preferences and personalization attributes will be added as schema extensions to the existing data model.
The current platform operates across fifa.gg (public website) and dashboard.fifa.gg (authenticated user area) as separate Angular apps sharing a common PHP Symfony backend
Contentful will be consumed purely heedlessly, all rendering is owned by the Next.js front end.
Brand assets, player images, and media are available in Bynder with appropriate CDN caching.
The PHP Symfony backend already serves the Angular front-end with competition data, player data, registration, and user management APIs.
RBAC Baseline: Basic role separation already exists (player vs admin via dashboard.fifa.gg). Phase 1 extends this to a 5-tier RBAC model (Anonymous, Registered Fan, Verified Player, MA Admin, Platform Admin).
Competition Engine (WS3) exposes well-documented RESTful and WebSocket APIs with versioning.
Adobe Analytics, and AEP Launch are already configured in FIFA's Adobe organisation.</a:t>
            </a:r>
            <a:endParaRPr lang="en-US" sz="1200" dirty="0"/>
          </a:p>
        </p:txBody>
      </p:sp>
      <p:sp>
        <p:nvSpPr>
          <p:cNvPr id="9" name="assumptions-body-2"/>
          <p:cNvSpPr/>
          <p:nvPr/>
        </p:nvSpPr>
        <p:spPr>
          <a:xfrm>
            <a:off x="6496050" y="3849238"/>
            <a:ext cx="5524500" cy="4788571"/>
          </a:xfrm>
          <a:prstGeom prst="rect">
            <a:avLst/>
          </a:prstGeom>
          <a:noFill/>
          <a:ln/>
        </p:spPr>
        <p:txBody>
          <a:bodyPr wrap="square" lIns="152400" tIns="152400" rIns="152400" bIns="152400" rtlCol="0" anchor="t"/>
          <a:lstStyle/>
          <a:p>
            <a:pPr marL="152400" indent="-152400" algn="l">
              <a:lnSpc>
                <a:spcPts val="1500"/>
              </a:lnSpc>
              <a:buSzPct val="100000"/>
              <a:buChar char="•"/>
            </a:pPr>
            <a:r>
              <a:rPr lang="en-US" sz="1200" dirty="0">
                <a:solidFill>
                  <a:srgbClr val="13294B"/>
                </a:solidFill>
                <a:latin typeface="Equip Regular" pitchFamily="34" charset="0"/>
                <a:ea typeface="Equip Regular" pitchFamily="34" charset="-122"/>
                <a:cs typeface="Equip Regular" pitchFamily="34" charset="-120"/>
              </a:rPr>
              <a:t>A dedicated SPOC will be assigned by FIFA to streamline communication, address issues promptly, and escalate any potential delays to ensure smooth progress and resolution of challenges
FIFA already has brand guidance and existing design foundations in place. Our proposal therefore assumes these foundations will be reused and evolved, rather than replaced through a full standalone design-system program. Where needed, we will introduce new reusable front-end components and extend the existing pattern library to support consistency across the refreshed experience. This approach gives FIFA a practical, scalable UI foundation without implying a full system redesign or a separate documentation-heavy design-system workstream.
The SPOC will enable support needed for the activities planned​ especially during discovery phase to understand KPIs, platform, functions and processes.
A reward point system already exists, Nagarro will integrate with the existing system via API
FIFA owns an OTT platform (FIFA+) with its own video players. FIFA+ players will be embedded directly into FIFA.GG for live match streams and VOD. Only FIFA+ and YouTube are planned for video integration.</a:t>
            </a:r>
            <a:endParaRPr lang="en-US" sz="1200" dirty="0"/>
          </a:p>
        </p:txBody>
      </p:sp>
      <p:sp>
        <p:nvSpPr>
          <p:cNvPr id="10" name="assumptions-body-3"/>
          <p:cNvSpPr/>
          <p:nvPr/>
        </p:nvSpPr>
        <p:spPr>
          <a:xfrm>
            <a:off x="12192000" y="3849238"/>
            <a:ext cx="5524500" cy="4788567"/>
          </a:xfrm>
          <a:prstGeom prst="rect">
            <a:avLst/>
          </a:prstGeom>
          <a:noFill/>
          <a:ln/>
        </p:spPr>
        <p:txBody>
          <a:bodyPr wrap="square" lIns="152400" tIns="152400" rIns="152400" bIns="152400" rtlCol="0" anchor="t"/>
          <a:lstStyle/>
          <a:p>
            <a:pPr marL="152400" indent="-152400" algn="l">
              <a:lnSpc>
                <a:spcPts val="1500"/>
              </a:lnSpc>
              <a:buSzPct val="100000"/>
              <a:buChar char="•"/>
            </a:pPr>
            <a:r>
              <a:rPr lang="en-US" sz="1200" dirty="0">
                <a:solidFill>
                  <a:srgbClr val="13294B"/>
                </a:solidFill>
                <a:latin typeface="Equip Regular" pitchFamily="34" charset="0"/>
                <a:ea typeface="Equip Regular" pitchFamily="34" charset="-122"/>
                <a:cs typeface="Equip Regular" pitchFamily="34" charset="-120"/>
              </a:rPr>
              <a:t>Basic player pages already exist with minimal data. Nagarro will enhance profiles with career timeline, peak rankings, linked game accounts, and verified badges.
OpenSearch (or Elasticsearch) is either available in the FIFA AWS environment or will be provisioned.
Community features (fan clubs, groups, feed, chat, UGC, prediction leagues) will be delivered via a third-party community platform, not custom-built. Nagarro's scope is limited to widget injection (iframe/JS SDK), feed pull via REST API, SSO federation, and CSS theming to match FIFA.GG design system.
Discord integration (bot, account linking) is configured through the third-party community platform's Discord module where possible.
FIFAe Fantasy already exists on the current Angular platform — team selection, scoring engine, leaderboards, and Redis infrastructure are all operational.
OneTrust is assumed deployed for GDPR consent management. UGC moderation (NLP) is required before community features go live. Content moderation rules and escalation paths to be agreed with FIFA's Data Protection team.</a:t>
            </a:r>
            <a:endParaRPr lang="en-US" sz="1200" dirty="0"/>
          </a:p>
        </p:txBody>
      </p:sp>
      <p:sp>
        <p:nvSpPr>
          <p:cNvPr id="11" name="Digital Design Strategy">
            <a:extLst>
              <a:ext uri="{FF2B5EF4-FFF2-40B4-BE49-F238E27FC236}">
                <a16:creationId xmlns:a16="http://schemas.microsoft.com/office/drawing/2014/main" id="{BB9D4A36-8944-D017-7470-2DF628E3B034}"/>
              </a:ext>
            </a:extLst>
          </p:cNvPr>
          <p:cNvSpPr/>
          <p:nvPr/>
        </p:nvSpPr>
        <p:spPr>
          <a:xfrm>
            <a:off x="800100" y="9486900"/>
            <a:ext cx="17907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Digital Design Strategy</a:t>
            </a:r>
            <a:endParaRPr lang="en-US" sz="1200" dirty="0">
              <a:solidFill>
                <a:schemeClr val="bg1">
                  <a:lumMod val="75000"/>
                </a:schemeClr>
              </a:solidFill>
            </a:endParaRPr>
          </a:p>
        </p:txBody>
      </p:sp>
      <p:sp>
        <p:nvSpPr>
          <p:cNvPr id="12" name="Project Name">
            <a:extLst>
              <a:ext uri="{FF2B5EF4-FFF2-40B4-BE49-F238E27FC236}">
                <a16:creationId xmlns:a16="http://schemas.microsoft.com/office/drawing/2014/main" id="{1BAD416E-F81F-CA8F-F035-7107A2F6B873}"/>
              </a:ext>
            </a:extLst>
          </p:cNvPr>
          <p:cNvSpPr/>
          <p:nvPr/>
        </p:nvSpPr>
        <p:spPr>
          <a:xfrm>
            <a:off x="6438900" y="9486900"/>
            <a:ext cx="1076325"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Project Name</a:t>
            </a:r>
            <a:endParaRPr lang="en-US" sz="1200" dirty="0">
              <a:solidFill>
                <a:schemeClr val="bg1">
                  <a:lumMod val="75000"/>
                </a:schemeClr>
              </a:solidFill>
            </a:endParaRPr>
          </a:p>
        </p:txBody>
      </p:sp>
      <p:sp>
        <p:nvSpPr>
          <p:cNvPr id="13" name="Month Year">
            <a:extLst>
              <a:ext uri="{FF2B5EF4-FFF2-40B4-BE49-F238E27FC236}">
                <a16:creationId xmlns:a16="http://schemas.microsoft.com/office/drawing/2014/main" id="{4302A24E-C6C9-1D4B-EEC0-2A3DFCB657CE}"/>
              </a:ext>
            </a:extLst>
          </p:cNvPr>
          <p:cNvSpPr/>
          <p:nvPr/>
        </p:nvSpPr>
        <p:spPr>
          <a:xfrm>
            <a:off x="12077700" y="9486900"/>
            <a:ext cx="91440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Month Year</a:t>
            </a:r>
            <a:endParaRPr lang="en-US" sz="1200" dirty="0">
              <a:solidFill>
                <a:schemeClr val="bg1">
                  <a:lumMod val="75000"/>
                </a:schemeClr>
              </a:solidFill>
            </a:endParaRPr>
          </a:p>
        </p:txBody>
      </p:sp>
      <p:sp>
        <p:nvSpPr>
          <p:cNvPr id="14" name="2026">
            <a:extLst>
              <a:ext uri="{FF2B5EF4-FFF2-40B4-BE49-F238E27FC236}">
                <a16:creationId xmlns:a16="http://schemas.microsoft.com/office/drawing/2014/main" id="{FB787963-13DF-40ED-1109-91D38EBEEC1D}"/>
              </a:ext>
            </a:extLst>
          </p:cNvPr>
          <p:cNvSpPr/>
          <p:nvPr/>
        </p:nvSpPr>
        <p:spPr>
          <a:xfrm>
            <a:off x="16925925" y="9486900"/>
            <a:ext cx="590550" cy="190500"/>
          </a:xfrm>
          <a:prstGeom prst="rect">
            <a:avLst/>
          </a:prstGeom>
          <a:noFill/>
          <a:ln/>
        </p:spPr>
        <p:txBody>
          <a:bodyPr wrap="square" lIns="0" tIns="0" rIns="0" bIns="0" rtlCol="0" anchor="t"/>
          <a:lstStyle/>
          <a:p>
            <a:pPr marL="0" indent="0" algn="l">
              <a:lnSpc>
                <a:spcPts val="1500"/>
              </a:lnSpc>
              <a:spcAft>
                <a:spcPts val="1500"/>
              </a:spcAft>
              <a:buNone/>
            </a:pPr>
            <a:r>
              <a:rPr lang="en-US" sz="1200" dirty="0">
                <a:solidFill>
                  <a:schemeClr val="bg1">
                    <a:lumMod val="75000"/>
                  </a:schemeClr>
                </a:solidFill>
                <a:latin typeface="Equip Extended Regular" pitchFamily="34" charset="0"/>
                <a:ea typeface="Equip Extended Regular" pitchFamily="34" charset="-122"/>
                <a:cs typeface="Equip Extended Regular" pitchFamily="34" charset="-120"/>
              </a:rPr>
              <a:t>© 2026</a:t>
            </a:r>
            <a:endParaRPr lang="en-US" sz="1200" dirty="0">
              <a:solidFill>
                <a:schemeClr val="bg1">
                  <a:lumMod val="75000"/>
                </a:schemeClr>
              </a:solidFill>
            </a:endParaRPr>
          </a:p>
        </p:txBody>
      </p:sp>
      <p:pic>
        <p:nvPicPr>
          <p:cNvPr id="2" name="Graphic 1">
            <a:extLst>
              <a:ext uri="{FF2B5EF4-FFF2-40B4-BE49-F238E27FC236}">
                <a16:creationId xmlns:a16="http://schemas.microsoft.com/office/drawing/2014/main" id="{4E015108-137A-A108-3F25-BCFA3B963CE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2730" y="101077"/>
            <a:ext cx="2198820" cy="1649115"/>
          </a:xfrm>
          <a:prstGeom prst="rect">
            <a:avLst/>
          </a:prstGeom>
        </p:spPr>
      </p:pic>
      <p:cxnSp>
        <p:nvCxnSpPr>
          <p:cNvPr id="3" name="Straight Connector 2">
            <a:extLst>
              <a:ext uri="{FF2B5EF4-FFF2-40B4-BE49-F238E27FC236}">
                <a16:creationId xmlns:a16="http://schemas.microsoft.com/office/drawing/2014/main" id="{9BF709C0-F6EE-0A63-6629-FE3D520E02B0}"/>
              </a:ext>
            </a:extLst>
          </p:cNvPr>
          <p:cNvCxnSpPr>
            <a:cxnSpLocks/>
          </p:cNvCxnSpPr>
          <p:nvPr/>
        </p:nvCxnSpPr>
        <p:spPr>
          <a:xfrm>
            <a:off x="8000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01AF4935-0592-AA42-4651-03B27F4B8B7A}"/>
              </a:ext>
            </a:extLst>
          </p:cNvPr>
          <p:cNvCxnSpPr>
            <a:cxnSpLocks/>
          </p:cNvCxnSpPr>
          <p:nvPr/>
        </p:nvCxnSpPr>
        <p:spPr>
          <a:xfrm>
            <a:off x="120776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D207474-0A92-D1C4-B15F-3DF3042295B0}"/>
              </a:ext>
            </a:extLst>
          </p:cNvPr>
          <p:cNvCxnSpPr>
            <a:cxnSpLocks/>
          </p:cNvCxnSpPr>
          <p:nvPr/>
        </p:nvCxnSpPr>
        <p:spPr>
          <a:xfrm>
            <a:off x="6438898" y="9222477"/>
            <a:ext cx="5400000" cy="0"/>
          </a:xfrm>
          <a:prstGeom prst="line">
            <a:avLst/>
          </a:prstGeom>
          <a:ln>
            <a:solidFill>
              <a:schemeClr val="bg1">
                <a:lumMod val="75000"/>
                <a:alpha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2558</Words>
  <Application>Microsoft Macintosh PowerPoint</Application>
  <PresentationFormat>Custom</PresentationFormat>
  <Paragraphs>30</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Equip Extended Medium</vt:lpstr>
      <vt:lpstr>Arial</vt:lpstr>
      <vt:lpstr>Equip Extended Regular</vt:lpstr>
      <vt:lpstr>Equip Regular</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Carolina Baptista</cp:lastModifiedBy>
  <cp:revision>7</cp:revision>
  <dcterms:created xsi:type="dcterms:W3CDTF">2026-05-27T18:03:55Z</dcterms:created>
  <dcterms:modified xsi:type="dcterms:W3CDTF">2026-06-02T11:22:41Z</dcterms:modified>
</cp:coreProperties>
</file>