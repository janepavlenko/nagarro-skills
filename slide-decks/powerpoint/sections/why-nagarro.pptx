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6"/>
  </p:notesMasterIdLst>
  <p:sldIdLst>
    <p:sldId id="256" r:id="rId2"/>
    <p:sldId id="257" r:id="rId3"/>
    <p:sldId id="258" r:id="rId4"/>
    <p:sldId id="259" r:id="rId5"/>
  </p:sldIdLst>
  <p:sldSz cx="18288000" cy="10287000"/>
  <p:notesSz cx="10287000" cy="18288000"/>
  <p:embeddedFontLst>
    <p:embeddedFont>
      <p:font typeface="Equip Extended Bold" panose="02000503030000020004" pitchFamily="2" charset="77"/>
      <p:bold r:id="rId7"/>
      <p:italic r:id="rId8"/>
      <p:boldItalic r:id="rId9"/>
    </p:embeddedFont>
    <p:embeddedFont>
      <p:font typeface="Equip Extended Medium" panose="02000603000000020004" pitchFamily="2" charset="77"/>
      <p:regular r:id="rId10"/>
      <p:italic r:id="rId11"/>
    </p:embeddedFont>
    <p:embeddedFont>
      <p:font typeface="Equip Extended Regular" panose="02000503030000020004" pitchFamily="2" charset="77"/>
      <p:regular r:id="rId12"/>
      <p:bold r:id="rId13"/>
      <p:italic r:id="rId14"/>
      <p:boldItalic r:id="rId15"/>
    </p:embeddedFont>
    <p:embeddedFont>
      <p:font typeface="Equip ExtraBold" panose="02000503030000020004" pitchFamily="2" charset="77"/>
      <p:bold r:id="rId16"/>
      <p:italic r:id="rId17"/>
      <p:boldItalic r:id="rId18"/>
    </p:embeddedFont>
    <p:embeddedFont>
      <p:font typeface="Equip Regular" panose="02000503030000020004" pitchFamily="2" charset="77"/>
      <p:regular r:id="rId19"/>
      <p:bold r:id="rId20"/>
      <p:italic r:id="rId21"/>
      <p:boldItalic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guide id="2" pos="110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p:restoredTop sz="94610"/>
  </p:normalViewPr>
  <p:slideViewPr>
    <p:cSldViewPr snapToGrid="0" snapToObjects="1">
      <p:cViewPr>
        <p:scale>
          <a:sx n="73" d="100"/>
          <a:sy n="73" d="100"/>
        </p:scale>
        <p:origin x="520" y="416"/>
      </p:cViewPr>
      <p:guideLst>
        <p:guide pos="498"/>
        <p:guide pos="11022"/>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5.fnt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9.fntdata"/><Relationship Id="rId23" Type="http://schemas.openxmlformats.org/officeDocument/2006/relationships/presProps" Target="presProp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columns" descr="preencoded.png"/>
          <p:cNvPicPr>
            <a:picLocks noChangeAspect="1"/>
          </p:cNvPicPr>
          <p:nvPr/>
        </p:nvPicPr>
        <p:blipFill>
          <a:blip r:embed="rId2"/>
          <a:srcRect/>
          <a:stretch/>
        </p:blipFill>
        <p:spPr>
          <a:xfrm>
            <a:off x="800100" y="2852784"/>
            <a:ext cx="16573500" cy="5814966"/>
          </a:xfrm>
          <a:prstGeom prst="rect">
            <a:avLst/>
          </a:prstGeom>
        </p:spPr>
      </p:pic>
      <p:sp>
        <p:nvSpPr>
          <p:cNvPr id="8" name="why-title"/>
          <p:cNvSpPr/>
          <p:nvPr/>
        </p:nvSpPr>
        <p:spPr>
          <a:xfrm>
            <a:off x="857250" y="1581150"/>
            <a:ext cx="96583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New AI Assisted SDLC</a:t>
            </a:r>
            <a:endParaRPr lang="en-US" sz="4800" dirty="0"/>
          </a:p>
        </p:txBody>
      </p:sp>
      <p:sp>
        <p:nvSpPr>
          <p:cNvPr id="9" name="Discover"/>
          <p:cNvSpPr/>
          <p:nvPr/>
        </p:nvSpPr>
        <p:spPr>
          <a:xfrm>
            <a:off x="800100" y="2852784"/>
            <a:ext cx="1409700" cy="3810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10716"/>
                </a:solidFill>
                <a:latin typeface="Equip Extended Medium" pitchFamily="34" charset="0"/>
                <a:ea typeface="Equip Extended Medium" pitchFamily="34" charset="-122"/>
                <a:cs typeface="Equip Extended Medium" pitchFamily="34" charset="-120"/>
              </a:rPr>
              <a:t>Discover</a:t>
            </a:r>
            <a:endParaRPr lang="en-US" sz="2400" dirty="0"/>
          </a:p>
        </p:txBody>
      </p:sp>
      <p:sp>
        <p:nvSpPr>
          <p:cNvPr id="10" name="Gather insights to reveal user needs and early opportunities while building shared cross-team understanding"/>
          <p:cNvSpPr/>
          <p:nvPr/>
        </p:nvSpPr>
        <p:spPr>
          <a:xfrm>
            <a:off x="800100" y="3497965"/>
            <a:ext cx="5419725"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6041F"/>
                </a:solidFill>
                <a:latin typeface="Equip Regular" pitchFamily="34" charset="0"/>
                <a:ea typeface="Equip Regular" pitchFamily="34" charset="-122"/>
                <a:cs typeface="Equip Regular" pitchFamily="34" charset="-120"/>
              </a:rPr>
              <a:t>Gather insights to reveal user needs and early opportunities while building shared cross-team understanding.</a:t>
            </a:r>
            <a:endParaRPr lang="en-US" sz="1800" dirty="0"/>
          </a:p>
        </p:txBody>
      </p:sp>
      <p:sp>
        <p:nvSpPr>
          <p:cNvPr id="11" name="phase-title"/>
          <p:cNvSpPr/>
          <p:nvPr/>
        </p:nvSpPr>
        <p:spPr>
          <a:xfrm>
            <a:off x="1219795" y="4965877"/>
            <a:ext cx="3209925"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How AI Accelerates Discovery</a:t>
            </a:r>
            <a:endParaRPr lang="en-US" sz="1800" dirty="0"/>
          </a:p>
        </p:txBody>
      </p:sp>
      <p:sp>
        <p:nvSpPr>
          <p:cNvPr id="12" name="Faster insight gathering Early opportunity detection Rapid alignment across teams"/>
          <p:cNvSpPr/>
          <p:nvPr/>
        </p:nvSpPr>
        <p:spPr>
          <a:xfrm>
            <a:off x="800100" y="5363106"/>
            <a:ext cx="5514975" cy="685800"/>
          </a:xfrm>
          <a:prstGeom prst="rect">
            <a:avLst/>
          </a:prstGeom>
          <a:noFill/>
          <a:ln/>
        </p:spPr>
        <p:txBody>
          <a:bodyPr wrap="square" lIns="0" tIns="0" rIns="0" bIns="0" rtlCol="0" anchor="t"/>
          <a:lstStyle/>
          <a:p>
            <a:pPr marL="171450" indent="-171450" algn="l">
              <a:lnSpc>
                <a:spcPts val="1725"/>
              </a:lnSpc>
              <a:buSzPct val="100000"/>
              <a:buChar char="•"/>
            </a:pPr>
            <a:r>
              <a:rPr lang="en-US" sz="1350" kern="0" spc="-75" dirty="0">
                <a:solidFill>
                  <a:srgbClr val="010716"/>
                </a:solidFill>
                <a:latin typeface="Equip Regular" pitchFamily="34" charset="0"/>
                <a:ea typeface="Equip Regular" pitchFamily="34" charset="-122"/>
                <a:cs typeface="Equip Regular" pitchFamily="34" charset="-120"/>
              </a:rPr>
              <a:t>Faster insight gathering
Early opportunity detection
Rapid alignment across teams</a:t>
            </a:r>
            <a:endParaRPr lang="en-US" sz="1350" dirty="0"/>
          </a:p>
        </p:txBody>
      </p:sp>
      <p:sp>
        <p:nvSpPr>
          <p:cNvPr id="13" name="tools-label"/>
          <p:cNvSpPr/>
          <p:nvPr/>
        </p:nvSpPr>
        <p:spPr>
          <a:xfrm>
            <a:off x="800100" y="7022170"/>
            <a:ext cx="3486150" cy="171450"/>
          </a:xfrm>
          <a:prstGeom prst="rect">
            <a:avLst/>
          </a:prstGeom>
          <a:noFill/>
          <a:ln/>
        </p:spPr>
        <p:txBody>
          <a:bodyPr wrap="square" lIns="0" tIns="0" rIns="0" bIns="0" rtlCol="0" anchor="t"/>
          <a:lstStyle/>
          <a:p>
            <a:pPr marL="0" indent="0" algn="l">
              <a:lnSpc>
                <a:spcPct val="91667"/>
              </a:lnSpc>
              <a:buNone/>
            </a:pPr>
            <a:r>
              <a:rPr lang="en-US" sz="1239" kern="0" spc="50" dirty="0">
                <a:solidFill>
                  <a:srgbClr val="06041F"/>
                </a:solidFill>
                <a:latin typeface="Equip Extended Medium" pitchFamily="34" charset="0"/>
                <a:ea typeface="Equip Extended Medium" pitchFamily="34" charset="-122"/>
                <a:cs typeface="Equip Extended Medium" pitchFamily="34" charset="-120"/>
              </a:rPr>
              <a:t>AI TOOLS TO ACCELERATE DISCOVERY</a:t>
            </a:r>
            <a:endParaRPr lang="en-US" sz="1239" dirty="0"/>
          </a:p>
        </p:txBody>
      </p:sp>
      <p:sp>
        <p:nvSpPr>
          <p:cNvPr id="14" name="Transformation"/>
          <p:cNvSpPr/>
          <p:nvPr/>
        </p:nvSpPr>
        <p:spPr>
          <a:xfrm>
            <a:off x="1009948" y="8069266"/>
            <a:ext cx="4438044" cy="209550"/>
          </a:xfrm>
          <a:prstGeom prst="rect">
            <a:avLst/>
          </a:prstGeom>
          <a:noFill/>
          <a:ln/>
        </p:spPr>
        <p:txBody>
          <a:bodyPr wrap="square" lIns="0" tIns="0" rIns="0" bIns="0" rtlCol="0" anchor="t"/>
          <a:lstStyle/>
          <a:p>
            <a:pPr marL="0" indent="0" algn="l">
              <a:lnSpc>
                <a:spcPct val="91667"/>
              </a:lnSpc>
              <a:buNone/>
            </a:pPr>
            <a:r>
              <a:rPr lang="en-US" sz="1515" kern="0" spc="-75" dirty="0">
                <a:solidFill>
                  <a:srgbClr val="47D7AC"/>
                </a:solidFill>
                <a:latin typeface="Equip Extended Regular" pitchFamily="34" charset="0"/>
                <a:ea typeface="Equip Extended Regular" pitchFamily="34" charset="-122"/>
                <a:cs typeface="Equip Extended Regular" pitchFamily="34" charset="-120"/>
              </a:rPr>
              <a:t>Transformation</a:t>
            </a:r>
            <a:endParaRPr lang="en-US" sz="1515" dirty="0"/>
          </a:p>
        </p:txBody>
      </p:sp>
      <p:sp>
        <p:nvSpPr>
          <p:cNvPr id="15" name="name_3350 Time Reduction  Wider Scope"/>
          <p:cNvSpPr/>
          <p:nvPr/>
        </p:nvSpPr>
        <p:spPr>
          <a:xfrm>
            <a:off x="1009948" y="8278816"/>
            <a:ext cx="4438044" cy="247650"/>
          </a:xfrm>
          <a:prstGeom prst="rect">
            <a:avLst/>
          </a:prstGeom>
          <a:noFill/>
          <a:ln/>
        </p:spPr>
        <p:txBody>
          <a:bodyPr wrap="square" lIns="0" tIns="0" rIns="0" bIns="0" rtlCol="0" anchor="t"/>
          <a:lstStyle/>
          <a:p>
            <a:pPr marL="0" indent="0" algn="l">
              <a:lnSpc>
                <a:spcPct val="116667"/>
              </a:lnSpc>
              <a:buNone/>
            </a:pPr>
            <a:r>
              <a:rPr lang="en-US" sz="1377" kern="0" spc="-75" dirty="0">
                <a:solidFill>
                  <a:srgbClr val="FFFFFF"/>
                </a:solidFill>
                <a:latin typeface="Equip Extended Medium" pitchFamily="34" charset="0"/>
                <a:ea typeface="Equip Extended Medium" pitchFamily="34" charset="-122"/>
                <a:cs typeface="Equip Extended Medium" pitchFamily="34" charset="-120"/>
              </a:rPr>
              <a:t>33/50% Time Reduction / Wider Scope</a:t>
            </a:r>
            <a:endParaRPr lang="en-US" sz="1377" dirty="0"/>
          </a:p>
        </p:txBody>
      </p:sp>
      <p:sp>
        <p:nvSpPr>
          <p:cNvPr id="16" name="Specify"/>
          <p:cNvSpPr/>
          <p:nvPr/>
        </p:nvSpPr>
        <p:spPr>
          <a:xfrm>
            <a:off x="6448425" y="2852784"/>
            <a:ext cx="1190625" cy="3810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10716"/>
                </a:solidFill>
                <a:latin typeface="Equip Extended Medium" pitchFamily="34" charset="0"/>
                <a:ea typeface="Equip Extended Medium" pitchFamily="34" charset="-122"/>
                <a:cs typeface="Equip Extended Medium" pitchFamily="34" charset="-120"/>
              </a:rPr>
              <a:t>Specify</a:t>
            </a:r>
            <a:endParaRPr lang="en-US" sz="2400" dirty="0"/>
          </a:p>
        </p:txBody>
      </p:sp>
      <p:sp>
        <p:nvSpPr>
          <p:cNvPr id="17" name="Explore and refine solutions quickly validating feasibility and usability early to minimise downstream risk"/>
          <p:cNvSpPr/>
          <p:nvPr/>
        </p:nvSpPr>
        <p:spPr>
          <a:xfrm>
            <a:off x="6448425" y="3497965"/>
            <a:ext cx="541020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6041F"/>
                </a:solidFill>
                <a:latin typeface="Equip Regular" pitchFamily="34" charset="0"/>
                <a:ea typeface="Equip Regular" pitchFamily="34" charset="-122"/>
                <a:cs typeface="Equip Regular" pitchFamily="34" charset="-120"/>
              </a:rPr>
              <a:t>Explore and refine solutions quickly, validating feasibility and usability early to minimise 
downstream risk.</a:t>
            </a:r>
            <a:endParaRPr lang="en-US" sz="1800" dirty="0"/>
          </a:p>
        </p:txBody>
      </p:sp>
      <p:sp>
        <p:nvSpPr>
          <p:cNvPr id="18" name="phase-title"/>
          <p:cNvSpPr/>
          <p:nvPr/>
        </p:nvSpPr>
        <p:spPr>
          <a:xfrm>
            <a:off x="6868120" y="4965877"/>
            <a:ext cx="320040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How AI Accelerates Definition</a:t>
            </a:r>
            <a:endParaRPr lang="en-US" sz="1800" dirty="0"/>
          </a:p>
        </p:txBody>
      </p:sp>
      <p:sp>
        <p:nvSpPr>
          <p:cNvPr id="19" name="More solution exploration Prototypes in hours Early usability validation Technical architecture design"/>
          <p:cNvSpPr/>
          <p:nvPr/>
        </p:nvSpPr>
        <p:spPr>
          <a:xfrm>
            <a:off x="6448425" y="5363106"/>
            <a:ext cx="5505450" cy="914400"/>
          </a:xfrm>
          <a:prstGeom prst="rect">
            <a:avLst/>
          </a:prstGeom>
          <a:noFill/>
          <a:ln/>
        </p:spPr>
        <p:txBody>
          <a:bodyPr wrap="square" lIns="0" tIns="0" rIns="0" bIns="0" rtlCol="0" anchor="t"/>
          <a:lstStyle/>
          <a:p>
            <a:pPr marL="171450" indent="-171450" algn="l">
              <a:lnSpc>
                <a:spcPts val="1725"/>
              </a:lnSpc>
              <a:buSzPct val="100000"/>
              <a:buChar char="•"/>
            </a:pPr>
            <a:r>
              <a:rPr lang="en-US" sz="1350" kern="0" spc="-75" dirty="0">
                <a:solidFill>
                  <a:srgbClr val="010716"/>
                </a:solidFill>
                <a:latin typeface="Equip Regular" pitchFamily="34" charset="0"/>
                <a:ea typeface="Equip Regular" pitchFamily="34" charset="-122"/>
                <a:cs typeface="Equip Regular" pitchFamily="34" charset="-120"/>
              </a:rPr>
              <a:t>More solution exploration
Prototypes in hours
Early usability validation
Technical architecture design</a:t>
            </a:r>
            <a:endParaRPr lang="en-US" sz="1350" dirty="0"/>
          </a:p>
        </p:txBody>
      </p:sp>
      <p:sp>
        <p:nvSpPr>
          <p:cNvPr id="20" name="tools-label"/>
          <p:cNvSpPr/>
          <p:nvPr/>
        </p:nvSpPr>
        <p:spPr>
          <a:xfrm>
            <a:off x="6448425" y="7022169"/>
            <a:ext cx="3476625" cy="171450"/>
          </a:xfrm>
          <a:prstGeom prst="rect">
            <a:avLst/>
          </a:prstGeom>
          <a:noFill/>
          <a:ln/>
        </p:spPr>
        <p:txBody>
          <a:bodyPr wrap="square" lIns="0" tIns="0" rIns="0" bIns="0" rtlCol="0" anchor="t"/>
          <a:lstStyle/>
          <a:p>
            <a:pPr marL="0" indent="0" algn="l">
              <a:lnSpc>
                <a:spcPct val="91667"/>
              </a:lnSpc>
              <a:buNone/>
            </a:pPr>
            <a:r>
              <a:rPr lang="en-US" sz="1239" kern="0" spc="50" dirty="0">
                <a:solidFill>
                  <a:srgbClr val="06041F"/>
                </a:solidFill>
                <a:latin typeface="Equip Extended Medium" pitchFamily="34" charset="0"/>
                <a:ea typeface="Equip Extended Medium" pitchFamily="34" charset="-122"/>
                <a:cs typeface="Equip Extended Medium" pitchFamily="34" charset="-120"/>
              </a:rPr>
              <a:t>AI TOOLS TO ACCELERATE DEFINITION</a:t>
            </a:r>
            <a:endParaRPr lang="en-US" sz="1239" dirty="0"/>
          </a:p>
        </p:txBody>
      </p:sp>
      <p:sp>
        <p:nvSpPr>
          <p:cNvPr id="21" name="Transformation"/>
          <p:cNvSpPr/>
          <p:nvPr/>
        </p:nvSpPr>
        <p:spPr>
          <a:xfrm>
            <a:off x="6658273" y="8069266"/>
            <a:ext cx="4990494" cy="209550"/>
          </a:xfrm>
          <a:prstGeom prst="rect">
            <a:avLst/>
          </a:prstGeom>
          <a:noFill/>
          <a:ln/>
        </p:spPr>
        <p:txBody>
          <a:bodyPr wrap="square" lIns="0" tIns="0" rIns="0" bIns="0" rtlCol="0" anchor="t"/>
          <a:lstStyle/>
          <a:p>
            <a:pPr marL="0" indent="0" algn="l">
              <a:lnSpc>
                <a:spcPct val="91667"/>
              </a:lnSpc>
              <a:buNone/>
            </a:pPr>
            <a:r>
              <a:rPr lang="en-US" sz="1515" kern="0" spc="-75" dirty="0">
                <a:solidFill>
                  <a:srgbClr val="47D7AC"/>
                </a:solidFill>
                <a:latin typeface="Equip Extended Regular" pitchFamily="34" charset="0"/>
                <a:ea typeface="Equip Extended Regular" pitchFamily="34" charset="-122"/>
                <a:cs typeface="Equip Extended Regular" pitchFamily="34" charset="-120"/>
              </a:rPr>
              <a:t>Transformation</a:t>
            </a:r>
            <a:endParaRPr lang="en-US" sz="1515" dirty="0"/>
          </a:p>
        </p:txBody>
      </p:sp>
      <p:sp>
        <p:nvSpPr>
          <p:cNvPr id="22" name="name_3350 Time Reduction  Risk mitigation"/>
          <p:cNvSpPr/>
          <p:nvPr/>
        </p:nvSpPr>
        <p:spPr>
          <a:xfrm>
            <a:off x="6658273" y="8278816"/>
            <a:ext cx="4990494" cy="247650"/>
          </a:xfrm>
          <a:prstGeom prst="rect">
            <a:avLst/>
          </a:prstGeom>
          <a:noFill/>
          <a:ln/>
        </p:spPr>
        <p:txBody>
          <a:bodyPr wrap="square" lIns="0" tIns="0" rIns="0" bIns="0" rtlCol="0" anchor="t"/>
          <a:lstStyle/>
          <a:p>
            <a:pPr marL="0" indent="0" algn="l">
              <a:lnSpc>
                <a:spcPct val="116667"/>
              </a:lnSpc>
              <a:buNone/>
            </a:pPr>
            <a:r>
              <a:rPr lang="en-US" sz="1377" kern="0" spc="-75" dirty="0">
                <a:solidFill>
                  <a:srgbClr val="FFFFFF"/>
                </a:solidFill>
                <a:latin typeface="Equip Extended Medium" pitchFamily="34" charset="0"/>
                <a:ea typeface="Equip Extended Medium" pitchFamily="34" charset="-122"/>
                <a:cs typeface="Equip Extended Medium" pitchFamily="34" charset="-120"/>
              </a:rPr>
              <a:t>33/50% Time Reduction / Risk mitigation</a:t>
            </a:r>
            <a:endParaRPr lang="en-US" sz="1377" dirty="0"/>
          </a:p>
        </p:txBody>
      </p:sp>
      <p:sp>
        <p:nvSpPr>
          <p:cNvPr id="23" name="Build"/>
          <p:cNvSpPr/>
          <p:nvPr/>
        </p:nvSpPr>
        <p:spPr>
          <a:xfrm>
            <a:off x="12087225" y="2852784"/>
            <a:ext cx="838200" cy="381000"/>
          </a:xfrm>
          <a:prstGeom prst="rect">
            <a:avLst/>
          </a:prstGeom>
          <a:noFill/>
          <a:ln/>
        </p:spPr>
        <p:txBody>
          <a:bodyPr wrap="square" lIns="0" tIns="0" rIns="0" bIns="0" rtlCol="0" anchor="t"/>
          <a:lstStyle/>
          <a:p>
            <a:pPr marL="0" indent="0" algn="l">
              <a:lnSpc>
                <a:spcPts val="3000"/>
              </a:lnSpc>
              <a:spcAft>
                <a:spcPts val="2100"/>
              </a:spcAft>
              <a:buNone/>
            </a:pPr>
            <a:r>
              <a:rPr lang="en-US" sz="2400" dirty="0">
                <a:solidFill>
                  <a:srgbClr val="010716"/>
                </a:solidFill>
                <a:latin typeface="Equip Extended Medium" pitchFamily="34" charset="0"/>
                <a:ea typeface="Equip Extended Medium" pitchFamily="34" charset="-122"/>
                <a:cs typeface="Equip Extended Medium" pitchFamily="34" charset="-120"/>
              </a:rPr>
              <a:t>Build</a:t>
            </a:r>
            <a:endParaRPr lang="en-US" sz="2400" dirty="0"/>
          </a:p>
        </p:txBody>
      </p:sp>
      <p:sp>
        <p:nvSpPr>
          <p:cNvPr id="24" name="Turn discovery into actionable aligned requirements that guide engineering toward scalable delivery"/>
          <p:cNvSpPr/>
          <p:nvPr/>
        </p:nvSpPr>
        <p:spPr>
          <a:xfrm>
            <a:off x="12087225" y="3497965"/>
            <a:ext cx="5305425"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6041F"/>
                </a:solidFill>
                <a:latin typeface="Equip Regular" pitchFamily="34" charset="0"/>
                <a:ea typeface="Equip Regular" pitchFamily="34" charset="-122"/>
                <a:cs typeface="Equip Regular" pitchFamily="34" charset="-120"/>
              </a:rPr>
              <a:t>Turn discovery into actionable, aligned 
requirements that guide engineering toward scalable delivery.</a:t>
            </a:r>
            <a:endParaRPr lang="en-US" sz="1800" dirty="0"/>
          </a:p>
        </p:txBody>
      </p:sp>
      <p:sp>
        <p:nvSpPr>
          <p:cNvPr id="25" name="phase-title"/>
          <p:cNvSpPr/>
          <p:nvPr/>
        </p:nvSpPr>
        <p:spPr>
          <a:xfrm>
            <a:off x="12506920" y="4965877"/>
            <a:ext cx="30289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010716"/>
                </a:solidFill>
                <a:latin typeface="Equip Extended Regular" pitchFamily="34" charset="0"/>
                <a:ea typeface="Equip Extended Regular" pitchFamily="34" charset="-122"/>
                <a:cs typeface="Equip Extended Regular" pitchFamily="34" charset="-120"/>
              </a:rPr>
              <a:t>How AI Accelerates Building</a:t>
            </a:r>
            <a:endParaRPr lang="en-US" sz="1800" dirty="0"/>
          </a:p>
        </p:txBody>
      </p:sp>
      <p:sp>
        <p:nvSpPr>
          <p:cNvPr id="26" name="Clearer specifications Faster documentation Fewer alignment loops Validation and testing"/>
          <p:cNvSpPr/>
          <p:nvPr/>
        </p:nvSpPr>
        <p:spPr>
          <a:xfrm>
            <a:off x="12087225" y="5363106"/>
            <a:ext cx="5400675" cy="914400"/>
          </a:xfrm>
          <a:prstGeom prst="rect">
            <a:avLst/>
          </a:prstGeom>
          <a:noFill/>
          <a:ln/>
        </p:spPr>
        <p:txBody>
          <a:bodyPr wrap="square" lIns="0" tIns="0" rIns="0" bIns="0" rtlCol="0" anchor="t"/>
          <a:lstStyle/>
          <a:p>
            <a:pPr marL="171450" indent="-171450" algn="l">
              <a:lnSpc>
                <a:spcPts val="1725"/>
              </a:lnSpc>
              <a:buSzPct val="100000"/>
              <a:buChar char="•"/>
            </a:pPr>
            <a:r>
              <a:rPr lang="en-US" sz="1350" kern="0" spc="-75" dirty="0">
                <a:solidFill>
                  <a:srgbClr val="010716"/>
                </a:solidFill>
                <a:latin typeface="Equip Regular" pitchFamily="34" charset="0"/>
                <a:ea typeface="Equip Regular" pitchFamily="34" charset="-122"/>
                <a:cs typeface="Equip Regular" pitchFamily="34" charset="-120"/>
              </a:rPr>
              <a:t>Clearer specifications
Faster documentation
Fewer alignment loops
Validation and testing</a:t>
            </a:r>
            <a:endParaRPr lang="en-US" sz="1350" dirty="0"/>
          </a:p>
        </p:txBody>
      </p:sp>
      <p:sp>
        <p:nvSpPr>
          <p:cNvPr id="27" name="tools-label"/>
          <p:cNvSpPr/>
          <p:nvPr/>
        </p:nvSpPr>
        <p:spPr>
          <a:xfrm>
            <a:off x="12087225" y="7022170"/>
            <a:ext cx="3314700" cy="171450"/>
          </a:xfrm>
          <a:prstGeom prst="rect">
            <a:avLst/>
          </a:prstGeom>
          <a:noFill/>
          <a:ln/>
        </p:spPr>
        <p:txBody>
          <a:bodyPr wrap="square" lIns="0" tIns="0" rIns="0" bIns="0" rtlCol="0" anchor="t"/>
          <a:lstStyle/>
          <a:p>
            <a:pPr marL="0" indent="0" algn="l">
              <a:lnSpc>
                <a:spcPct val="91667"/>
              </a:lnSpc>
              <a:buNone/>
            </a:pPr>
            <a:r>
              <a:rPr lang="en-US" sz="1239" kern="0" spc="50" dirty="0">
                <a:solidFill>
                  <a:srgbClr val="06041F"/>
                </a:solidFill>
                <a:latin typeface="Equip Extended Medium" pitchFamily="34" charset="0"/>
                <a:ea typeface="Equip Extended Medium" pitchFamily="34" charset="-122"/>
                <a:cs typeface="Equip Extended Medium" pitchFamily="34" charset="-120"/>
              </a:rPr>
              <a:t>AI TOOLS TO ACCELERATE BUILDING</a:t>
            </a:r>
            <a:endParaRPr lang="en-US" sz="1239" dirty="0"/>
          </a:p>
        </p:txBody>
      </p:sp>
      <p:sp>
        <p:nvSpPr>
          <p:cNvPr id="28" name="Transformation"/>
          <p:cNvSpPr/>
          <p:nvPr/>
        </p:nvSpPr>
        <p:spPr>
          <a:xfrm>
            <a:off x="12297073" y="8069266"/>
            <a:ext cx="4885719" cy="209550"/>
          </a:xfrm>
          <a:prstGeom prst="rect">
            <a:avLst/>
          </a:prstGeom>
          <a:noFill/>
          <a:ln/>
        </p:spPr>
        <p:txBody>
          <a:bodyPr wrap="square" lIns="0" tIns="0" rIns="0" bIns="0" rtlCol="0" anchor="t"/>
          <a:lstStyle/>
          <a:p>
            <a:pPr marL="0" indent="0" algn="l">
              <a:lnSpc>
                <a:spcPct val="91667"/>
              </a:lnSpc>
              <a:buNone/>
            </a:pPr>
            <a:r>
              <a:rPr lang="en-US" sz="1515" kern="0" spc="-75" dirty="0">
                <a:solidFill>
                  <a:srgbClr val="47D7AC"/>
                </a:solidFill>
                <a:latin typeface="Equip Extended Regular" pitchFamily="34" charset="0"/>
                <a:ea typeface="Equip Extended Regular" pitchFamily="34" charset="-122"/>
                <a:cs typeface="Equip Extended Regular" pitchFamily="34" charset="-120"/>
              </a:rPr>
              <a:t>Transformation</a:t>
            </a:r>
            <a:endParaRPr lang="en-US" sz="1515" dirty="0"/>
          </a:p>
        </p:txBody>
      </p:sp>
      <p:sp>
        <p:nvSpPr>
          <p:cNvPr id="29" name="name_3350 Faster Time to Market"/>
          <p:cNvSpPr/>
          <p:nvPr/>
        </p:nvSpPr>
        <p:spPr>
          <a:xfrm>
            <a:off x="12297073" y="8278816"/>
            <a:ext cx="4885719" cy="247650"/>
          </a:xfrm>
          <a:prstGeom prst="rect">
            <a:avLst/>
          </a:prstGeom>
          <a:noFill/>
          <a:ln/>
        </p:spPr>
        <p:txBody>
          <a:bodyPr wrap="square" lIns="0" tIns="0" rIns="0" bIns="0" rtlCol="0" anchor="t"/>
          <a:lstStyle/>
          <a:p>
            <a:pPr marL="0" indent="0" algn="l">
              <a:lnSpc>
                <a:spcPct val="116667"/>
              </a:lnSpc>
              <a:buNone/>
            </a:pPr>
            <a:r>
              <a:rPr lang="en-US" sz="1377" kern="0" spc="-75" dirty="0">
                <a:solidFill>
                  <a:srgbClr val="FFFFFF"/>
                </a:solidFill>
                <a:latin typeface="Equip Extended Medium" pitchFamily="34" charset="0"/>
                <a:ea typeface="Equip Extended Medium" pitchFamily="34" charset="-122"/>
                <a:cs typeface="Equip Extended Medium" pitchFamily="34" charset="-120"/>
              </a:rPr>
              <a:t>33/50%  Faster Time to Market</a:t>
            </a:r>
            <a:endParaRPr lang="en-US" sz="1377" dirty="0"/>
          </a:p>
        </p:txBody>
      </p:sp>
      <p:sp>
        <p:nvSpPr>
          <p:cNvPr id="2" name="Digital Design Strategy">
            <a:extLst>
              <a:ext uri="{FF2B5EF4-FFF2-40B4-BE49-F238E27FC236}">
                <a16:creationId xmlns:a16="http://schemas.microsoft.com/office/drawing/2014/main" id="{74DB8E90-7E42-CB5F-16CA-D1787ABA0B5D}"/>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4" name="Project Name">
            <a:extLst>
              <a:ext uri="{FF2B5EF4-FFF2-40B4-BE49-F238E27FC236}">
                <a16:creationId xmlns:a16="http://schemas.microsoft.com/office/drawing/2014/main" id="{3E9FE972-4E81-58FE-31E9-80082124C9C1}"/>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5" name="Month Year">
            <a:extLst>
              <a:ext uri="{FF2B5EF4-FFF2-40B4-BE49-F238E27FC236}">
                <a16:creationId xmlns:a16="http://schemas.microsoft.com/office/drawing/2014/main" id="{1A0EAF43-951A-3FA6-2CBC-E5F58CFCD65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6" name="2026">
            <a:extLst>
              <a:ext uri="{FF2B5EF4-FFF2-40B4-BE49-F238E27FC236}">
                <a16:creationId xmlns:a16="http://schemas.microsoft.com/office/drawing/2014/main" id="{FF6F37CC-4956-2387-474F-8B03486332EE}"/>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7" name="Graphic 6">
            <a:extLst>
              <a:ext uri="{FF2B5EF4-FFF2-40B4-BE49-F238E27FC236}">
                <a16:creationId xmlns:a16="http://schemas.microsoft.com/office/drawing/2014/main" id="{32FCB2B2-A3E7-56A8-0CB2-BD80E75C70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cxnSp>
        <p:nvCxnSpPr>
          <p:cNvPr id="38" name="Straight Connector 37">
            <a:extLst>
              <a:ext uri="{FF2B5EF4-FFF2-40B4-BE49-F238E27FC236}">
                <a16:creationId xmlns:a16="http://schemas.microsoft.com/office/drawing/2014/main" id="{560887E3-4A67-CE11-7048-407C0DDF04E6}"/>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9F80221-D54A-495B-5FE8-8B95074A8C13}"/>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EBCC703-74C3-9628-ED28-EC6C44B97ED4}"/>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content" descr="preencoded.png"/>
          <p:cNvPicPr>
            <a:picLocks noChangeAspect="1"/>
          </p:cNvPicPr>
          <p:nvPr/>
        </p:nvPicPr>
        <p:blipFill>
          <a:blip r:embed="rId2"/>
          <a:srcRect/>
          <a:stretch/>
        </p:blipFill>
        <p:spPr>
          <a:xfrm>
            <a:off x="790268" y="3095625"/>
            <a:ext cx="14897100" cy="4829175"/>
          </a:xfrm>
          <a:prstGeom prst="rect">
            <a:avLst/>
          </a:prstGeom>
        </p:spPr>
      </p:pic>
      <p:pic>
        <p:nvPicPr>
          <p:cNvPr id="4" name="Frame 36833" descr="preencoded.png"/>
          <p:cNvPicPr>
            <a:picLocks noChangeAspect="1"/>
          </p:cNvPicPr>
          <p:nvPr/>
        </p:nvPicPr>
        <p:blipFill>
          <a:blip r:embed="rId3"/>
          <a:srcRect/>
          <a:stretch/>
        </p:blipFill>
        <p:spPr>
          <a:xfrm>
            <a:off x="800100" y="8458200"/>
            <a:ext cx="14935200" cy="1219200"/>
          </a:xfrm>
          <a:prstGeom prst="rect">
            <a:avLst/>
          </a:prstGeom>
        </p:spPr>
      </p:pic>
      <p:sp>
        <p:nvSpPr>
          <p:cNvPr id="5" name="Discover"/>
          <p:cNvSpPr/>
          <p:nvPr/>
        </p:nvSpPr>
        <p:spPr>
          <a:xfrm>
            <a:off x="795210" y="1485900"/>
            <a:ext cx="166973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Discover</a:t>
            </a:r>
            <a:endParaRPr lang="en-US" sz="4800" dirty="0"/>
          </a:p>
        </p:txBody>
      </p:sp>
      <p:sp>
        <p:nvSpPr>
          <p:cNvPr id="6" name="subtitle"/>
          <p:cNvSpPr/>
          <p:nvPr/>
        </p:nvSpPr>
        <p:spPr>
          <a:xfrm>
            <a:off x="795210" y="2247900"/>
            <a:ext cx="15516225" cy="428625"/>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Gather insights to reveal user needs and early opportunities while building shared cross-team understanding.</a:t>
            </a:r>
            <a:endParaRPr lang="en-US" sz="1800" dirty="0"/>
          </a:p>
        </p:txBody>
      </p:sp>
      <p:sp>
        <p:nvSpPr>
          <p:cNvPr id="7" name="section-title"/>
          <p:cNvSpPr/>
          <p:nvPr/>
        </p:nvSpPr>
        <p:spPr>
          <a:xfrm>
            <a:off x="1091840" y="3436357"/>
            <a:ext cx="3019425" cy="266700"/>
          </a:xfrm>
          <a:prstGeom prst="rect">
            <a:avLst/>
          </a:prstGeom>
          <a:noFill/>
          <a:ln/>
        </p:spPr>
        <p:txBody>
          <a:bodyPr wrap="square" lIns="0" tIns="0" rIns="0" bIns="0" rtlCol="0" anchor="t"/>
          <a:lstStyle/>
          <a:p>
            <a:pPr marL="0" indent="0" algn="l">
              <a:lnSpc>
                <a:spcPct val="87500"/>
              </a:lnSpc>
              <a:buNone/>
            </a:pPr>
            <a:r>
              <a:rPr lang="en-US" sz="2010" b="1" kern="0" spc="-75" dirty="0">
                <a:solidFill>
                  <a:srgbClr val="010716"/>
                </a:solidFill>
                <a:latin typeface="Equip Extended Bold" pitchFamily="34" charset="0"/>
                <a:ea typeface="Equip Extended Bold" pitchFamily="34" charset="-122"/>
                <a:cs typeface="Equip Extended Bold" pitchFamily="34" charset="-120"/>
              </a:rPr>
              <a:t>Traditional Challenges</a:t>
            </a:r>
            <a:endParaRPr lang="en-US" sz="2010" dirty="0"/>
          </a:p>
        </p:txBody>
      </p:sp>
      <p:sp>
        <p:nvSpPr>
          <p:cNvPr id="8" name="Research synthesis slow weeks  months Insights scattered across documents and teams Difficult to validate assumptions early Competitivemarket scans take too long"/>
          <p:cNvSpPr/>
          <p:nvPr/>
        </p:nvSpPr>
        <p:spPr>
          <a:xfrm>
            <a:off x="1091840" y="3897917"/>
            <a:ext cx="6832777" cy="1143000"/>
          </a:xfrm>
          <a:prstGeom prst="rect">
            <a:avLst/>
          </a:prstGeom>
          <a:noFill/>
          <a:ln/>
        </p:spPr>
        <p:txBody>
          <a:bodyPr wrap="square" lIns="0" tIns="0" rIns="0" bIns="0" rtlCol="0" anchor="t"/>
          <a:lstStyle/>
          <a:p>
            <a:pPr marL="218807" indent="-218807" algn="l">
              <a:lnSpc>
                <a:spcPts val="2175"/>
              </a:lnSpc>
              <a:buSzPct val="100000"/>
              <a:buChar char="•"/>
            </a:pPr>
            <a:r>
              <a:rPr lang="en-US" sz="1723" kern="0" spc="-75" dirty="0">
                <a:solidFill>
                  <a:srgbClr val="010716"/>
                </a:solidFill>
                <a:latin typeface="Equip Regular" pitchFamily="34" charset="0"/>
                <a:ea typeface="Equip Regular" pitchFamily="34" charset="-122"/>
                <a:cs typeface="Equip Regular" pitchFamily="34" charset="-120"/>
              </a:rPr>
              <a:t>Research synthesis slow (weeks → months)
Insights scattered across documents and teams
Difficult to validate assumptions early
Competitive/market scans take too long</a:t>
            </a:r>
            <a:endParaRPr lang="en-US" sz="1723" dirty="0"/>
          </a:p>
        </p:txBody>
      </p:sp>
      <p:sp>
        <p:nvSpPr>
          <p:cNvPr id="9" name="section-title"/>
          <p:cNvSpPr/>
          <p:nvPr/>
        </p:nvSpPr>
        <p:spPr>
          <a:xfrm>
            <a:off x="9124615" y="3436357"/>
            <a:ext cx="4019550" cy="266700"/>
          </a:xfrm>
          <a:prstGeom prst="rect">
            <a:avLst/>
          </a:prstGeom>
          <a:noFill/>
          <a:ln/>
        </p:spPr>
        <p:txBody>
          <a:bodyPr wrap="square" lIns="0" tIns="0" rIns="0" bIns="0" rtlCol="0" anchor="t"/>
          <a:lstStyle/>
          <a:p>
            <a:pPr marL="0" indent="0" algn="l">
              <a:lnSpc>
                <a:spcPct val="87500"/>
              </a:lnSpc>
              <a:buNone/>
            </a:pPr>
            <a:r>
              <a:rPr lang="en-US" sz="2010" b="1" kern="0" spc="-75" dirty="0">
                <a:solidFill>
                  <a:srgbClr val="010716"/>
                </a:solidFill>
                <a:latin typeface="Equip Extended Bold" pitchFamily="34" charset="0"/>
                <a:ea typeface="Equip Extended Bold" pitchFamily="34" charset="-122"/>
                <a:cs typeface="Equip Extended Bold" pitchFamily="34" charset="-120"/>
              </a:rPr>
              <a:t>How AI Accelerates Discovery</a:t>
            </a:r>
            <a:endParaRPr lang="en-US" sz="2010" dirty="0"/>
          </a:p>
        </p:txBody>
      </p:sp>
      <p:sp>
        <p:nvSpPr>
          <p:cNvPr id="10" name="Summarizes interviews documents market data in minutes Clusters insights and identifies patterns early Creates draft personas journeys and thematic maps Enables rapid exploration of opportunity spaces"/>
          <p:cNvSpPr/>
          <p:nvPr/>
        </p:nvSpPr>
        <p:spPr>
          <a:xfrm>
            <a:off x="8686986" y="3897917"/>
            <a:ext cx="6832777" cy="1143000"/>
          </a:xfrm>
          <a:prstGeom prst="rect">
            <a:avLst/>
          </a:prstGeom>
          <a:noFill/>
          <a:ln/>
        </p:spPr>
        <p:txBody>
          <a:bodyPr wrap="square" lIns="0" tIns="0" rIns="0" bIns="0" rtlCol="0" anchor="t"/>
          <a:lstStyle/>
          <a:p>
            <a:pPr marL="218807" indent="-218807" algn="l">
              <a:lnSpc>
                <a:spcPts val="2175"/>
              </a:lnSpc>
              <a:buSzPct val="100000"/>
              <a:buChar char="•"/>
            </a:pPr>
            <a:r>
              <a:rPr lang="en-US" sz="1723" kern="0" spc="-75" dirty="0">
                <a:solidFill>
                  <a:srgbClr val="010716"/>
                </a:solidFill>
                <a:latin typeface="Equip Regular" pitchFamily="34" charset="0"/>
                <a:ea typeface="Equip Regular" pitchFamily="34" charset="-122"/>
                <a:cs typeface="Equip Regular" pitchFamily="34" charset="-120"/>
              </a:rPr>
              <a:t>Summarizes interviews, documents, market data in minutes
Clusters insights and identifies patterns early
Creates draft personas, journeys, and thematic maps
Enables rapid exploration of opportunity spaces</a:t>
            </a:r>
            <a:endParaRPr lang="en-US" sz="1723" dirty="0"/>
          </a:p>
        </p:txBody>
      </p:sp>
      <p:sp>
        <p:nvSpPr>
          <p:cNvPr id="11" name="tools-label"/>
          <p:cNvSpPr/>
          <p:nvPr/>
        </p:nvSpPr>
        <p:spPr>
          <a:xfrm>
            <a:off x="800100" y="5788507"/>
            <a:ext cx="4905375" cy="219075"/>
          </a:xfrm>
          <a:prstGeom prst="rect">
            <a:avLst/>
          </a:prstGeom>
          <a:noFill/>
          <a:ln/>
        </p:spPr>
        <p:txBody>
          <a:bodyPr wrap="square" lIns="0" tIns="0" rIns="0" bIns="0" rtlCol="0" anchor="t"/>
          <a:lstStyle/>
          <a:p>
            <a:pPr marL="0" indent="0" algn="l">
              <a:lnSpc>
                <a:spcPct val="91667"/>
              </a:lnSpc>
              <a:buNone/>
            </a:pPr>
            <a:r>
              <a:rPr lang="en-US" sz="1579" kern="0" spc="63" dirty="0">
                <a:solidFill>
                  <a:srgbClr val="010716"/>
                </a:solidFill>
                <a:latin typeface="Equip Extended Medium" pitchFamily="34" charset="0"/>
                <a:ea typeface="Equip Extended Medium" pitchFamily="34" charset="-122"/>
                <a:cs typeface="Equip Extended Medium" pitchFamily="34" charset="-120"/>
              </a:rPr>
              <a:t>TOP TOOLS THAT WE USE TO ACCELERATE</a:t>
            </a:r>
            <a:endParaRPr lang="en-US" sz="1579" dirty="0"/>
          </a:p>
        </p:txBody>
      </p:sp>
      <p:sp>
        <p:nvSpPr>
          <p:cNvPr id="12" name="FigJam Miro JIRA Product Discovery"/>
          <p:cNvSpPr/>
          <p:nvPr/>
        </p:nvSpPr>
        <p:spPr>
          <a:xfrm>
            <a:off x="1875904" y="6284086"/>
            <a:ext cx="3552825" cy="285750"/>
          </a:xfrm>
          <a:prstGeom prst="rect">
            <a:avLst/>
          </a:prstGeom>
          <a:noFill/>
          <a:ln/>
        </p:spPr>
        <p:txBody>
          <a:bodyPr wrap="square" lIns="0" tIns="0" rIns="0" bIns="0" rtlCol="0" anchor="t"/>
          <a:lstStyle/>
          <a:p>
            <a:pPr marL="0" indent="0" algn="l">
              <a:lnSpc>
                <a:spcPts val="2175"/>
              </a:lnSpc>
              <a:buNone/>
            </a:pPr>
            <a:r>
              <a:rPr lang="en-US" sz="1723" kern="0" spc="-75" dirty="0">
                <a:solidFill>
                  <a:srgbClr val="010716"/>
                </a:solidFill>
                <a:latin typeface="Equip Regular" pitchFamily="34" charset="0"/>
                <a:ea typeface="Equip Regular" pitchFamily="34" charset="-122"/>
                <a:cs typeface="Equip Regular" pitchFamily="34" charset="-120"/>
              </a:rPr>
              <a:t>FigJam, Miro, JIRA Product Discovery</a:t>
            </a:r>
            <a:endParaRPr lang="en-US" sz="1723" dirty="0"/>
          </a:p>
        </p:txBody>
      </p:sp>
      <p:sp>
        <p:nvSpPr>
          <p:cNvPr id="13" name="Perplexity ChatGPT Claude"/>
          <p:cNvSpPr/>
          <p:nvPr/>
        </p:nvSpPr>
        <p:spPr>
          <a:xfrm>
            <a:off x="1894136" y="6940507"/>
            <a:ext cx="2686050" cy="285750"/>
          </a:xfrm>
          <a:prstGeom prst="rect">
            <a:avLst/>
          </a:prstGeom>
          <a:noFill/>
          <a:ln/>
        </p:spPr>
        <p:txBody>
          <a:bodyPr wrap="square" lIns="0" tIns="0" rIns="0" bIns="0" rtlCol="0" anchor="t"/>
          <a:lstStyle/>
          <a:p>
            <a:pPr marL="0" indent="0" algn="l">
              <a:lnSpc>
                <a:spcPts val="2175"/>
              </a:lnSpc>
              <a:buNone/>
            </a:pPr>
            <a:r>
              <a:rPr lang="en-US" sz="1723" kern="0" spc="-75" dirty="0">
                <a:solidFill>
                  <a:srgbClr val="010716"/>
                </a:solidFill>
                <a:latin typeface="Equip Regular" pitchFamily="34" charset="0"/>
                <a:ea typeface="Equip Regular" pitchFamily="34" charset="-122"/>
                <a:cs typeface="Equip Regular" pitchFamily="34" charset="-120"/>
              </a:rPr>
              <a:t>Perplexity, ChatGPT, Claude</a:t>
            </a:r>
            <a:endParaRPr lang="en-US" sz="1723" dirty="0"/>
          </a:p>
        </p:txBody>
      </p:sp>
      <p:sp>
        <p:nvSpPr>
          <p:cNvPr id="14" name="Dovetail Notion AI Synthetic Personas"/>
          <p:cNvSpPr/>
          <p:nvPr/>
        </p:nvSpPr>
        <p:spPr>
          <a:xfrm>
            <a:off x="1602395" y="7596927"/>
            <a:ext cx="3724275" cy="285750"/>
          </a:xfrm>
          <a:prstGeom prst="rect">
            <a:avLst/>
          </a:prstGeom>
          <a:noFill/>
          <a:ln/>
        </p:spPr>
        <p:txBody>
          <a:bodyPr wrap="square" lIns="0" tIns="0" rIns="0" bIns="0" rtlCol="0" anchor="t"/>
          <a:lstStyle/>
          <a:p>
            <a:pPr marL="0" indent="0" algn="l">
              <a:lnSpc>
                <a:spcPts val="2175"/>
              </a:lnSpc>
              <a:buNone/>
            </a:pPr>
            <a:r>
              <a:rPr lang="en-US" sz="1723" kern="0" spc="-75" dirty="0">
                <a:solidFill>
                  <a:srgbClr val="010716"/>
                </a:solidFill>
                <a:latin typeface="Equip Regular" pitchFamily="34" charset="0"/>
                <a:ea typeface="Equip Regular" pitchFamily="34" charset="-122"/>
                <a:cs typeface="Equip Regular" pitchFamily="34" charset="-120"/>
              </a:rPr>
              <a:t>Dovetail, Notion AI, Synthetic Personas</a:t>
            </a:r>
            <a:endParaRPr lang="en-US" sz="1723" dirty="0"/>
          </a:p>
        </p:txBody>
      </p:sp>
      <p:sp>
        <p:nvSpPr>
          <p:cNvPr id="15" name="Impact and Benefits"/>
          <p:cNvSpPr/>
          <p:nvPr/>
        </p:nvSpPr>
        <p:spPr>
          <a:xfrm>
            <a:off x="8395246" y="5788507"/>
            <a:ext cx="2600325" cy="219075"/>
          </a:xfrm>
          <a:prstGeom prst="rect">
            <a:avLst/>
          </a:prstGeom>
          <a:noFill/>
          <a:ln/>
        </p:spPr>
        <p:txBody>
          <a:bodyPr wrap="square" lIns="0" tIns="0" rIns="0" bIns="0" rtlCol="0" anchor="t"/>
          <a:lstStyle/>
          <a:p>
            <a:pPr marL="0" indent="0" algn="l">
              <a:lnSpc>
                <a:spcPct val="91667"/>
              </a:lnSpc>
              <a:buNone/>
            </a:pPr>
            <a:r>
              <a:rPr lang="en-US" sz="1579" kern="0" spc="63" dirty="0">
                <a:solidFill>
                  <a:srgbClr val="010716"/>
                </a:solidFill>
                <a:latin typeface="Equip Extended Medium" pitchFamily="34" charset="0"/>
                <a:ea typeface="Equip Extended Medium" pitchFamily="34" charset="-122"/>
                <a:cs typeface="Equip Extended Medium" pitchFamily="34" charset="-120"/>
              </a:rPr>
              <a:t>IMPACT AND BENEFITS</a:t>
            </a:r>
            <a:endParaRPr lang="en-US" sz="1579" dirty="0"/>
          </a:p>
        </p:txBody>
      </p:sp>
      <p:sp>
        <p:nvSpPr>
          <p:cNvPr id="16" name="Discovery reduced from 3 months  1 with deeper coverage"/>
          <p:cNvSpPr/>
          <p:nvPr/>
        </p:nvSpPr>
        <p:spPr>
          <a:xfrm>
            <a:off x="8759912" y="6284086"/>
            <a:ext cx="6191250" cy="285750"/>
          </a:xfrm>
          <a:prstGeom prst="rect">
            <a:avLst/>
          </a:prstGeom>
          <a:noFill/>
          <a:ln/>
        </p:spPr>
        <p:txBody>
          <a:bodyPr wrap="square" lIns="0" tIns="0" rIns="0" bIns="0" rtlCol="0" anchor="t"/>
          <a:lstStyle/>
          <a:p>
            <a:pPr marL="0" indent="0" algn="l">
              <a:lnSpc>
                <a:spcPts val="2175"/>
              </a:lnSpc>
              <a:buNone/>
            </a:pPr>
            <a:r>
              <a:rPr lang="en-US" sz="1723" kern="0" spc="-75" dirty="0">
                <a:solidFill>
                  <a:srgbClr val="010716"/>
                </a:solidFill>
                <a:latin typeface="Equip Regular" pitchFamily="34" charset="0"/>
                <a:ea typeface="Equip Regular" pitchFamily="34" charset="-122"/>
                <a:cs typeface="Equip Regular" pitchFamily="34" charset="-120"/>
              </a:rPr>
              <a:t>Discovery reduced from ±3 months → ~1, with deeper coverage</a:t>
            </a:r>
            <a:endParaRPr lang="en-US" sz="1723" dirty="0"/>
          </a:p>
        </p:txBody>
      </p:sp>
      <p:sp>
        <p:nvSpPr>
          <p:cNvPr id="17" name="name_2030 faster synthesis of research artifacts"/>
          <p:cNvSpPr/>
          <p:nvPr/>
        </p:nvSpPr>
        <p:spPr>
          <a:xfrm>
            <a:off x="8759912" y="6940507"/>
            <a:ext cx="4276725" cy="285750"/>
          </a:xfrm>
          <a:prstGeom prst="rect">
            <a:avLst/>
          </a:prstGeom>
          <a:noFill/>
          <a:ln/>
        </p:spPr>
        <p:txBody>
          <a:bodyPr wrap="square" lIns="0" tIns="0" rIns="0" bIns="0" rtlCol="0" anchor="t"/>
          <a:lstStyle/>
          <a:p>
            <a:pPr marL="0" indent="0" algn="l">
              <a:lnSpc>
                <a:spcPts val="2175"/>
              </a:lnSpc>
              <a:buNone/>
            </a:pPr>
            <a:r>
              <a:rPr lang="en-US" sz="1723" kern="0" spc="-75" dirty="0">
                <a:solidFill>
                  <a:srgbClr val="010716"/>
                </a:solidFill>
                <a:latin typeface="Equip Regular" pitchFamily="34" charset="0"/>
                <a:ea typeface="Equip Regular" pitchFamily="34" charset="-122"/>
                <a:cs typeface="Equip Regular" pitchFamily="34" charset="-120"/>
              </a:rPr>
              <a:t>20–30% faster synthesis of research artifacts</a:t>
            </a:r>
            <a:endParaRPr lang="en-US" sz="1723" dirty="0"/>
          </a:p>
        </p:txBody>
      </p:sp>
      <p:sp>
        <p:nvSpPr>
          <p:cNvPr id="18" name="name_2 faster alignment across teams"/>
          <p:cNvSpPr/>
          <p:nvPr/>
        </p:nvSpPr>
        <p:spPr>
          <a:xfrm>
            <a:off x="8759912" y="7596928"/>
            <a:ext cx="3228975" cy="285750"/>
          </a:xfrm>
          <a:prstGeom prst="rect">
            <a:avLst/>
          </a:prstGeom>
          <a:noFill/>
          <a:ln/>
        </p:spPr>
        <p:txBody>
          <a:bodyPr wrap="square" lIns="0" tIns="0" rIns="0" bIns="0" rtlCol="0" anchor="t"/>
          <a:lstStyle/>
          <a:p>
            <a:pPr marL="0" indent="0" algn="l">
              <a:lnSpc>
                <a:spcPts val="2175"/>
              </a:lnSpc>
              <a:buNone/>
            </a:pPr>
            <a:r>
              <a:rPr lang="en-US" sz="1723" kern="0" spc="-75" dirty="0">
                <a:solidFill>
                  <a:srgbClr val="010716"/>
                </a:solidFill>
                <a:latin typeface="Equip Regular" pitchFamily="34" charset="0"/>
                <a:ea typeface="Equip Regular" pitchFamily="34" charset="-122"/>
                <a:cs typeface="Equip Regular" pitchFamily="34" charset="-120"/>
              </a:rPr>
              <a:t>2× faster alignment across teams</a:t>
            </a:r>
            <a:endParaRPr lang="en-US" sz="1723" dirty="0"/>
          </a:p>
        </p:txBody>
      </p:sp>
      <p:sp>
        <p:nvSpPr>
          <p:cNvPr id="19" name="Transformation"/>
          <p:cNvSpPr/>
          <p:nvPr/>
        </p:nvSpPr>
        <p:spPr>
          <a:xfrm>
            <a:off x="1991916" y="8820266"/>
            <a:ext cx="2171700" cy="180975"/>
          </a:xfrm>
          <a:prstGeom prst="rect">
            <a:avLst/>
          </a:prstGeom>
          <a:noFill/>
          <a:ln/>
        </p:spPr>
        <p:txBody>
          <a:bodyPr wrap="square" lIns="0" tIns="0" rIns="0" bIns="0" rtlCol="0" anchor="t"/>
          <a:lstStyle/>
          <a:p>
            <a:pPr marL="0" indent="0" algn="l">
              <a:lnSpc>
                <a:spcPct val="91667"/>
              </a:lnSpc>
              <a:buNone/>
            </a:pPr>
            <a:r>
              <a:rPr lang="en-US" sz="1307" kern="0" spc="-75" dirty="0">
                <a:solidFill>
                  <a:srgbClr val="47D7AC"/>
                </a:solidFill>
                <a:latin typeface="Equip Extended Regular" pitchFamily="34" charset="0"/>
                <a:ea typeface="Equip Extended Regular" pitchFamily="34" charset="-122"/>
                <a:cs typeface="Equip Extended Regular" pitchFamily="34" charset="-120"/>
              </a:rPr>
              <a:t>Transformation</a:t>
            </a:r>
            <a:endParaRPr lang="en-US" sz="1307" dirty="0"/>
          </a:p>
        </p:txBody>
      </p:sp>
      <p:sp>
        <p:nvSpPr>
          <p:cNvPr id="20" name="name_3350 Reduction"/>
          <p:cNvSpPr/>
          <p:nvPr/>
        </p:nvSpPr>
        <p:spPr>
          <a:xfrm>
            <a:off x="1991916" y="9001241"/>
            <a:ext cx="2181225" cy="314325"/>
          </a:xfrm>
          <a:prstGeom prst="rect">
            <a:avLst/>
          </a:prstGeom>
          <a:noFill/>
          <a:ln/>
        </p:spPr>
        <p:txBody>
          <a:bodyPr wrap="square" lIns="0" tIns="0" rIns="0" bIns="0" rtlCol="0" anchor="t"/>
          <a:lstStyle/>
          <a:p>
            <a:pPr marL="0" indent="0" algn="l">
              <a:lnSpc>
                <a:spcPct val="116667"/>
              </a:lnSpc>
              <a:buNone/>
            </a:pPr>
            <a:r>
              <a:rPr lang="en-US" sz="1782" kern="0" spc="-75" dirty="0">
                <a:solidFill>
                  <a:srgbClr val="FFFFFF"/>
                </a:solidFill>
                <a:latin typeface="Equip Extended Medium" pitchFamily="34" charset="0"/>
                <a:ea typeface="Equip Extended Medium" pitchFamily="34" charset="-122"/>
                <a:cs typeface="Equip Extended Medium" pitchFamily="34" charset="-120"/>
              </a:rPr>
              <a:t>33/50% Reduction</a:t>
            </a:r>
            <a:endParaRPr lang="en-US" sz="1782" dirty="0"/>
          </a:p>
        </p:txBody>
      </p:sp>
      <p:sp>
        <p:nvSpPr>
          <p:cNvPr id="21" name="Summarizing 1015 interviews took a week now an AI draft arrives in 30 minutes and is refined in hours Faster research synthesis  earlier insight patterns  reduced ambiguity"/>
          <p:cNvSpPr/>
          <p:nvPr/>
        </p:nvSpPr>
        <p:spPr>
          <a:xfrm>
            <a:off x="4566940" y="8848841"/>
            <a:ext cx="10895195" cy="438150"/>
          </a:xfrm>
          <a:prstGeom prst="rect">
            <a:avLst/>
          </a:prstGeom>
          <a:noFill/>
          <a:ln/>
        </p:spPr>
        <p:txBody>
          <a:bodyPr wrap="square" lIns="0" tIns="0" rIns="0" bIns="0" rtlCol="0" anchor="t"/>
          <a:lstStyle/>
          <a:p>
            <a:pPr marL="0" indent="0" algn="l">
              <a:lnSpc>
                <a:spcPct val="108333"/>
              </a:lnSpc>
              <a:buNone/>
            </a:pPr>
            <a:r>
              <a:rPr lang="en-US" sz="1307" kern="0" spc="-75" dirty="0">
                <a:solidFill>
                  <a:srgbClr val="FFFFFF"/>
                </a:solidFill>
                <a:latin typeface="Equip Extended Regular" pitchFamily="34" charset="0"/>
                <a:ea typeface="Equip Extended Regular" pitchFamily="34" charset="-122"/>
                <a:cs typeface="Equip Extended Regular" pitchFamily="34" charset="-120"/>
              </a:rPr>
              <a:t>Summarizing 10–15 interviews took a week; now an AI draft arrives in 30 minutes and is refined in hours. </a:t>
            </a:r>
            <a:r>
              <a:rPr lang="en-US" sz="1307" b="1" kern="0" spc="-75" dirty="0">
                <a:solidFill>
                  <a:srgbClr val="FFFFFF"/>
                </a:solidFill>
                <a:latin typeface="Equip Extended Bold" pitchFamily="34" charset="0"/>
                <a:ea typeface="Equip Extended Bold" pitchFamily="34" charset="-122"/>
                <a:cs typeface="Equip Extended Bold" pitchFamily="34" charset="-120"/>
              </a:rPr>
              <a:t>Faster research synthesis → earlier insight patterns → reduced ambiguity</a:t>
            </a:r>
            <a:endParaRPr lang="en-US" sz="1307" dirty="0"/>
          </a:p>
        </p:txBody>
      </p:sp>
      <p:pic>
        <p:nvPicPr>
          <p:cNvPr id="23" name="Graphic 22">
            <a:extLst>
              <a:ext uri="{FF2B5EF4-FFF2-40B4-BE49-F238E27FC236}">
                <a16:creationId xmlns:a16="http://schemas.microsoft.com/office/drawing/2014/main" id="{70111A88-086E-1371-CA2A-E0848839A2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5744" y="101077"/>
            <a:ext cx="2198820" cy="16491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why-title"/>
          <p:cNvSpPr/>
          <p:nvPr/>
        </p:nvSpPr>
        <p:spPr>
          <a:xfrm>
            <a:off x="800100" y="2466975"/>
            <a:ext cx="116776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Why choose Nagarro as your transformation partner?</a:t>
            </a:r>
            <a:endParaRPr lang="en-US" sz="4800" dirty="0"/>
          </a:p>
        </p:txBody>
      </p:sp>
      <p:sp>
        <p:nvSpPr>
          <p:cNvPr id="8" name="why-body-1"/>
          <p:cNvSpPr/>
          <p:nvPr/>
        </p:nvSpPr>
        <p:spPr>
          <a:xfrm>
            <a:off x="800100" y="4610100"/>
            <a:ext cx="5429250" cy="32004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Our existing relationship: </a:t>
            </a:r>
            <a:r>
              <a:rPr lang="en-US" sz="1350" kern="0" spc="-75" dirty="0">
                <a:solidFill>
                  <a:srgbClr val="010716"/>
                </a:solidFill>
                <a:latin typeface="Equip Regular" pitchFamily="34" charset="0"/>
                <a:ea typeface="Equip Regular" pitchFamily="34" charset="-122"/>
                <a:cs typeface="Equip Regular" pitchFamily="34" charset="-120"/>
              </a:rPr>
              <a:t>As a trusted technology partner to FIFA over the past three years, Nagarro brings unique familiarity with FIFA’s digital landscape, operating model, and stakeholder expectations. We remain committed to supporting FIFA’s digital transformation journey and are confident that this collaboration will deliver meaningful value for FIFA and its global community 
</a:t>
            </a:r>
            <a:r>
              <a:rPr lang="en-US" sz="1350" kern="0" spc="-75" dirty="0">
                <a:solidFill>
                  <a:srgbClr val="010716"/>
                </a:solidFill>
                <a:latin typeface="Equip ExtraBold" pitchFamily="34" charset="0"/>
                <a:ea typeface="Equip ExtraBold" pitchFamily="34" charset="-122"/>
                <a:cs typeface="Equip ExtraBold" pitchFamily="34" charset="-120"/>
              </a:rPr>
              <a:t>Our Domain capabilities: </a:t>
            </a:r>
            <a:r>
              <a:rPr lang="en-US" sz="1350" kern="0" spc="-75" dirty="0">
                <a:solidFill>
                  <a:srgbClr val="010716"/>
                </a:solidFill>
                <a:latin typeface="Equip Regular" pitchFamily="34" charset="0"/>
                <a:ea typeface="Equip Regular" pitchFamily="34" charset="-122"/>
                <a:cs typeface="Equip Regular" pitchFamily="34" charset="-120"/>
              </a:rPr>
              <a:t>We have more than 15 years of extensive experience working with great brands in sports, media, and gaming industry during which we have created bespoke service offerings and AI driven accelerators for driving value for our clients. We have close to 30+ large accounts with 500+ IT specialists working across the globe​ for our clients in this industry.
</a:t>
            </a:r>
            <a:endParaRPr lang="en-US" sz="1350" dirty="0"/>
          </a:p>
        </p:txBody>
      </p:sp>
      <p:sp>
        <p:nvSpPr>
          <p:cNvPr id="9" name="why-body-2"/>
          <p:cNvSpPr/>
          <p:nvPr/>
        </p:nvSpPr>
        <p:spPr>
          <a:xfrm>
            <a:off x="6496050" y="4610100"/>
            <a:ext cx="5429250" cy="27432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Our expertise in creating impactful digital experiences: </a:t>
            </a:r>
            <a:r>
              <a:rPr lang="en-US" sz="1350" kern="0" spc="-75" dirty="0">
                <a:solidFill>
                  <a:srgbClr val="010716"/>
                </a:solidFill>
                <a:latin typeface="Equip Regular" pitchFamily="34" charset="0"/>
                <a:ea typeface="Equip Regular" pitchFamily="34" charset="-122"/>
                <a:cs typeface="Equip Regular" pitchFamily="34" charset="-120"/>
              </a:rPr>
              <a:t>We have a dedicated digital experiences practice with leadership having more than 20 years of experience in creating digital experience platforms across technologies and industries. We have strong partnerships with leading DXPs like Contentful, Sitecore, Adobe, Acquia, Builder.io to name a few. We have also developed AI powered tools and accelerators to meet the DX vision of our clients across the globe
</a:t>
            </a:r>
            <a:r>
              <a:rPr lang="en-US" sz="1350" kern="0" spc="-75" dirty="0">
                <a:solidFill>
                  <a:srgbClr val="010716"/>
                </a:solidFill>
                <a:latin typeface="Equip ExtraBold" pitchFamily="34" charset="0"/>
                <a:ea typeface="Equip ExtraBold" pitchFamily="34" charset="-122"/>
                <a:cs typeface="Equip ExtraBold" pitchFamily="34" charset="-120"/>
              </a:rPr>
              <a:t>Our commitment to provide the right talent to FIFA: </a:t>
            </a:r>
            <a:r>
              <a:rPr lang="en-US" sz="1350" kern="0" spc="-75" dirty="0">
                <a:solidFill>
                  <a:srgbClr val="010716"/>
                </a:solidFill>
                <a:latin typeface="Equip Regular" pitchFamily="34" charset="0"/>
                <a:ea typeface="Equip Regular" pitchFamily="34" charset="-122"/>
                <a:cs typeface="Equip Regular" pitchFamily="34" charset="-120"/>
              </a:rPr>
              <a:t>At Nagarro, we believe in hiring and retaining the best talent across the globe, and we have provided sample profiles in this proposal to demonstrate our technical and functional skills to FIFA.</a:t>
            </a:r>
            <a:endParaRPr lang="en-US" sz="1350" dirty="0"/>
          </a:p>
        </p:txBody>
      </p:sp>
      <p:sp>
        <p:nvSpPr>
          <p:cNvPr id="10" name="why-body-3"/>
          <p:cNvSpPr/>
          <p:nvPr/>
        </p:nvSpPr>
        <p:spPr>
          <a:xfrm>
            <a:off x="12192000" y="4610100"/>
            <a:ext cx="5429250" cy="32004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Experience in implementing similar projects: </a:t>
            </a:r>
            <a:r>
              <a:rPr lang="en-US" sz="1350" kern="0" spc="-75" dirty="0">
                <a:solidFill>
                  <a:srgbClr val="010716"/>
                </a:solidFill>
                <a:latin typeface="Equip Regular" pitchFamily="34" charset="0"/>
                <a:ea typeface="Equip Regular" pitchFamily="34" charset="-122"/>
                <a:cs typeface="Equip Regular" pitchFamily="34" charset="-120"/>
              </a:rPr>
              <a:t>We have worked with global brands to redesign their websites, consulted them on the features to enhance engagement, built personalised and immersive experiences and built the technical foundation to enable all these transformations. We have provided some select examples in this proposal 
</a:t>
            </a:r>
            <a:r>
              <a:rPr lang="en-US" sz="1350" kern="0" spc="-75" dirty="0">
                <a:solidFill>
                  <a:srgbClr val="010716"/>
                </a:solidFill>
                <a:latin typeface="Equip ExtraBold" pitchFamily="34" charset="0"/>
                <a:ea typeface="Equip ExtraBold" pitchFamily="34" charset="-122"/>
                <a:cs typeface="Equip ExtraBold" pitchFamily="34" charset="-120"/>
              </a:rPr>
              <a:t>Not just a technology partner: </a:t>
            </a:r>
            <a:r>
              <a:rPr lang="en-US" sz="1350" kern="0" spc="-75" dirty="0">
                <a:solidFill>
                  <a:srgbClr val="010716"/>
                </a:solidFill>
                <a:latin typeface="Equip Regular" pitchFamily="34" charset="0"/>
                <a:ea typeface="Equip Regular" pitchFamily="34" charset="-122"/>
                <a:cs typeface="Equip Regular" pitchFamily="34" charset="-120"/>
              </a:rPr>
              <a:t>We position ourselves not just as implementation partners but also consulting partners to our clients by bringing in our thinking breakthrough framework and consulting frameworks like design++ that can help us identify future tracks for transformation for FIFA. 
Details around all these points are present in Section 8 : Why Nagarro </a:t>
            </a:r>
            <a:endParaRPr lang="en-US" sz="1350" dirty="0"/>
          </a:p>
        </p:txBody>
      </p:sp>
      <p:sp>
        <p:nvSpPr>
          <p:cNvPr id="2" name="Digital Design Strategy">
            <a:extLst>
              <a:ext uri="{FF2B5EF4-FFF2-40B4-BE49-F238E27FC236}">
                <a16:creationId xmlns:a16="http://schemas.microsoft.com/office/drawing/2014/main" id="{D9AA9267-3B46-6F9F-752B-971ACFBBCA02}"/>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3" name="Project Name">
            <a:extLst>
              <a:ext uri="{FF2B5EF4-FFF2-40B4-BE49-F238E27FC236}">
                <a16:creationId xmlns:a16="http://schemas.microsoft.com/office/drawing/2014/main" id="{52B2EFAC-F835-39A5-C8DC-026AB94D1E03}"/>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4" name="Month Year">
            <a:extLst>
              <a:ext uri="{FF2B5EF4-FFF2-40B4-BE49-F238E27FC236}">
                <a16:creationId xmlns:a16="http://schemas.microsoft.com/office/drawing/2014/main" id="{E39C510A-8C48-F8C8-3CC9-E1ECF1EFD81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5" name="2026">
            <a:extLst>
              <a:ext uri="{FF2B5EF4-FFF2-40B4-BE49-F238E27FC236}">
                <a16:creationId xmlns:a16="http://schemas.microsoft.com/office/drawing/2014/main" id="{6F643C78-184B-7B1F-1817-79864243134D}"/>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6" name="Graphic 5">
            <a:extLst>
              <a:ext uri="{FF2B5EF4-FFF2-40B4-BE49-F238E27FC236}">
                <a16:creationId xmlns:a16="http://schemas.microsoft.com/office/drawing/2014/main" id="{C170B7C1-0D09-5B71-720C-F43E8F908D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19" name="Straight Connector 18">
            <a:extLst>
              <a:ext uri="{FF2B5EF4-FFF2-40B4-BE49-F238E27FC236}">
                <a16:creationId xmlns:a16="http://schemas.microsoft.com/office/drawing/2014/main" id="{436BE0D4-8155-64DE-F4C5-2DC223268C32}"/>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E6D2AAA-D548-49D1-E40B-9C2FE7906D10}"/>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4744A8-C26C-FC9F-781C-0084769BEC3E}"/>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why-title"/>
          <p:cNvSpPr/>
          <p:nvPr/>
        </p:nvSpPr>
        <p:spPr>
          <a:xfrm>
            <a:off x="800100" y="2743200"/>
            <a:ext cx="5429250" cy="3048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Why choose Nagarro as your transformation partner?</a:t>
            </a:r>
            <a:endParaRPr lang="en-US" sz="4800" dirty="0"/>
          </a:p>
        </p:txBody>
      </p:sp>
      <p:sp>
        <p:nvSpPr>
          <p:cNvPr id="8" name="why-body-1"/>
          <p:cNvSpPr/>
          <p:nvPr/>
        </p:nvSpPr>
        <p:spPr>
          <a:xfrm>
            <a:off x="6457950" y="2743200"/>
            <a:ext cx="5429250" cy="4800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Our existing relationship: </a:t>
            </a:r>
            <a:r>
              <a:rPr lang="en-US" sz="1350" kern="0" spc="-75" dirty="0">
                <a:solidFill>
                  <a:srgbClr val="010716"/>
                </a:solidFill>
                <a:latin typeface="Equip Regular" pitchFamily="34" charset="0"/>
                <a:ea typeface="Equip Regular" pitchFamily="34" charset="-122"/>
                <a:cs typeface="Equip Regular" pitchFamily="34" charset="-120"/>
              </a:rPr>
              <a:t>As a trusted technology partner to FIFA over the past three years, Nagarro brings unique familiarity with FIFA’s digital landscape, operating model, and stakeholder expectations. We remain committed to supporting FIFA’s digital transformation journey and are confident that this collaboration will deliver meaningful value for FIFA and its global community 
</a:t>
            </a:r>
            <a:r>
              <a:rPr lang="en-US" sz="1350" kern="0" spc="-75" dirty="0">
                <a:solidFill>
                  <a:srgbClr val="010716"/>
                </a:solidFill>
                <a:latin typeface="Equip ExtraBold" pitchFamily="34" charset="0"/>
                <a:ea typeface="Equip ExtraBold" pitchFamily="34" charset="-122"/>
                <a:cs typeface="Equip ExtraBold" pitchFamily="34" charset="-120"/>
              </a:rPr>
              <a:t>Our Domain capabilities: </a:t>
            </a:r>
            <a:r>
              <a:rPr lang="en-US" sz="1350" kern="0" spc="-75" dirty="0">
                <a:solidFill>
                  <a:srgbClr val="010716"/>
                </a:solidFill>
                <a:latin typeface="Equip Regular" pitchFamily="34" charset="0"/>
                <a:ea typeface="Equip Regular" pitchFamily="34" charset="-122"/>
                <a:cs typeface="Equip Regular" pitchFamily="34" charset="-120"/>
              </a:rPr>
              <a:t>We have more than 15 years of extensive experience working with great brands in sports, media, and gaming industry during which we have created bespoke service offerings and AI driven accelerators for driving value for our clients. We have close to 30+ large accounts with 500+ IT specialists working across the globe​ for our clients in this industry.
</a:t>
            </a:r>
            <a:r>
              <a:rPr lang="en-US" sz="1350" kern="0" spc="-75" dirty="0">
                <a:solidFill>
                  <a:srgbClr val="010716"/>
                </a:solidFill>
                <a:latin typeface="Equip ExtraBold" pitchFamily="34" charset="0"/>
                <a:ea typeface="Equip ExtraBold" pitchFamily="34" charset="-122"/>
                <a:cs typeface="Equip ExtraBold" pitchFamily="34" charset="-120"/>
              </a:rPr>
              <a:t>Our expertise in creating impactful digital experiences: </a:t>
            </a:r>
            <a:r>
              <a:rPr lang="en-US" sz="1350" kern="0" spc="-75" dirty="0">
                <a:solidFill>
                  <a:srgbClr val="010716"/>
                </a:solidFill>
                <a:latin typeface="Equip Regular" pitchFamily="34" charset="0"/>
                <a:ea typeface="Equip Regular" pitchFamily="34" charset="-122"/>
                <a:cs typeface="Equip Regular" pitchFamily="34" charset="-120"/>
              </a:rPr>
              <a:t>We have a dedicated digital experiences practice with leadership having more than 20 years of experience in creating digital experience platforms across technologies and industries. We have strong partnerships with leading DXPs like Contentful, Sitecore, Adobe, Acquia, Builder.io to name a few. We have also developed AI powered tools and accelerators to meet the DX vision of our clients across the globe</a:t>
            </a:r>
            <a:endParaRPr lang="en-US" sz="1350" dirty="0"/>
          </a:p>
        </p:txBody>
      </p:sp>
      <p:sp>
        <p:nvSpPr>
          <p:cNvPr id="9" name="why-body-2"/>
          <p:cNvSpPr/>
          <p:nvPr/>
        </p:nvSpPr>
        <p:spPr>
          <a:xfrm>
            <a:off x="12115800" y="2743200"/>
            <a:ext cx="5429250" cy="43434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Our commitment to provide the right talent to FIFA: </a:t>
            </a:r>
            <a:r>
              <a:rPr lang="en-US" sz="1350" kern="0" spc="-75" dirty="0">
                <a:solidFill>
                  <a:srgbClr val="010716"/>
                </a:solidFill>
                <a:latin typeface="Equip Regular" pitchFamily="34" charset="0"/>
                <a:ea typeface="Equip Regular" pitchFamily="34" charset="-122"/>
                <a:cs typeface="Equip Regular" pitchFamily="34" charset="-120"/>
              </a:rPr>
              <a:t>At Nagarro, we believe in hiring and retaining the best talent across the globe, and we have provided sample profiles in this proposal to demonstrate our technical and functional skills to FIFA.
</a:t>
            </a:r>
            <a:r>
              <a:rPr lang="en-US" sz="1350" kern="0" spc="-75" dirty="0">
                <a:solidFill>
                  <a:srgbClr val="010716"/>
                </a:solidFill>
                <a:latin typeface="Equip ExtraBold" pitchFamily="34" charset="0"/>
                <a:ea typeface="Equip ExtraBold" pitchFamily="34" charset="-122"/>
                <a:cs typeface="Equip ExtraBold" pitchFamily="34" charset="-120"/>
              </a:rPr>
              <a:t>Experience in implementing similar projects: </a:t>
            </a:r>
            <a:r>
              <a:rPr lang="en-US" sz="1350" kern="0" spc="-75" dirty="0">
                <a:solidFill>
                  <a:srgbClr val="010716"/>
                </a:solidFill>
                <a:latin typeface="Equip Regular" pitchFamily="34" charset="0"/>
                <a:ea typeface="Equip Regular" pitchFamily="34" charset="-122"/>
                <a:cs typeface="Equip Regular" pitchFamily="34" charset="-120"/>
              </a:rPr>
              <a:t>We have worked with global brands to redesign their websites, consulted them on the features to enhance engagement, built personalised and immersive experiences and built the technical foundation to enable all these transformations. We have provided some select examples in this proposal 
</a:t>
            </a:r>
            <a:r>
              <a:rPr lang="en-US" sz="1350" kern="0" spc="-75" dirty="0">
                <a:solidFill>
                  <a:srgbClr val="010716"/>
                </a:solidFill>
                <a:latin typeface="Equip ExtraBold" pitchFamily="34" charset="0"/>
                <a:ea typeface="Equip ExtraBold" pitchFamily="34" charset="-122"/>
                <a:cs typeface="Equip ExtraBold" pitchFamily="34" charset="-120"/>
              </a:rPr>
              <a:t>Not just a technology partner: </a:t>
            </a:r>
            <a:r>
              <a:rPr lang="en-US" sz="1350" kern="0" spc="-75" dirty="0">
                <a:solidFill>
                  <a:srgbClr val="010716"/>
                </a:solidFill>
                <a:latin typeface="Equip Regular" pitchFamily="34" charset="0"/>
                <a:ea typeface="Equip Regular" pitchFamily="34" charset="-122"/>
                <a:cs typeface="Equip Regular" pitchFamily="34" charset="-120"/>
              </a:rPr>
              <a:t>We position ourselves not just as implementation partners but also consulting partners to our clients by bringing in our thinking breakthrough framework and consulting frameworks like design++ that can help us identify future tracks for transformation for FIFA. 
Details around all these points are present in Section 8 : Why Nagarro </a:t>
            </a:r>
            <a:endParaRPr lang="en-US" sz="1350" dirty="0"/>
          </a:p>
        </p:txBody>
      </p:sp>
      <p:sp>
        <p:nvSpPr>
          <p:cNvPr id="2" name="Digital Design Strategy">
            <a:extLst>
              <a:ext uri="{FF2B5EF4-FFF2-40B4-BE49-F238E27FC236}">
                <a16:creationId xmlns:a16="http://schemas.microsoft.com/office/drawing/2014/main" id="{E6F2CEE3-3661-0B8C-BB93-12780659043A}"/>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3" name="Project Name">
            <a:extLst>
              <a:ext uri="{FF2B5EF4-FFF2-40B4-BE49-F238E27FC236}">
                <a16:creationId xmlns:a16="http://schemas.microsoft.com/office/drawing/2014/main" id="{FABE7CBC-639D-28BA-E375-47D5A84FCE5D}"/>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4" name="Month Year">
            <a:extLst>
              <a:ext uri="{FF2B5EF4-FFF2-40B4-BE49-F238E27FC236}">
                <a16:creationId xmlns:a16="http://schemas.microsoft.com/office/drawing/2014/main" id="{19C40D9F-CB3A-F9CE-4B02-25A2CB21951A}"/>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5" name="2026">
            <a:extLst>
              <a:ext uri="{FF2B5EF4-FFF2-40B4-BE49-F238E27FC236}">
                <a16:creationId xmlns:a16="http://schemas.microsoft.com/office/drawing/2014/main" id="{D52EE150-560A-41C4-3A88-834ADC4DBD70}"/>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6" name="Graphic 5">
            <a:extLst>
              <a:ext uri="{FF2B5EF4-FFF2-40B4-BE49-F238E27FC236}">
                <a16:creationId xmlns:a16="http://schemas.microsoft.com/office/drawing/2014/main" id="{03C1A02C-4C17-9E96-D56E-FB002E62285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18" name="Straight Connector 17">
            <a:extLst>
              <a:ext uri="{FF2B5EF4-FFF2-40B4-BE49-F238E27FC236}">
                <a16:creationId xmlns:a16="http://schemas.microsoft.com/office/drawing/2014/main" id="{F3519CE7-7E23-CC1D-EA0A-D05D69F75C00}"/>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4EB133-1B3A-338A-9519-0DD14B3908D0}"/>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0B058F-6B5E-7118-D4ED-294E23F6670D}"/>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1098</Words>
  <Application>Microsoft Macintosh PowerPoint</Application>
  <PresentationFormat>Custom</PresentationFormat>
  <Paragraphs>58</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Equip Extended Medium</vt:lpstr>
      <vt:lpstr>Equip Extended Bold</vt:lpstr>
      <vt:lpstr>Arial</vt:lpstr>
      <vt:lpstr>Equip Extended Regular</vt:lpstr>
      <vt:lpstr>Equip Regular</vt:lpstr>
      <vt:lpstr>Equip ExtraBold</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2026-06-02T12:30:52Z</dcterms:modified>
</cp:coreProperties>
</file>