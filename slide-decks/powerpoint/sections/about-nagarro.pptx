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8288000" cy="10287000"/>
  <p:notesSz cx="10287000" cy="18288000"/>
  <p:embeddedFontLst>
    <p:embeddedFont>
      <p:font typeface="Equip Extended Bold" panose="02000503030000020004" pitchFamily="2" charset="77"/>
      <p:bold r:id="rId13"/>
      <p:italic r:id="rId14"/>
      <p:boldItalic r:id="rId15"/>
    </p:embeddedFont>
    <p:embeddedFont>
      <p:font typeface="Equip Extended Medium" panose="02000603000000020004" pitchFamily="2" charset="77"/>
      <p:regular r:id="rId16"/>
      <p:italic r:id="rId17"/>
    </p:embeddedFont>
    <p:embeddedFont>
      <p:font typeface="Equip Extended Regular" panose="02000503030000020004" pitchFamily="2" charset="77"/>
      <p:regular r:id="rId18"/>
      <p:bold r:id="rId19"/>
      <p:italic r:id="rId20"/>
      <p:boldItalic r:id="rId21"/>
    </p:embeddedFont>
    <p:embeddedFont>
      <p:font typeface="Equip Regular" panose="02000503030000020004" pitchFamily="2" charset="77"/>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7" userDrawn="1">
          <p15:clr>
            <a:srgbClr val="A4A3A4"/>
          </p15:clr>
        </p15:guide>
        <p15:guide id="2" pos="498" userDrawn="1">
          <p15:clr>
            <a:srgbClr val="A4A3A4"/>
          </p15:clr>
        </p15:guide>
        <p15:guide id="3" pos="11022" userDrawn="1">
          <p15:clr>
            <a:srgbClr val="A4A3A4"/>
          </p15:clr>
        </p15:guide>
        <p15:guide id="4" orient="horz" pos="53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F9F9F9"/>
    <a:srgbClr val="F4F4F4"/>
    <a:srgbClr val="F6F6F6"/>
    <a:srgbClr val="FCFCFC"/>
    <a:srgbClr val="FFFFFF"/>
    <a:srgbClr val="000716"/>
    <a:srgbClr val="A4EBD5"/>
    <a:srgbClr val="2C807C"/>
    <a:srgbClr val="FDF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64"/>
    <p:restoredTop sz="94610"/>
  </p:normalViewPr>
  <p:slideViewPr>
    <p:cSldViewPr snapToGrid="0" snapToObjects="1">
      <p:cViewPr varScale="1">
        <p:scale>
          <a:sx n="77" d="100"/>
          <a:sy n="77" d="100"/>
        </p:scale>
        <p:origin x="208" y="512"/>
      </p:cViewPr>
      <p:guideLst>
        <p:guide orient="horz" pos="3127"/>
        <p:guide pos="498"/>
        <p:guide pos="11022"/>
        <p:guide orient="horz" pos="53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id"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777887" y="1732872"/>
            <a:ext cx="16710013" cy="6953928"/>
          </a:xfrm>
          <a:prstGeom prst="rect">
            <a:avLst/>
          </a:prstGeom>
        </p:spPr>
      </p:pic>
      <p:sp>
        <p:nvSpPr>
          <p:cNvPr id="8" name="Agile software development"/>
          <p:cNvSpPr/>
          <p:nvPr/>
        </p:nvSpPr>
        <p:spPr>
          <a:xfrm>
            <a:off x="1816112" y="2012156"/>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Agile software development</a:t>
            </a:r>
            <a:endParaRPr lang="en-US" sz="1800" dirty="0"/>
          </a:p>
        </p:txBody>
      </p:sp>
      <p:sp>
        <p:nvSpPr>
          <p:cNvPr id="9" name="Test engineering"/>
          <p:cNvSpPr/>
          <p:nvPr/>
        </p:nvSpPr>
        <p:spPr>
          <a:xfrm>
            <a:off x="1816112" y="8093869"/>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Test engineering</a:t>
            </a:r>
            <a:endParaRPr lang="en-US" sz="1800" dirty="0"/>
          </a:p>
        </p:txBody>
      </p:sp>
      <p:sp>
        <p:nvSpPr>
          <p:cNvPr id="10" name="API management"/>
          <p:cNvSpPr/>
          <p:nvPr/>
        </p:nvSpPr>
        <p:spPr>
          <a:xfrm>
            <a:off x="5214640" y="2164556"/>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API management</a:t>
            </a:r>
            <a:endParaRPr lang="en-US" sz="1800" dirty="0"/>
          </a:p>
        </p:txBody>
      </p:sp>
      <p:sp>
        <p:nvSpPr>
          <p:cNvPr id="11" name="Application management  support"/>
          <p:cNvSpPr/>
          <p:nvPr/>
        </p:nvSpPr>
        <p:spPr>
          <a:xfrm>
            <a:off x="8613167" y="1859756"/>
            <a:ext cx="2096770" cy="9144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Application management &amp; support</a:t>
            </a:r>
            <a:endParaRPr lang="en-US" sz="1800" dirty="0"/>
          </a:p>
        </p:txBody>
      </p:sp>
      <p:sp>
        <p:nvSpPr>
          <p:cNvPr id="12" name="Artificial intelligence"/>
          <p:cNvSpPr/>
          <p:nvPr/>
        </p:nvSpPr>
        <p:spPr>
          <a:xfrm>
            <a:off x="12011658" y="2012156"/>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Artificial intelligence</a:t>
            </a:r>
            <a:endParaRPr lang="en-US" sz="1800" dirty="0"/>
          </a:p>
        </p:txBody>
      </p:sp>
      <p:sp>
        <p:nvSpPr>
          <p:cNvPr id="13" name="Big data"/>
          <p:cNvSpPr/>
          <p:nvPr/>
        </p:nvSpPr>
        <p:spPr>
          <a:xfrm>
            <a:off x="15410185" y="2164556"/>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Big data</a:t>
            </a:r>
            <a:endParaRPr lang="en-US" sz="1800" dirty="0"/>
          </a:p>
        </p:txBody>
      </p:sp>
      <p:sp>
        <p:nvSpPr>
          <p:cNvPr id="14" name="Business intelligence"/>
          <p:cNvSpPr/>
          <p:nvPr/>
        </p:nvSpPr>
        <p:spPr>
          <a:xfrm>
            <a:off x="1816112" y="3198019"/>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Business intelligence</a:t>
            </a:r>
            <a:endParaRPr lang="en-US" sz="1800" dirty="0"/>
          </a:p>
        </p:txBody>
      </p:sp>
      <p:sp>
        <p:nvSpPr>
          <p:cNvPr id="15" name="Business consulting"/>
          <p:cNvSpPr/>
          <p:nvPr/>
        </p:nvSpPr>
        <p:spPr>
          <a:xfrm>
            <a:off x="5214640" y="3198019"/>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Business consulting</a:t>
            </a:r>
            <a:endParaRPr lang="en-US" sz="1800" dirty="0"/>
          </a:p>
        </p:txBody>
      </p:sp>
      <p:sp>
        <p:nvSpPr>
          <p:cNvPr id="16" name="Cloud enablement  integration"/>
          <p:cNvSpPr/>
          <p:nvPr/>
        </p:nvSpPr>
        <p:spPr>
          <a:xfrm>
            <a:off x="8613167" y="3198019"/>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Cloud enablement &amp; integration</a:t>
            </a:r>
            <a:endParaRPr lang="en-US" sz="1800" dirty="0"/>
          </a:p>
        </p:txBody>
      </p:sp>
      <p:sp>
        <p:nvSpPr>
          <p:cNvPr id="17" name="CMS  portals"/>
          <p:cNvSpPr/>
          <p:nvPr/>
        </p:nvSpPr>
        <p:spPr>
          <a:xfrm>
            <a:off x="12011658" y="3350419"/>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CMS &amp; portals</a:t>
            </a:r>
            <a:endParaRPr lang="en-US" sz="1800" dirty="0"/>
          </a:p>
        </p:txBody>
      </p:sp>
      <p:sp>
        <p:nvSpPr>
          <p:cNvPr id="18" name="CRM"/>
          <p:cNvSpPr/>
          <p:nvPr/>
        </p:nvSpPr>
        <p:spPr>
          <a:xfrm>
            <a:off x="15410185" y="3350419"/>
            <a:ext cx="2144395"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CRM</a:t>
            </a:r>
            <a:endParaRPr lang="en-US" sz="1800" dirty="0"/>
          </a:p>
        </p:txBody>
      </p:sp>
      <p:sp>
        <p:nvSpPr>
          <p:cNvPr id="19" name="Data science"/>
          <p:cNvSpPr/>
          <p:nvPr/>
        </p:nvSpPr>
        <p:spPr>
          <a:xfrm>
            <a:off x="1816112" y="4536281"/>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Data science</a:t>
            </a:r>
            <a:endParaRPr lang="en-US" sz="1800" dirty="0"/>
          </a:p>
        </p:txBody>
      </p:sp>
      <p:sp>
        <p:nvSpPr>
          <p:cNvPr id="20" name="DevOps"/>
          <p:cNvSpPr/>
          <p:nvPr/>
        </p:nvSpPr>
        <p:spPr>
          <a:xfrm>
            <a:off x="5214640" y="4536281"/>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DevOps</a:t>
            </a:r>
            <a:endParaRPr lang="en-US" sz="1800" dirty="0"/>
          </a:p>
        </p:txBody>
      </p:sp>
      <p:sp>
        <p:nvSpPr>
          <p:cNvPr id="21" name="Digital Marketing"/>
          <p:cNvSpPr/>
          <p:nvPr/>
        </p:nvSpPr>
        <p:spPr>
          <a:xfrm>
            <a:off x="8613167" y="4536281"/>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Digital Marketing</a:t>
            </a:r>
            <a:endParaRPr lang="en-US" sz="1800" dirty="0"/>
          </a:p>
        </p:txBody>
      </p:sp>
      <p:sp>
        <p:nvSpPr>
          <p:cNvPr id="22" name="Digital commerce"/>
          <p:cNvSpPr/>
          <p:nvPr/>
        </p:nvSpPr>
        <p:spPr>
          <a:xfrm>
            <a:off x="12011658" y="4536281"/>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Digital commerce</a:t>
            </a:r>
            <a:endParaRPr lang="en-US" sz="1800" dirty="0"/>
          </a:p>
        </p:txBody>
      </p:sp>
      <p:sp>
        <p:nvSpPr>
          <p:cNvPr id="23" name="Embedded systems"/>
          <p:cNvSpPr/>
          <p:nvPr/>
        </p:nvSpPr>
        <p:spPr>
          <a:xfrm>
            <a:off x="15410185" y="4383881"/>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Embedded systems</a:t>
            </a:r>
            <a:endParaRPr lang="en-US" sz="1800" dirty="0"/>
          </a:p>
        </p:txBody>
      </p:sp>
      <p:sp>
        <p:nvSpPr>
          <p:cNvPr id="24" name="Enterprise resource planning"/>
          <p:cNvSpPr/>
          <p:nvPr/>
        </p:nvSpPr>
        <p:spPr>
          <a:xfrm>
            <a:off x="1816112" y="5569744"/>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Enterprise resource planning</a:t>
            </a:r>
            <a:endParaRPr lang="en-US" sz="1800" dirty="0"/>
          </a:p>
        </p:txBody>
      </p:sp>
      <p:sp>
        <p:nvSpPr>
          <p:cNvPr id="25" name="Enterprise architecture"/>
          <p:cNvSpPr/>
          <p:nvPr/>
        </p:nvSpPr>
        <p:spPr>
          <a:xfrm>
            <a:off x="5214640" y="5569744"/>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Enterprise architecture</a:t>
            </a:r>
            <a:endParaRPr lang="en-US" sz="1800" dirty="0"/>
          </a:p>
        </p:txBody>
      </p:sp>
      <p:sp>
        <p:nvSpPr>
          <p:cNvPr id="26" name="Identity  access management"/>
          <p:cNvSpPr/>
          <p:nvPr/>
        </p:nvSpPr>
        <p:spPr>
          <a:xfrm>
            <a:off x="8613167" y="5569744"/>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Identity &amp; access management</a:t>
            </a:r>
            <a:endParaRPr lang="en-US" sz="1800" dirty="0"/>
          </a:p>
        </p:txBody>
      </p:sp>
      <p:sp>
        <p:nvSpPr>
          <p:cNvPr id="27" name="Internet of things"/>
          <p:cNvSpPr/>
          <p:nvPr/>
        </p:nvSpPr>
        <p:spPr>
          <a:xfrm>
            <a:off x="12011658" y="5722144"/>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Internet of things</a:t>
            </a:r>
            <a:endParaRPr lang="en-US" sz="1800" dirty="0"/>
          </a:p>
        </p:txBody>
      </p:sp>
      <p:sp>
        <p:nvSpPr>
          <p:cNvPr id="28" name="Legacy modernization  transformation"/>
          <p:cNvSpPr/>
          <p:nvPr/>
        </p:nvSpPr>
        <p:spPr>
          <a:xfrm>
            <a:off x="15410185" y="5417344"/>
            <a:ext cx="2096770" cy="9144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Legacy modernization &amp; transformation</a:t>
            </a:r>
            <a:endParaRPr lang="en-US" sz="1800" dirty="0"/>
          </a:p>
        </p:txBody>
      </p:sp>
      <p:sp>
        <p:nvSpPr>
          <p:cNvPr id="29" name="Low code platforms"/>
          <p:cNvSpPr/>
          <p:nvPr/>
        </p:nvSpPr>
        <p:spPr>
          <a:xfrm>
            <a:off x="1816112" y="6755606"/>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Low code platforms</a:t>
            </a:r>
            <a:endParaRPr lang="en-US" sz="1800" dirty="0"/>
          </a:p>
        </p:txBody>
      </p:sp>
      <p:sp>
        <p:nvSpPr>
          <p:cNvPr id="30" name="Metaverse"/>
          <p:cNvSpPr/>
          <p:nvPr/>
        </p:nvSpPr>
        <p:spPr>
          <a:xfrm>
            <a:off x="5214640" y="6908006"/>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Metaverse</a:t>
            </a:r>
            <a:endParaRPr lang="en-US" sz="1800" dirty="0"/>
          </a:p>
        </p:txBody>
      </p:sp>
      <p:sp>
        <p:nvSpPr>
          <p:cNvPr id="31" name="Mobile solution"/>
          <p:cNvSpPr/>
          <p:nvPr/>
        </p:nvSpPr>
        <p:spPr>
          <a:xfrm>
            <a:off x="8613167" y="6908006"/>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Mobile solution</a:t>
            </a:r>
            <a:endParaRPr lang="en-US" sz="1800" dirty="0"/>
          </a:p>
        </p:txBody>
      </p:sp>
      <p:sp>
        <p:nvSpPr>
          <p:cNvPr id="32" name="Reality technologies"/>
          <p:cNvSpPr/>
          <p:nvPr/>
        </p:nvSpPr>
        <p:spPr>
          <a:xfrm>
            <a:off x="12011658" y="6755606"/>
            <a:ext cx="2096770" cy="6096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Reality technologies</a:t>
            </a:r>
            <a:endParaRPr lang="en-US" sz="1800" dirty="0"/>
          </a:p>
        </p:txBody>
      </p:sp>
      <p:sp>
        <p:nvSpPr>
          <p:cNvPr id="33" name="Security"/>
          <p:cNvSpPr/>
          <p:nvPr/>
        </p:nvSpPr>
        <p:spPr>
          <a:xfrm>
            <a:off x="15410185" y="6908006"/>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Security</a:t>
            </a:r>
            <a:endParaRPr lang="en-US" sz="1800" dirty="0"/>
          </a:p>
        </p:txBody>
      </p:sp>
      <p:sp>
        <p:nvSpPr>
          <p:cNvPr id="34" name="UXUI design"/>
          <p:cNvSpPr/>
          <p:nvPr/>
        </p:nvSpPr>
        <p:spPr>
          <a:xfrm>
            <a:off x="5214640" y="8093869"/>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UX/UI design</a:t>
            </a:r>
            <a:endParaRPr lang="en-US" sz="1800" dirty="0"/>
          </a:p>
        </p:txBody>
      </p:sp>
      <p:sp>
        <p:nvSpPr>
          <p:cNvPr id="35" name="Virtual assistant"/>
          <p:cNvSpPr/>
          <p:nvPr/>
        </p:nvSpPr>
        <p:spPr>
          <a:xfrm>
            <a:off x="8613167" y="8093869"/>
            <a:ext cx="209677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Virtual assistant</a:t>
            </a:r>
            <a:endParaRPr lang="en-US" sz="1800" dirty="0"/>
          </a:p>
        </p:txBody>
      </p:sp>
      <p:sp>
        <p:nvSpPr>
          <p:cNvPr id="36" name="Digital Design Strategy">
            <a:extLst>
              <a:ext uri="{FF2B5EF4-FFF2-40B4-BE49-F238E27FC236}">
                <a16:creationId xmlns:a16="http://schemas.microsoft.com/office/drawing/2014/main" id="{1D35A7B6-6374-0844-3B11-6D495DA21B7F}"/>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37" name="Project Name">
            <a:extLst>
              <a:ext uri="{FF2B5EF4-FFF2-40B4-BE49-F238E27FC236}">
                <a16:creationId xmlns:a16="http://schemas.microsoft.com/office/drawing/2014/main" id="{1D01568D-9FA7-B4F2-2720-2B85A876DFA8}"/>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38" name="Month Year">
            <a:extLst>
              <a:ext uri="{FF2B5EF4-FFF2-40B4-BE49-F238E27FC236}">
                <a16:creationId xmlns:a16="http://schemas.microsoft.com/office/drawing/2014/main" id="{AAD7F829-A033-B0AD-DF41-730DF229AD52}"/>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39" name="2026">
            <a:extLst>
              <a:ext uri="{FF2B5EF4-FFF2-40B4-BE49-F238E27FC236}">
                <a16:creationId xmlns:a16="http://schemas.microsoft.com/office/drawing/2014/main" id="{040FEEA3-E82A-9381-62D8-6199D8E9F219}"/>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991C4261-E0C9-9A38-29A8-8867FD95A7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4" name="Straight Connector 3">
            <a:extLst>
              <a:ext uri="{FF2B5EF4-FFF2-40B4-BE49-F238E27FC236}">
                <a16:creationId xmlns:a16="http://schemas.microsoft.com/office/drawing/2014/main" id="{6DF6462F-20B5-DE77-FD04-5FE0EB286AB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D428D59-1EC7-AD7D-37B9-166BCC455811}"/>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F96B96D-0BE9-E14E-D7AB-8E8731B59E72}"/>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0716"/>
        </a:solidFill>
        <a:effectLst/>
      </p:bgPr>
    </p:bg>
    <p:spTree>
      <p:nvGrpSpPr>
        <p:cNvPr id="1" name=""/>
        <p:cNvGrpSpPr/>
        <p:nvPr/>
      </p:nvGrpSpPr>
      <p:grpSpPr>
        <a:xfrm>
          <a:off x="0" y="0"/>
          <a:ext cx="0" cy="0"/>
          <a:chOff x="0" y="0"/>
          <a:chExt cx="0" cy="0"/>
        </a:xfrm>
      </p:grpSpPr>
      <p:pic>
        <p:nvPicPr>
          <p:cNvPr id="3" name="values-row"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2209800" y="5588824"/>
            <a:ext cx="13896975" cy="1442978"/>
          </a:xfrm>
          <a:prstGeom prst="rect">
            <a:avLst/>
          </a:prstGeom>
        </p:spPr>
      </p:pic>
      <p:pic>
        <p:nvPicPr>
          <p:cNvPr id="4" name="Group 36834"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5486400" y="3581035"/>
            <a:ext cx="7362825" cy="1352550"/>
          </a:xfrm>
          <a:prstGeom prst="rect">
            <a:avLst/>
          </a:prstGeom>
        </p:spPr>
      </p:pic>
      <p:sp>
        <p:nvSpPr>
          <p:cNvPr id="5"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6"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7"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8"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9" name="Client-centric"/>
          <p:cNvSpPr/>
          <p:nvPr/>
        </p:nvSpPr>
        <p:spPr>
          <a:xfrm>
            <a:off x="2200275"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Client-centric</a:t>
            </a:r>
            <a:endParaRPr lang="en-US" sz="1800" dirty="0"/>
          </a:p>
        </p:txBody>
      </p:sp>
      <p:sp>
        <p:nvSpPr>
          <p:cNvPr id="10" name="Agile"/>
          <p:cNvSpPr/>
          <p:nvPr/>
        </p:nvSpPr>
        <p:spPr>
          <a:xfrm>
            <a:off x="4210050"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Agile</a:t>
            </a:r>
            <a:endParaRPr lang="en-US" sz="1800" dirty="0"/>
          </a:p>
        </p:txBody>
      </p:sp>
      <p:sp>
        <p:nvSpPr>
          <p:cNvPr id="11" name="Responsible"/>
          <p:cNvSpPr/>
          <p:nvPr/>
        </p:nvSpPr>
        <p:spPr>
          <a:xfrm>
            <a:off x="6219825"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Responsible</a:t>
            </a:r>
            <a:endParaRPr lang="en-US" sz="1800" dirty="0"/>
          </a:p>
        </p:txBody>
      </p:sp>
      <p:sp>
        <p:nvSpPr>
          <p:cNvPr id="12" name="Intelligent"/>
          <p:cNvSpPr/>
          <p:nvPr/>
        </p:nvSpPr>
        <p:spPr>
          <a:xfrm>
            <a:off x="8229600"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Intelligent</a:t>
            </a:r>
            <a:endParaRPr lang="en-US" sz="1800" dirty="0"/>
          </a:p>
        </p:txBody>
      </p:sp>
      <p:sp>
        <p:nvSpPr>
          <p:cNvPr id="13" name="label"/>
          <p:cNvSpPr/>
          <p:nvPr/>
        </p:nvSpPr>
        <p:spPr>
          <a:xfrm>
            <a:off x="10239375" y="6727002"/>
            <a:ext cx="18573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Non-hierarchical</a:t>
            </a:r>
            <a:endParaRPr lang="en-US" sz="1800" dirty="0"/>
          </a:p>
        </p:txBody>
      </p:sp>
      <p:sp>
        <p:nvSpPr>
          <p:cNvPr id="14" name="Global"/>
          <p:cNvSpPr/>
          <p:nvPr/>
        </p:nvSpPr>
        <p:spPr>
          <a:xfrm>
            <a:off x="12515850"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Global</a:t>
            </a:r>
            <a:endParaRPr lang="en-US" sz="1800" dirty="0"/>
          </a:p>
        </p:txBody>
      </p:sp>
      <p:sp>
        <p:nvSpPr>
          <p:cNvPr id="15" name="Caring"/>
          <p:cNvSpPr/>
          <p:nvPr/>
        </p:nvSpPr>
        <p:spPr>
          <a:xfrm>
            <a:off x="14525625" y="6727002"/>
            <a:ext cx="159067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FFFFFF"/>
                </a:solidFill>
                <a:latin typeface="Equip Extended Regular" pitchFamily="34" charset="0"/>
                <a:ea typeface="Equip Extended Regular" pitchFamily="34" charset="-122"/>
                <a:cs typeface="Equip Extended Regular" pitchFamily="34" charset="-120"/>
              </a:rPr>
              <a:t>Caring</a:t>
            </a:r>
            <a:endParaRPr lang="en-US" sz="1800" dirty="0"/>
          </a:p>
        </p:txBody>
      </p:sp>
      <p:sp>
        <p:nvSpPr>
          <p:cNvPr id="16" name="Our"/>
          <p:cNvSpPr/>
          <p:nvPr/>
        </p:nvSpPr>
        <p:spPr>
          <a:xfrm>
            <a:off x="5486400" y="3628857"/>
            <a:ext cx="1524000" cy="759329"/>
          </a:xfrm>
          <a:prstGeom prst="rect">
            <a:avLst/>
          </a:prstGeom>
          <a:noFill/>
          <a:ln/>
        </p:spPr>
        <p:txBody>
          <a:bodyPr wrap="square" lIns="0" tIns="0" rIns="0" bIns="0" rtlCol="0" anchor="t"/>
          <a:lstStyle/>
          <a:p>
            <a:pPr marL="0" indent="0" algn="l">
              <a:lnSpc>
                <a:spcPts val="6000"/>
              </a:lnSpc>
              <a:buNone/>
            </a:pPr>
            <a:r>
              <a:rPr lang="en-US" sz="6000" kern="0" spc="-112" dirty="0">
                <a:solidFill>
                  <a:srgbClr val="FFFFFF"/>
                </a:solidFill>
                <a:latin typeface="Equip Extended Medium" pitchFamily="34" charset="0"/>
                <a:ea typeface="Equip Extended Medium" pitchFamily="34" charset="-122"/>
                <a:cs typeface="Equip Extended Medium" pitchFamily="34" charset="-120"/>
              </a:rPr>
              <a:t>Our </a:t>
            </a:r>
            <a:endParaRPr lang="en-US" sz="6000" dirty="0"/>
          </a:p>
        </p:txBody>
      </p:sp>
      <p:sp>
        <p:nvSpPr>
          <p:cNvPr id="17" name="values"/>
          <p:cNvSpPr/>
          <p:nvPr/>
        </p:nvSpPr>
        <p:spPr>
          <a:xfrm>
            <a:off x="10391775" y="3628857"/>
            <a:ext cx="2486025" cy="759329"/>
          </a:xfrm>
          <a:prstGeom prst="rect">
            <a:avLst/>
          </a:prstGeom>
          <a:noFill/>
          <a:ln/>
        </p:spPr>
        <p:txBody>
          <a:bodyPr wrap="square" lIns="0" tIns="0" rIns="0" bIns="0" rtlCol="0" anchor="t"/>
          <a:lstStyle/>
          <a:p>
            <a:pPr marL="0" indent="0" algn="l">
              <a:lnSpc>
                <a:spcPts val="6000"/>
              </a:lnSpc>
              <a:buNone/>
            </a:pPr>
            <a:r>
              <a:rPr lang="en-US" sz="6000" kern="0" spc="-112" dirty="0">
                <a:solidFill>
                  <a:srgbClr val="FFFFFF"/>
                </a:solidFill>
                <a:latin typeface="Equip Extended Medium" pitchFamily="34" charset="0"/>
                <a:ea typeface="Equip Extended Medium" pitchFamily="34" charset="-122"/>
                <a:cs typeface="Equip Extended Medium" pitchFamily="34" charset="-120"/>
              </a:rPr>
              <a:t>values</a:t>
            </a:r>
            <a:endParaRPr lang="en-US" sz="6000" dirty="0"/>
          </a:p>
        </p:txBody>
      </p:sp>
      <p:cxnSp>
        <p:nvCxnSpPr>
          <p:cNvPr id="2" name="Straight Connector 1">
            <a:extLst>
              <a:ext uri="{FF2B5EF4-FFF2-40B4-BE49-F238E27FC236}">
                <a16:creationId xmlns:a16="http://schemas.microsoft.com/office/drawing/2014/main" id="{716A4B50-B05E-8F34-9FC4-378E56A8CB9E}"/>
              </a:ext>
            </a:extLst>
          </p:cNvPr>
          <p:cNvCxnSpPr>
            <a:cxnSpLocks/>
          </p:cNvCxnSpPr>
          <p:nvPr/>
        </p:nvCxnSpPr>
        <p:spPr>
          <a:xfrm>
            <a:off x="800099"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60F20D7-CA06-91E0-3731-611C2327A444}"/>
              </a:ext>
            </a:extLst>
          </p:cNvPr>
          <p:cNvCxnSpPr>
            <a:cxnSpLocks/>
          </p:cNvCxnSpPr>
          <p:nvPr/>
        </p:nvCxnSpPr>
        <p:spPr>
          <a:xfrm>
            <a:off x="120777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E9F021C-C2DD-7B14-DE30-C1F7F0B01005}"/>
              </a:ext>
            </a:extLst>
          </p:cNvPr>
          <p:cNvCxnSpPr>
            <a:cxnSpLocks/>
          </p:cNvCxnSpPr>
          <p:nvPr/>
        </p:nvCxnSpPr>
        <p:spPr>
          <a:xfrm>
            <a:off x="64389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C1A8ADA5-B97A-9275-9CE4-A83E191DC9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040" y="101077"/>
            <a:ext cx="2198820" cy="1649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bout-label"/>
          <p:cNvSpPr/>
          <p:nvPr/>
        </p:nvSpPr>
        <p:spPr>
          <a:xfrm>
            <a:off x="800100" y="3238500"/>
            <a:ext cx="2609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Our impact</a:t>
            </a:r>
            <a:endParaRPr lang="en-US" sz="1800" dirty="0"/>
          </a:p>
        </p:txBody>
      </p:sp>
      <p:sp>
        <p:nvSpPr>
          <p:cNvPr id="8" name="quote"/>
          <p:cNvSpPr/>
          <p:nvPr/>
        </p:nvSpPr>
        <p:spPr>
          <a:xfrm>
            <a:off x="3619500" y="3238500"/>
            <a:ext cx="12477750" cy="3810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Creating seamless experiences across every platform and product. Our comprehensive design process accelerates innovation, enabling rapid production while reducing costs.</a:t>
            </a:r>
            <a:endParaRPr lang="en-US" sz="4800" dirty="0"/>
          </a:p>
        </p:txBody>
      </p:sp>
      <p:sp>
        <p:nvSpPr>
          <p:cNvPr id="9" name="Digital Design Strategy">
            <a:extLst>
              <a:ext uri="{FF2B5EF4-FFF2-40B4-BE49-F238E27FC236}">
                <a16:creationId xmlns:a16="http://schemas.microsoft.com/office/drawing/2014/main" id="{9C508173-8CC1-91DA-81CF-270BE2C43AE7}"/>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551C0C3F-C7E7-2B88-1ADF-02C7200255F4}"/>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97C0FFE3-4240-ECC2-0260-31D4A250BAF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C85E25E7-6B16-7A80-06B6-A6D363260DED}"/>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01D5F1F3-F409-59EF-93F5-C64BDA0D75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697EA7D1-CC09-EB3C-7647-65A3F1322B6D}"/>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CFB6539-AD61-A1CA-6C79-3D11F8621913}"/>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B435A78-8B96-B0D6-684D-E673D500F74C}"/>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ontent" descr="preencoded.png"/>
          <p:cNvPicPr>
            <a:picLocks noChangeAspect="1"/>
          </p:cNvPicPr>
          <p:nvPr/>
        </p:nvPicPr>
        <p:blipFill>
          <a:blip r:embed="rId2"/>
          <a:srcRect/>
          <a:stretch/>
        </p:blipFill>
        <p:spPr>
          <a:xfrm>
            <a:off x="800100" y="1657350"/>
            <a:ext cx="16687800" cy="7239000"/>
          </a:xfrm>
          <a:prstGeom prst="rect">
            <a:avLst/>
          </a:prstGeom>
        </p:spPr>
      </p:pic>
      <p:sp>
        <p:nvSpPr>
          <p:cNvPr id="8" name="about-headline"/>
          <p:cNvSpPr/>
          <p:nvPr/>
        </p:nvSpPr>
        <p:spPr>
          <a:xfrm>
            <a:off x="800100" y="2509838"/>
            <a:ext cx="8248650" cy="3810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 global team united by 
a singular mission: transforming complex human problems into elegant solutions.</a:t>
            </a:r>
            <a:endParaRPr lang="en-US" sz="4800" dirty="0"/>
          </a:p>
        </p:txBody>
      </p:sp>
      <p:sp>
        <p:nvSpPr>
          <p:cNvPr id="9" name="about-body"/>
          <p:cNvSpPr/>
          <p:nvPr/>
        </p:nvSpPr>
        <p:spPr>
          <a:xfrm>
            <a:off x="800100" y="6700838"/>
            <a:ext cx="8248650" cy="1343025"/>
          </a:xfrm>
          <a:prstGeom prst="rect">
            <a:avLst/>
          </a:prstGeom>
          <a:noFill/>
          <a:ln/>
        </p:spPr>
        <p:txBody>
          <a:bodyPr wrap="square" lIns="0" tIns="0" rIns="0" bIns="0" rtlCol="0" anchor="t"/>
          <a:lstStyle/>
          <a:p>
            <a:pPr marL="0" indent="0" algn="l">
              <a:lnSpc>
                <a:spcPts val="3375"/>
              </a:lnSpc>
              <a:buNone/>
            </a:pPr>
            <a:r>
              <a:rPr lang="en-US" sz="2700" kern="0" spc="-75" dirty="0">
                <a:solidFill>
                  <a:srgbClr val="010716"/>
                </a:solidFill>
                <a:latin typeface="Equip Regular" pitchFamily="34" charset="0"/>
                <a:ea typeface="Equip Regular" pitchFamily="34" charset="-122"/>
                <a:cs typeface="Equip Regular" pitchFamily="34" charset="-120"/>
              </a:rPr>
              <a:t>We work as an extension of your team, embedding designers who are carefully matched to your goals and ways of working, so they can contribute from day one.</a:t>
            </a:r>
            <a:endParaRPr lang="en-US" sz="2700" dirty="0"/>
          </a:p>
        </p:txBody>
      </p:sp>
      <p:sp>
        <p:nvSpPr>
          <p:cNvPr id="10" name="Digital Design Strategy">
            <a:extLst>
              <a:ext uri="{FF2B5EF4-FFF2-40B4-BE49-F238E27FC236}">
                <a16:creationId xmlns:a16="http://schemas.microsoft.com/office/drawing/2014/main" id="{E12456DB-7EB2-0AD1-9D5D-C9345C84A62C}"/>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2314C5F5-A8B2-99B8-2521-BD60EC978A1F}"/>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C47E573A-40CA-BAD4-68AA-10CDE4531352}"/>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AC828D01-E16D-4295-5B52-581BE68F8300}"/>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AFF5CCE3-CB64-32FA-E13B-AD5E873929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4" name="Straight Connector 3">
            <a:extLst>
              <a:ext uri="{FF2B5EF4-FFF2-40B4-BE49-F238E27FC236}">
                <a16:creationId xmlns:a16="http://schemas.microsoft.com/office/drawing/2014/main" id="{569D4482-B702-EA2D-76AA-348FF3FB1A9B}"/>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0BE9F15-8A54-8E5E-062F-22C135C68C5C}"/>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0192DF4-7501-6DF9-47FC-673DD4150FC3}"/>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ontent" descr="preencoded.png"/>
          <p:cNvPicPr>
            <a:picLocks noChangeAspect="1"/>
          </p:cNvPicPr>
          <p:nvPr/>
        </p:nvPicPr>
        <p:blipFill>
          <a:blip r:embed="rId2"/>
          <a:srcRect/>
          <a:stretch/>
        </p:blipFill>
        <p:spPr>
          <a:xfrm>
            <a:off x="816142" y="1685925"/>
            <a:ext cx="16687800" cy="6981825"/>
          </a:xfrm>
          <a:prstGeom prst="rect">
            <a:avLst/>
          </a:prstGeom>
        </p:spPr>
      </p:pic>
      <p:sp>
        <p:nvSpPr>
          <p:cNvPr id="8" name="about-headline"/>
          <p:cNvSpPr/>
          <p:nvPr/>
        </p:nvSpPr>
        <p:spPr>
          <a:xfrm>
            <a:off x="800100" y="1685925"/>
            <a:ext cx="4029075" cy="2438400"/>
          </a:xfrm>
          <a:prstGeom prst="rect">
            <a:avLst/>
          </a:prstGeom>
          <a:noFill/>
          <a:ln/>
        </p:spPr>
        <p:txBody>
          <a:bodyPr wrap="square" lIns="0" tIns="0" rIns="0" bIns="0" rtlCol="0" anchor="t"/>
          <a:lstStyle/>
          <a:p>
            <a:pPr marL="0" indent="0" algn="l">
              <a:lnSpc>
                <a:spcPts val="4800"/>
              </a:lnSpc>
              <a:buNone/>
            </a:pPr>
            <a:r>
              <a:rPr lang="en-US" sz="3600" kern="0" spc="-112" dirty="0">
                <a:solidFill>
                  <a:srgbClr val="4E5E78"/>
                </a:solidFill>
                <a:latin typeface="Equip Extended Medium" pitchFamily="34" charset="0"/>
                <a:ea typeface="Equip Extended Medium" pitchFamily="34" charset="-122"/>
                <a:cs typeface="Equip Extended Medium" pitchFamily="34" charset="-120"/>
              </a:rPr>
              <a:t>No single HQ.
Many nations.
Lots of diversity.  </a:t>
            </a:r>
            <a:r>
              <a:rPr lang="en-US" sz="3600" kern="0" spc="-112" dirty="0">
                <a:solidFill>
                  <a:srgbClr val="13294B"/>
                </a:solidFill>
                <a:latin typeface="Equip Extended Medium" pitchFamily="34" charset="0"/>
                <a:ea typeface="Equip Extended Medium" pitchFamily="34" charset="-122"/>
                <a:cs typeface="Equip Extended Medium" pitchFamily="34" charset="-120"/>
              </a:rPr>
              <a:t>
</a:t>
            </a:r>
            <a:r>
              <a:rPr lang="en-US" sz="3600" b="1" kern="0" spc="-112" dirty="0">
                <a:solidFill>
                  <a:srgbClr val="06041F"/>
                </a:solidFill>
                <a:latin typeface="Equip Extended Bold" pitchFamily="34" charset="0"/>
                <a:ea typeface="Equip Extended Bold" pitchFamily="34" charset="-122"/>
                <a:cs typeface="Equip Extended Bold" pitchFamily="34" charset="-120"/>
              </a:rPr>
              <a:t>One manifesto. </a:t>
            </a:r>
            <a:endParaRPr lang="en-US" sz="3600" dirty="0"/>
          </a:p>
        </p:txBody>
      </p:sp>
      <p:sp>
        <p:nvSpPr>
          <p:cNvPr id="9" name="Digital Design Strategy">
            <a:extLst>
              <a:ext uri="{FF2B5EF4-FFF2-40B4-BE49-F238E27FC236}">
                <a16:creationId xmlns:a16="http://schemas.microsoft.com/office/drawing/2014/main" id="{E2888D0C-4CED-26A8-E308-9A6B3504ACEF}"/>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567D7A29-1581-8DC9-B1E8-24019DACE782}"/>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B9CF222B-3231-86BE-5508-7A114574624C}"/>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4A223DD0-68C9-8DAD-7AF1-5359011F2181}"/>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EDCB9596-F757-871B-EA8E-5022D0D61E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4" name="Straight Connector 3">
            <a:extLst>
              <a:ext uri="{FF2B5EF4-FFF2-40B4-BE49-F238E27FC236}">
                <a16:creationId xmlns:a16="http://schemas.microsoft.com/office/drawing/2014/main" id="{1E3759C6-E9CF-6D7B-C608-453E4AD2CCF4}"/>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B2F4D8A-5607-B869-103D-AC7C7BF0C8DD}"/>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2429561-E12D-49B3-3FFA-7691112F3C4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about-title"/>
          <p:cNvSpPr/>
          <p:nvPr/>
        </p:nvSpPr>
        <p:spPr>
          <a:xfrm>
            <a:off x="800100" y="2590800"/>
            <a:ext cx="6838950" cy="3048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Nagarro is a global leader in technology and human centered digital solutions.</a:t>
            </a:r>
            <a:endParaRPr lang="en-US" sz="4800" dirty="0"/>
          </a:p>
        </p:txBody>
      </p:sp>
      <p:sp>
        <p:nvSpPr>
          <p:cNvPr id="9" name="about-intro"/>
          <p:cNvSpPr/>
          <p:nvPr/>
        </p:nvSpPr>
        <p:spPr>
          <a:xfrm>
            <a:off x="800100" y="6019800"/>
            <a:ext cx="6838950" cy="14763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Our clients need to become digital-first companies that compete through superior software platforms.
Nagarro helps them transform, adapt, and build new ways into the  future through an entrepreneurial, agile, and caring mindset.</a:t>
            </a:r>
            <a:endParaRPr lang="en-US" sz="1800" dirty="0"/>
          </a:p>
        </p:txBody>
      </p:sp>
      <p:sp>
        <p:nvSpPr>
          <p:cNvPr id="10" name="name_25"/>
          <p:cNvSpPr/>
          <p:nvPr/>
        </p:nvSpPr>
        <p:spPr>
          <a:xfrm>
            <a:off x="10668000" y="2819400"/>
            <a:ext cx="933450"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25+</a:t>
            </a:r>
            <a:endParaRPr lang="en-US" sz="3600" dirty="0"/>
          </a:p>
        </p:txBody>
      </p:sp>
      <p:sp>
        <p:nvSpPr>
          <p:cNvPr id="11" name="Years"/>
          <p:cNvSpPr/>
          <p:nvPr/>
        </p:nvSpPr>
        <p:spPr>
          <a:xfrm>
            <a:off x="10668000" y="3390900"/>
            <a:ext cx="438150"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Years</a:t>
            </a:r>
            <a:endParaRPr lang="en-US" sz="1350" dirty="0"/>
          </a:p>
        </p:txBody>
      </p:sp>
      <p:sp>
        <p:nvSpPr>
          <p:cNvPr id="12" name="name_95"/>
          <p:cNvSpPr/>
          <p:nvPr/>
        </p:nvSpPr>
        <p:spPr>
          <a:xfrm>
            <a:off x="10668000" y="4076700"/>
            <a:ext cx="1028700"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9.5+</a:t>
            </a:r>
            <a:endParaRPr lang="en-US" sz="3600" dirty="0"/>
          </a:p>
        </p:txBody>
      </p:sp>
      <p:sp>
        <p:nvSpPr>
          <p:cNvPr id="13" name="Satisfaction"/>
          <p:cNvSpPr/>
          <p:nvPr/>
        </p:nvSpPr>
        <p:spPr>
          <a:xfrm>
            <a:off x="10668000" y="4648200"/>
            <a:ext cx="914400"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Satisfaction</a:t>
            </a:r>
            <a:endParaRPr lang="en-US" sz="1350" dirty="0"/>
          </a:p>
        </p:txBody>
      </p:sp>
      <p:sp>
        <p:nvSpPr>
          <p:cNvPr id="14" name="name_90"/>
          <p:cNvSpPr/>
          <p:nvPr/>
        </p:nvSpPr>
        <p:spPr>
          <a:xfrm>
            <a:off x="10668000" y="5334000"/>
            <a:ext cx="1057275"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90%</a:t>
            </a:r>
            <a:endParaRPr lang="en-US" sz="3600" dirty="0"/>
          </a:p>
        </p:txBody>
      </p:sp>
      <p:sp>
        <p:nvSpPr>
          <p:cNvPr id="15" name="Repeat Business"/>
          <p:cNvSpPr/>
          <p:nvPr/>
        </p:nvSpPr>
        <p:spPr>
          <a:xfrm>
            <a:off x="10668000" y="5905500"/>
            <a:ext cx="1247775"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Repeat Business</a:t>
            </a:r>
            <a:endParaRPr lang="en-US" sz="1350" dirty="0"/>
          </a:p>
        </p:txBody>
      </p:sp>
      <p:sp>
        <p:nvSpPr>
          <p:cNvPr id="16" name="name_1000"/>
          <p:cNvSpPr/>
          <p:nvPr/>
        </p:nvSpPr>
        <p:spPr>
          <a:xfrm>
            <a:off x="14192250" y="2819400"/>
            <a:ext cx="1504950"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1000+</a:t>
            </a:r>
            <a:endParaRPr lang="en-US" sz="3600" dirty="0"/>
          </a:p>
        </p:txBody>
      </p:sp>
      <p:sp>
        <p:nvSpPr>
          <p:cNvPr id="17" name="Customers"/>
          <p:cNvSpPr/>
          <p:nvPr/>
        </p:nvSpPr>
        <p:spPr>
          <a:xfrm>
            <a:off x="14192250" y="3390900"/>
            <a:ext cx="847725"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Customers</a:t>
            </a:r>
            <a:endParaRPr lang="en-US" sz="1350" dirty="0"/>
          </a:p>
        </p:txBody>
      </p:sp>
      <p:sp>
        <p:nvSpPr>
          <p:cNvPr id="18" name="name_18000"/>
          <p:cNvSpPr/>
          <p:nvPr/>
        </p:nvSpPr>
        <p:spPr>
          <a:xfrm>
            <a:off x="14192250" y="4076700"/>
            <a:ext cx="1895475"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18,000+</a:t>
            </a:r>
            <a:endParaRPr lang="en-US" sz="3600" dirty="0"/>
          </a:p>
        </p:txBody>
      </p:sp>
      <p:sp>
        <p:nvSpPr>
          <p:cNvPr id="19" name="Colleagues"/>
          <p:cNvSpPr/>
          <p:nvPr/>
        </p:nvSpPr>
        <p:spPr>
          <a:xfrm>
            <a:off x="14192250" y="4648200"/>
            <a:ext cx="876300"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Colleagues</a:t>
            </a:r>
            <a:endParaRPr lang="en-US" sz="1350" dirty="0"/>
          </a:p>
        </p:txBody>
      </p:sp>
      <p:sp>
        <p:nvSpPr>
          <p:cNvPr id="20" name="name_40"/>
          <p:cNvSpPr/>
          <p:nvPr/>
        </p:nvSpPr>
        <p:spPr>
          <a:xfrm>
            <a:off x="14192250" y="5334000"/>
            <a:ext cx="628650"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40</a:t>
            </a:r>
            <a:endParaRPr lang="en-US" sz="3600" dirty="0"/>
          </a:p>
        </p:txBody>
      </p:sp>
      <p:sp>
        <p:nvSpPr>
          <p:cNvPr id="21" name="Countries"/>
          <p:cNvSpPr/>
          <p:nvPr/>
        </p:nvSpPr>
        <p:spPr>
          <a:xfrm>
            <a:off x="14192250" y="5905500"/>
            <a:ext cx="771525"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Countries</a:t>
            </a:r>
            <a:endParaRPr lang="en-US" sz="1350" dirty="0"/>
          </a:p>
        </p:txBody>
      </p:sp>
      <p:sp>
        <p:nvSpPr>
          <p:cNvPr id="22" name="NA9"/>
          <p:cNvSpPr/>
          <p:nvPr/>
        </p:nvSpPr>
        <p:spPr>
          <a:xfrm>
            <a:off x="10668000" y="6624638"/>
            <a:ext cx="1019175"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010716"/>
                </a:solidFill>
                <a:latin typeface="Equip Extended Medium" pitchFamily="34" charset="0"/>
                <a:ea typeface="Equip Extended Medium" pitchFamily="34" charset="-122"/>
                <a:cs typeface="Equip Extended Medium" pitchFamily="34" charset="-120"/>
              </a:rPr>
              <a:t>NA9</a:t>
            </a:r>
            <a:endParaRPr lang="en-US" sz="3600" dirty="0"/>
          </a:p>
        </p:txBody>
      </p:sp>
      <p:sp>
        <p:nvSpPr>
          <p:cNvPr id="23" name="Public Listed Company"/>
          <p:cNvSpPr/>
          <p:nvPr/>
        </p:nvSpPr>
        <p:spPr>
          <a:xfrm>
            <a:off x="10668000" y="7196138"/>
            <a:ext cx="1752600" cy="228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Regular" pitchFamily="34" charset="0"/>
                <a:ea typeface="Equip Regular" pitchFamily="34" charset="-122"/>
                <a:cs typeface="Equip Regular" pitchFamily="34" charset="-120"/>
              </a:rPr>
              <a:t>Public Listed Company</a:t>
            </a:r>
            <a:endParaRPr lang="en-US" sz="1350" dirty="0"/>
          </a:p>
        </p:txBody>
      </p:sp>
      <p:sp>
        <p:nvSpPr>
          <p:cNvPr id="24" name="Digital Design Strategy">
            <a:extLst>
              <a:ext uri="{FF2B5EF4-FFF2-40B4-BE49-F238E27FC236}">
                <a16:creationId xmlns:a16="http://schemas.microsoft.com/office/drawing/2014/main" id="{47E33D0C-7887-8C2C-EDDF-E1A9E9551DCB}"/>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25" name="Project Name">
            <a:extLst>
              <a:ext uri="{FF2B5EF4-FFF2-40B4-BE49-F238E27FC236}">
                <a16:creationId xmlns:a16="http://schemas.microsoft.com/office/drawing/2014/main" id="{8574C8ED-707D-137B-BA9C-F15F4E04642D}"/>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26" name="Month Year">
            <a:extLst>
              <a:ext uri="{FF2B5EF4-FFF2-40B4-BE49-F238E27FC236}">
                <a16:creationId xmlns:a16="http://schemas.microsoft.com/office/drawing/2014/main" id="{B0C3119D-18B0-70B6-7AB1-45FEC329E2C3}"/>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27" name="2026">
            <a:extLst>
              <a:ext uri="{FF2B5EF4-FFF2-40B4-BE49-F238E27FC236}">
                <a16:creationId xmlns:a16="http://schemas.microsoft.com/office/drawing/2014/main" id="{4060C990-F788-1F17-CE43-100E70F26533}"/>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08F79246-3780-D310-1864-633D1089DA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4" name="Straight Connector 3">
            <a:extLst>
              <a:ext uri="{FF2B5EF4-FFF2-40B4-BE49-F238E27FC236}">
                <a16:creationId xmlns:a16="http://schemas.microsoft.com/office/drawing/2014/main" id="{CE88A7C5-E38D-2E48-5BD2-FDE41FE08A77}"/>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44646D6-9156-84E0-3E0A-4F887D76F9A1}"/>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0DB4D45-0CBF-24DC-9AAC-25F2F288FC2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5D98A85-6F32-BBA8-5C98-AB32BE3F0DC3}"/>
              </a:ext>
            </a:extLst>
          </p:cNvPr>
          <p:cNvCxnSpPr>
            <a:cxnSpLocks/>
          </p:cNvCxnSpPr>
          <p:nvPr/>
        </p:nvCxnSpPr>
        <p:spPr>
          <a:xfrm>
            <a:off x="14184313" y="2590800"/>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2C8CAAB-7EDC-9695-64A5-4A6D01C4EA81}"/>
              </a:ext>
            </a:extLst>
          </p:cNvPr>
          <p:cNvCxnSpPr>
            <a:cxnSpLocks/>
          </p:cNvCxnSpPr>
          <p:nvPr/>
        </p:nvCxnSpPr>
        <p:spPr>
          <a:xfrm>
            <a:off x="10655300" y="2590800"/>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88C8535-A8A0-3505-1BF2-F5C752D6725F}"/>
              </a:ext>
            </a:extLst>
          </p:cNvPr>
          <p:cNvCxnSpPr>
            <a:cxnSpLocks/>
          </p:cNvCxnSpPr>
          <p:nvPr/>
        </p:nvCxnSpPr>
        <p:spPr>
          <a:xfrm>
            <a:off x="14184313" y="3848867"/>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738FA2F-F05E-FED4-302C-7470C56D5C45}"/>
              </a:ext>
            </a:extLst>
          </p:cNvPr>
          <p:cNvCxnSpPr>
            <a:cxnSpLocks/>
          </p:cNvCxnSpPr>
          <p:nvPr/>
        </p:nvCxnSpPr>
        <p:spPr>
          <a:xfrm>
            <a:off x="10655300" y="3848867"/>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2C64FCC-7EB8-CF1C-63BC-82F2E789E4E5}"/>
              </a:ext>
            </a:extLst>
          </p:cNvPr>
          <p:cNvCxnSpPr>
            <a:cxnSpLocks/>
          </p:cNvCxnSpPr>
          <p:nvPr/>
        </p:nvCxnSpPr>
        <p:spPr>
          <a:xfrm>
            <a:off x="14184313" y="5103784"/>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2AEBCD1-B498-3AE7-C81F-3732DC1074B8}"/>
              </a:ext>
            </a:extLst>
          </p:cNvPr>
          <p:cNvCxnSpPr>
            <a:cxnSpLocks/>
          </p:cNvCxnSpPr>
          <p:nvPr/>
        </p:nvCxnSpPr>
        <p:spPr>
          <a:xfrm>
            <a:off x="10655300" y="5103784"/>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BC8CC7B-BAFA-7963-B03D-BD853C73B3FD}"/>
              </a:ext>
            </a:extLst>
          </p:cNvPr>
          <p:cNvCxnSpPr>
            <a:cxnSpLocks/>
          </p:cNvCxnSpPr>
          <p:nvPr/>
        </p:nvCxnSpPr>
        <p:spPr>
          <a:xfrm>
            <a:off x="14184313" y="6358701"/>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198999E-E05E-FB3E-97EE-24DB4089894F}"/>
              </a:ext>
            </a:extLst>
          </p:cNvPr>
          <p:cNvCxnSpPr>
            <a:cxnSpLocks/>
          </p:cNvCxnSpPr>
          <p:nvPr/>
        </p:nvCxnSpPr>
        <p:spPr>
          <a:xfrm>
            <a:off x="10655300" y="6358701"/>
            <a:ext cx="3313112" cy="0"/>
          </a:xfrm>
          <a:prstGeom prst="line">
            <a:avLst/>
          </a:prstGeom>
          <a:ln w="9525">
            <a:solidFill>
              <a:srgbClr val="00071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bout-title"/>
          <p:cNvSpPr/>
          <p:nvPr/>
        </p:nvSpPr>
        <p:spPr>
          <a:xfrm>
            <a:off x="800100" y="3619500"/>
            <a:ext cx="6838950" cy="3048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Nagarro is a global leader in technology and human centered digital solutions.</a:t>
            </a:r>
            <a:endParaRPr lang="en-US" sz="4800" dirty="0"/>
          </a:p>
        </p:txBody>
      </p:sp>
      <p:sp>
        <p:nvSpPr>
          <p:cNvPr id="8" name="about-body"/>
          <p:cNvSpPr/>
          <p:nvPr/>
        </p:nvSpPr>
        <p:spPr>
          <a:xfrm>
            <a:off x="9258300" y="3814763"/>
            <a:ext cx="8248650" cy="26574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Our clients need to become digital-first companies that compete through superior software platforms.
Nagarro helps them transform, adapt, and build new ways into the  future through an entrepreneurial, agile, and caring mindset.Our clients need to become digital-first companies that compete through superior software platforms.
Nagarro helps them transform, adapt, and build new ways into the  future through an entrepreneurial, agile, and caring mindset.</a:t>
            </a:r>
            <a:endParaRPr lang="en-US" sz="1800" dirty="0"/>
          </a:p>
        </p:txBody>
      </p:sp>
      <p:sp>
        <p:nvSpPr>
          <p:cNvPr id="9" name="Digital Design Strategy">
            <a:extLst>
              <a:ext uri="{FF2B5EF4-FFF2-40B4-BE49-F238E27FC236}">
                <a16:creationId xmlns:a16="http://schemas.microsoft.com/office/drawing/2014/main" id="{6B531F9E-33AC-4C8F-8675-5B02EA89118C}"/>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D5243E5D-CABB-77A2-1EE7-2AB2BF034D3D}"/>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05799F16-CC79-09A8-74C6-C5B111F4BB54}"/>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2AF17A64-E59A-63DA-66D6-783F1A5AC392}"/>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0CFCAC15-09BC-FCA9-9693-9A7FF8C960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5782EB37-2C76-80FB-258E-3B82947F9F79}"/>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C3D5CE3-09E6-53D0-D0C1-61AB537E2BE6}"/>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77A171C-58E4-03DE-05D2-8D5AF6EDAB43}"/>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Rectangle 175" descr="preencoded.png"/>
          <p:cNvPicPr>
            <a:picLocks noChangeAspect="1"/>
          </p:cNvPicPr>
          <p:nvPr/>
        </p:nvPicPr>
        <p:blipFill>
          <a:blip r:embed="rId2"/>
          <a:srcRect/>
          <a:stretch/>
        </p:blipFill>
        <p:spPr>
          <a:xfrm>
            <a:off x="0" y="5362575"/>
            <a:ext cx="18288000" cy="4924425"/>
          </a:xfrm>
          <a:prstGeom prst="rect">
            <a:avLst/>
          </a:prstGeom>
        </p:spPr>
      </p:pic>
      <p:sp>
        <p:nvSpPr>
          <p:cNvPr id="4" name="Name"/>
          <p:cNvSpPr/>
          <p:nvPr/>
        </p:nvSpPr>
        <p:spPr>
          <a:xfrm>
            <a:off x="13706475" y="733425"/>
            <a:ext cx="11906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Product Studio</a:t>
            </a:r>
            <a:endParaRPr lang="en-US" sz="1200" dirty="0"/>
          </a:p>
        </p:txBody>
      </p:sp>
      <p:sp>
        <p:nvSpPr>
          <p:cNvPr id="5" name="Name"/>
          <p:cNvSpPr/>
          <p:nvPr/>
        </p:nvSpPr>
        <p:spPr>
          <a:xfrm>
            <a:off x="15335250" y="733425"/>
            <a:ext cx="151447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Presentation Name</a:t>
            </a:r>
            <a:endParaRPr lang="en-US" sz="1200" dirty="0"/>
          </a:p>
        </p:txBody>
      </p:sp>
      <p:sp>
        <p:nvSpPr>
          <p:cNvPr id="6" name="Name"/>
          <p:cNvSpPr/>
          <p:nvPr/>
        </p:nvSpPr>
        <p:spPr>
          <a:xfrm>
            <a:off x="17287875" y="733425"/>
            <a:ext cx="2286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01</a:t>
            </a:r>
            <a:endParaRPr lang="en-US" sz="1200" dirty="0"/>
          </a:p>
        </p:txBody>
      </p:sp>
      <p:sp>
        <p:nvSpPr>
          <p:cNvPr id="7" name="about-col-1"/>
          <p:cNvSpPr/>
          <p:nvPr/>
        </p:nvSpPr>
        <p:spPr>
          <a:xfrm>
            <a:off x="771525" y="2162175"/>
            <a:ext cx="8277225"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Nagarro is a global leader 
in technology and human centered digital solutions.</a:t>
            </a:r>
            <a:endParaRPr lang="en-US" sz="4800" dirty="0"/>
          </a:p>
        </p:txBody>
      </p:sp>
      <p:sp>
        <p:nvSpPr>
          <p:cNvPr id="8" name="about-col-2"/>
          <p:cNvSpPr/>
          <p:nvPr/>
        </p:nvSpPr>
        <p:spPr>
          <a:xfrm>
            <a:off x="9258300" y="2162175"/>
            <a:ext cx="4019550" cy="14763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Our clients need to become digital-first companies that compete through superior software platforms.
</a:t>
            </a:r>
            <a:endParaRPr lang="en-US" sz="1800" dirty="0"/>
          </a:p>
        </p:txBody>
      </p:sp>
      <p:sp>
        <p:nvSpPr>
          <p:cNvPr id="9" name="about-col-3"/>
          <p:cNvSpPr/>
          <p:nvPr/>
        </p:nvSpPr>
        <p:spPr>
          <a:xfrm>
            <a:off x="13487400" y="2162175"/>
            <a:ext cx="401955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Nagarro helps them transform, adapt, and build new ways into the  future through an entrepreneurial, agile, and caring mindset.</a:t>
            </a:r>
            <a:endParaRPr lang="en-US" sz="1800" dirty="0"/>
          </a:p>
        </p:txBody>
      </p:sp>
      <p:pic>
        <p:nvPicPr>
          <p:cNvPr id="10" name="Layout" descr="preencoded.png">
            <a:extLst>
              <a:ext uri="{FF2B5EF4-FFF2-40B4-BE49-F238E27FC236}">
                <a16:creationId xmlns:a16="http://schemas.microsoft.com/office/drawing/2014/main" id="{93D9C674-CE87-FA3B-C738-DE5DD7754CCA}"/>
              </a:ext>
            </a:extLst>
          </p:cNvPr>
          <p:cNvPicPr>
            <a:picLocks noChangeAspect="1"/>
          </p:cNvPicPr>
          <p:nvPr/>
        </p:nvPicPr>
        <p:blipFill>
          <a:blip r:embed="rId3"/>
          <a:srcRect l="4311" t="4985" r="87886" b="88782"/>
          <a:stretch>
            <a:fillRect/>
          </a:stretch>
        </p:blipFill>
        <p:spPr>
          <a:xfrm>
            <a:off x="790575" y="513347"/>
            <a:ext cx="1426842" cy="641084"/>
          </a:xfrm>
          <a:prstGeom prst="rect">
            <a:avLst/>
          </a:prstGeom>
        </p:spPr>
      </p:pic>
      <p:cxnSp>
        <p:nvCxnSpPr>
          <p:cNvPr id="11" name="Straight Connector 10">
            <a:extLst>
              <a:ext uri="{FF2B5EF4-FFF2-40B4-BE49-F238E27FC236}">
                <a16:creationId xmlns:a16="http://schemas.microsoft.com/office/drawing/2014/main" id="{08030E14-6D38-61F1-8B86-5F282D2547AC}"/>
              </a:ext>
            </a:extLst>
          </p:cNvPr>
          <p:cNvCxnSpPr>
            <a:cxnSpLocks/>
          </p:cNvCxnSpPr>
          <p:nvPr/>
        </p:nvCxnSpPr>
        <p:spPr>
          <a:xfrm>
            <a:off x="790575" y="1235765"/>
            <a:ext cx="16706850"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F4310B6-DAF1-9471-248D-B0BBACA26851}"/>
              </a:ext>
            </a:extLst>
          </p:cNvPr>
          <p:cNvCxnSpPr>
            <a:cxnSpLocks/>
          </p:cNvCxnSpPr>
          <p:nvPr/>
        </p:nvCxnSpPr>
        <p:spPr>
          <a:xfrm>
            <a:off x="15108093" y="733425"/>
            <a:ext cx="0" cy="190500"/>
          </a:xfrm>
          <a:prstGeom prst="line">
            <a:avLst/>
          </a:prstGeom>
        </p:spPr>
        <p:style>
          <a:lnRef idx="1">
            <a:schemeClr val="accent3"/>
          </a:lnRef>
          <a:fillRef idx="0">
            <a:schemeClr val="accent3"/>
          </a:fillRef>
          <a:effectRef idx="0">
            <a:schemeClr val="accent3"/>
          </a:effectRef>
          <a:fontRef idx="minor">
            <a:schemeClr val="tx1"/>
          </a:fontRef>
        </p:style>
      </p:cxnSp>
      <p:cxnSp>
        <p:nvCxnSpPr>
          <p:cNvPr id="13" name="Straight Connector 12">
            <a:extLst>
              <a:ext uri="{FF2B5EF4-FFF2-40B4-BE49-F238E27FC236}">
                <a16:creationId xmlns:a16="http://schemas.microsoft.com/office/drawing/2014/main" id="{766B97FE-57DB-EEAB-8511-257F6FAEDE45}"/>
              </a:ext>
            </a:extLst>
          </p:cNvPr>
          <p:cNvCxnSpPr>
            <a:cxnSpLocks/>
          </p:cNvCxnSpPr>
          <p:nvPr/>
        </p:nvCxnSpPr>
        <p:spPr>
          <a:xfrm>
            <a:off x="17060718" y="730250"/>
            <a:ext cx="0" cy="19050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about-title"/>
          <p:cNvSpPr/>
          <p:nvPr/>
        </p:nvSpPr>
        <p:spPr>
          <a:xfrm>
            <a:off x="800100" y="2409825"/>
            <a:ext cx="167068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Nagarro is a global leader in technology and human centered digital solutions.</a:t>
            </a:r>
            <a:endParaRPr lang="en-US" sz="4800" dirty="0"/>
          </a:p>
        </p:txBody>
      </p:sp>
      <p:sp>
        <p:nvSpPr>
          <p:cNvPr id="15" name="Digital Design Strategy">
            <a:extLst>
              <a:ext uri="{FF2B5EF4-FFF2-40B4-BE49-F238E27FC236}">
                <a16:creationId xmlns:a16="http://schemas.microsoft.com/office/drawing/2014/main" id="{42059AD8-522B-1C65-5A80-5DE575F14CE3}"/>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6" name="Project Name">
            <a:extLst>
              <a:ext uri="{FF2B5EF4-FFF2-40B4-BE49-F238E27FC236}">
                <a16:creationId xmlns:a16="http://schemas.microsoft.com/office/drawing/2014/main" id="{110871B3-370B-9671-FE67-EC8662D79DC8}"/>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7" name="Month Year">
            <a:extLst>
              <a:ext uri="{FF2B5EF4-FFF2-40B4-BE49-F238E27FC236}">
                <a16:creationId xmlns:a16="http://schemas.microsoft.com/office/drawing/2014/main" id="{75035DA4-3DE4-1F03-22EE-24988671CFC3}"/>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8" name="2026">
            <a:extLst>
              <a:ext uri="{FF2B5EF4-FFF2-40B4-BE49-F238E27FC236}">
                <a16:creationId xmlns:a16="http://schemas.microsoft.com/office/drawing/2014/main" id="{6D6E1815-A33E-3EAE-4B09-D9A3E7004B7A}"/>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58C0FECC-63E1-0CFD-EAD3-AC6A62FEA3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4" name="Straight Connector 3">
            <a:extLst>
              <a:ext uri="{FF2B5EF4-FFF2-40B4-BE49-F238E27FC236}">
                <a16:creationId xmlns:a16="http://schemas.microsoft.com/office/drawing/2014/main" id="{C1D3993D-5D7F-F108-4E6D-21026AE9CBD4}"/>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3E36D9F-8D29-C037-4B96-84D0F8C3DE7C}"/>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902E0DE-935B-BD4C-2BAE-649A5AED3DBA}"/>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FC87A472-74FB-2B38-6BBA-F2864F9EEDC9}"/>
              </a:ext>
            </a:extLst>
          </p:cNvPr>
          <p:cNvGrpSpPr/>
          <p:nvPr/>
        </p:nvGrpSpPr>
        <p:grpSpPr>
          <a:xfrm>
            <a:off x="790575" y="4962525"/>
            <a:ext cx="5409523" cy="3467100"/>
            <a:chOff x="790575" y="4962525"/>
            <a:chExt cx="5409523" cy="3467100"/>
          </a:xfrm>
        </p:grpSpPr>
        <p:sp>
          <p:nvSpPr>
            <p:cNvPr id="7" name="Rectangle 6">
              <a:extLst>
                <a:ext uri="{FF2B5EF4-FFF2-40B4-BE49-F238E27FC236}">
                  <a16:creationId xmlns:a16="http://schemas.microsoft.com/office/drawing/2014/main" id="{20F5924F-4CCB-EB35-D668-5812F8A8CB79}"/>
                </a:ext>
              </a:extLst>
            </p:cNvPr>
            <p:cNvSpPr/>
            <p:nvPr/>
          </p:nvSpPr>
          <p:spPr>
            <a:xfrm>
              <a:off x="790575" y="4962525"/>
              <a:ext cx="5409523" cy="346710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8" name="about-box-1-title"/>
            <p:cNvSpPr/>
            <p:nvPr/>
          </p:nvSpPr>
          <p:spPr>
            <a:xfrm>
              <a:off x="1104900" y="6562725"/>
              <a:ext cx="4819650" cy="295275"/>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Our clients</a:t>
              </a:r>
              <a:endParaRPr lang="en-US" sz="2400" dirty="0"/>
            </a:p>
          </p:txBody>
        </p:sp>
        <p:sp>
          <p:nvSpPr>
            <p:cNvPr id="9" name="about-box-1-body"/>
            <p:cNvSpPr/>
            <p:nvPr/>
          </p:nvSpPr>
          <p:spPr>
            <a:xfrm>
              <a:off x="1104900" y="7239000"/>
              <a:ext cx="481965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Nagarro helps them transform, adapt, and build new ways into the  future through an entrepreneurial, agile, and caring mindset.</a:t>
              </a:r>
              <a:endParaRPr lang="en-US" sz="1800" dirty="0"/>
            </a:p>
          </p:txBody>
        </p:sp>
        <p:pic>
          <p:nvPicPr>
            <p:cNvPr id="24" name="Picture 23">
              <a:extLst>
                <a:ext uri="{FF2B5EF4-FFF2-40B4-BE49-F238E27FC236}">
                  <a16:creationId xmlns:a16="http://schemas.microsoft.com/office/drawing/2014/main" id="{D8D85031-3BC5-6EF9-2241-2401E58960DD}"/>
                </a:ext>
              </a:extLst>
            </p:cNvPr>
            <p:cNvPicPr>
              <a:picLocks noChangeAspect="1"/>
            </p:cNvPicPr>
            <p:nvPr/>
          </p:nvPicPr>
          <p:blipFill>
            <a:blip r:embed="rId3"/>
            <a:stretch>
              <a:fillRect/>
            </a:stretch>
          </p:blipFill>
          <p:spPr>
            <a:xfrm>
              <a:off x="1080516" y="5226948"/>
              <a:ext cx="954777" cy="954777"/>
            </a:xfrm>
            <a:prstGeom prst="rect">
              <a:avLst/>
            </a:prstGeom>
          </p:spPr>
        </p:pic>
      </p:grpSp>
      <p:grpSp>
        <p:nvGrpSpPr>
          <p:cNvPr id="26" name="Group 25">
            <a:extLst>
              <a:ext uri="{FF2B5EF4-FFF2-40B4-BE49-F238E27FC236}">
                <a16:creationId xmlns:a16="http://schemas.microsoft.com/office/drawing/2014/main" id="{5C93A46E-C8DD-BFFE-41F9-B7231F7DF020}"/>
              </a:ext>
            </a:extLst>
          </p:cNvPr>
          <p:cNvGrpSpPr/>
          <p:nvPr/>
        </p:nvGrpSpPr>
        <p:grpSpPr>
          <a:xfrm>
            <a:off x="12106952" y="4953000"/>
            <a:ext cx="5409523" cy="3467100"/>
            <a:chOff x="790575" y="4962525"/>
            <a:chExt cx="5409523" cy="3467100"/>
          </a:xfrm>
        </p:grpSpPr>
        <p:sp>
          <p:nvSpPr>
            <p:cNvPr id="27" name="Rectangle 26">
              <a:extLst>
                <a:ext uri="{FF2B5EF4-FFF2-40B4-BE49-F238E27FC236}">
                  <a16:creationId xmlns:a16="http://schemas.microsoft.com/office/drawing/2014/main" id="{A7C485C9-525E-0BAD-1EDA-79C99FC05D9A}"/>
                </a:ext>
              </a:extLst>
            </p:cNvPr>
            <p:cNvSpPr/>
            <p:nvPr/>
          </p:nvSpPr>
          <p:spPr>
            <a:xfrm>
              <a:off x="790575" y="4962525"/>
              <a:ext cx="5409523" cy="346710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8" name="about-box-1-title">
              <a:extLst>
                <a:ext uri="{FF2B5EF4-FFF2-40B4-BE49-F238E27FC236}">
                  <a16:creationId xmlns:a16="http://schemas.microsoft.com/office/drawing/2014/main" id="{E1C006FF-E98F-CFBF-B2FA-758A3073E6D3}"/>
                </a:ext>
              </a:extLst>
            </p:cNvPr>
            <p:cNvSpPr/>
            <p:nvPr/>
          </p:nvSpPr>
          <p:spPr>
            <a:xfrm>
              <a:off x="1104900" y="6562725"/>
              <a:ext cx="4819650" cy="295275"/>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Our clients</a:t>
              </a:r>
              <a:endParaRPr lang="en-US" sz="2400" dirty="0"/>
            </a:p>
          </p:txBody>
        </p:sp>
        <p:sp>
          <p:nvSpPr>
            <p:cNvPr id="29" name="about-box-1-body">
              <a:extLst>
                <a:ext uri="{FF2B5EF4-FFF2-40B4-BE49-F238E27FC236}">
                  <a16:creationId xmlns:a16="http://schemas.microsoft.com/office/drawing/2014/main" id="{BC23708D-5D51-433F-36F2-FF95F0114C09}"/>
                </a:ext>
              </a:extLst>
            </p:cNvPr>
            <p:cNvSpPr/>
            <p:nvPr/>
          </p:nvSpPr>
          <p:spPr>
            <a:xfrm>
              <a:off x="1104900" y="7239000"/>
              <a:ext cx="481965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Nagarro helps them transform, adapt, and build new ways into the  future through an entrepreneurial, agile, and caring mindset.</a:t>
              </a:r>
              <a:endParaRPr lang="en-US" sz="1800" dirty="0"/>
            </a:p>
          </p:txBody>
        </p:sp>
        <p:pic>
          <p:nvPicPr>
            <p:cNvPr id="30" name="Picture 29">
              <a:extLst>
                <a:ext uri="{FF2B5EF4-FFF2-40B4-BE49-F238E27FC236}">
                  <a16:creationId xmlns:a16="http://schemas.microsoft.com/office/drawing/2014/main" id="{8D18EA8D-FAD3-4672-D0EE-BBA28097D65F}"/>
                </a:ext>
              </a:extLst>
            </p:cNvPr>
            <p:cNvPicPr>
              <a:picLocks noChangeAspect="1"/>
            </p:cNvPicPr>
            <p:nvPr/>
          </p:nvPicPr>
          <p:blipFill>
            <a:blip r:embed="rId3"/>
            <a:stretch>
              <a:fillRect/>
            </a:stretch>
          </p:blipFill>
          <p:spPr>
            <a:xfrm>
              <a:off x="1080516" y="5226948"/>
              <a:ext cx="954777" cy="954777"/>
            </a:xfrm>
            <a:prstGeom prst="rect">
              <a:avLst/>
            </a:prstGeom>
          </p:spPr>
        </p:pic>
      </p:grpSp>
      <p:grpSp>
        <p:nvGrpSpPr>
          <p:cNvPr id="31" name="Group 30">
            <a:extLst>
              <a:ext uri="{FF2B5EF4-FFF2-40B4-BE49-F238E27FC236}">
                <a16:creationId xmlns:a16="http://schemas.microsoft.com/office/drawing/2014/main" id="{1E7D9B8E-41F2-24A3-A038-7E0806249D97}"/>
              </a:ext>
            </a:extLst>
          </p:cNvPr>
          <p:cNvGrpSpPr/>
          <p:nvPr/>
        </p:nvGrpSpPr>
        <p:grpSpPr>
          <a:xfrm>
            <a:off x="6448763" y="4976812"/>
            <a:ext cx="5409523" cy="3467100"/>
            <a:chOff x="790575" y="4962525"/>
            <a:chExt cx="5409523" cy="3467100"/>
          </a:xfrm>
        </p:grpSpPr>
        <p:sp>
          <p:nvSpPr>
            <p:cNvPr id="32" name="Rectangle 31">
              <a:extLst>
                <a:ext uri="{FF2B5EF4-FFF2-40B4-BE49-F238E27FC236}">
                  <a16:creationId xmlns:a16="http://schemas.microsoft.com/office/drawing/2014/main" id="{5388BDC7-F4CC-0B1A-334B-DA148CD990D7}"/>
                </a:ext>
              </a:extLst>
            </p:cNvPr>
            <p:cNvSpPr/>
            <p:nvPr/>
          </p:nvSpPr>
          <p:spPr>
            <a:xfrm>
              <a:off x="790575" y="4962525"/>
              <a:ext cx="5409523" cy="346710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3" name="about-box-1-title">
              <a:extLst>
                <a:ext uri="{FF2B5EF4-FFF2-40B4-BE49-F238E27FC236}">
                  <a16:creationId xmlns:a16="http://schemas.microsoft.com/office/drawing/2014/main" id="{5DE4CB2E-15CA-5F61-24F8-B3CBFFF36049}"/>
                </a:ext>
              </a:extLst>
            </p:cNvPr>
            <p:cNvSpPr/>
            <p:nvPr/>
          </p:nvSpPr>
          <p:spPr>
            <a:xfrm>
              <a:off x="1104900" y="6562725"/>
              <a:ext cx="4819650" cy="295275"/>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Our clients</a:t>
              </a:r>
              <a:endParaRPr lang="en-US" sz="2400" dirty="0"/>
            </a:p>
          </p:txBody>
        </p:sp>
        <p:sp>
          <p:nvSpPr>
            <p:cNvPr id="34" name="about-box-1-body">
              <a:extLst>
                <a:ext uri="{FF2B5EF4-FFF2-40B4-BE49-F238E27FC236}">
                  <a16:creationId xmlns:a16="http://schemas.microsoft.com/office/drawing/2014/main" id="{ADDF690B-63B9-2CAC-BCDD-986EE2955236}"/>
                </a:ext>
              </a:extLst>
            </p:cNvPr>
            <p:cNvSpPr/>
            <p:nvPr/>
          </p:nvSpPr>
          <p:spPr>
            <a:xfrm>
              <a:off x="1104900" y="7239000"/>
              <a:ext cx="481965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Nagarro helps them transform, adapt, and build new ways into the  future through an entrepreneurial, agile, and caring mindset.</a:t>
              </a:r>
              <a:endParaRPr lang="en-US" sz="1800" dirty="0"/>
            </a:p>
          </p:txBody>
        </p:sp>
        <p:pic>
          <p:nvPicPr>
            <p:cNvPr id="35" name="Picture 34">
              <a:extLst>
                <a:ext uri="{FF2B5EF4-FFF2-40B4-BE49-F238E27FC236}">
                  <a16:creationId xmlns:a16="http://schemas.microsoft.com/office/drawing/2014/main" id="{FA4872FA-4F20-71E0-AADC-88857F02582E}"/>
                </a:ext>
              </a:extLst>
            </p:cNvPr>
            <p:cNvPicPr>
              <a:picLocks noChangeAspect="1"/>
            </p:cNvPicPr>
            <p:nvPr/>
          </p:nvPicPr>
          <p:blipFill>
            <a:blip r:embed="rId3"/>
            <a:stretch>
              <a:fillRect/>
            </a:stretch>
          </p:blipFill>
          <p:spPr>
            <a:xfrm>
              <a:off x="1080516" y="5226948"/>
              <a:ext cx="954777" cy="954777"/>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bout Nagarro - Stats Bubbles, Full-Width Photo / Dark" descr="preencoded.png"/>
          <p:cNvPicPr>
            <a:picLocks noChangeAspect="1"/>
          </p:cNvPicPr>
          <p:nvPr/>
        </p:nvPicPr>
        <p:blipFill>
          <a:blip r:embed="rId2"/>
          <a:srcRect/>
          <a:stretch/>
        </p:blipFill>
        <p:spPr>
          <a:xfrm>
            <a:off x="0" y="0"/>
            <a:ext cx="18288000" cy="10287000"/>
          </a:xfrm>
          <a:prstGeom prst="rect">
            <a:avLst/>
          </a:prstGeom>
        </p:spPr>
      </p:pic>
      <p:sp>
        <p:nvSpPr>
          <p:cNvPr id="3" name="line"/>
          <p:cNvSpPr/>
          <p:nvPr/>
        </p:nvSpPr>
        <p:spPr>
          <a:xfrm>
            <a:off x="2438400" y="5486400"/>
            <a:ext cx="4572000" cy="85725"/>
          </a:xfrm>
          <a:prstGeom prst="rect">
            <a:avLst/>
          </a:prstGeom>
          <a:solidFill>
            <a:srgbClr val="C4C9D2"/>
          </a:solidFill>
          <a:ln/>
        </p:spPr>
        <p:txBody>
          <a:bodyPr/>
          <a:lstStyle/>
          <a:p>
            <a:endParaRPr lang="en-PT"/>
          </a:p>
        </p:txBody>
      </p:sp>
      <p:pic>
        <p:nvPicPr>
          <p:cNvPr id="4" name="Metrics" descr="preencoded.png"/>
          <p:cNvPicPr>
            <a:picLocks noChangeAspect="1"/>
          </p:cNvPicPr>
          <p:nvPr/>
        </p:nvPicPr>
        <p:blipFill>
          <a:blip r:embed="rId3"/>
          <a:srcRect/>
          <a:stretch/>
        </p:blipFill>
        <p:spPr>
          <a:xfrm>
            <a:off x="6388112" y="2425698"/>
            <a:ext cx="11896739" cy="7839077"/>
          </a:xfrm>
          <a:prstGeom prst="rect">
            <a:avLst/>
          </a:prstGeom>
        </p:spPr>
      </p:pic>
      <p:sp>
        <p:nvSpPr>
          <p:cNvPr id="5" name="about-title"/>
          <p:cNvSpPr/>
          <p:nvPr/>
        </p:nvSpPr>
        <p:spPr>
          <a:xfrm>
            <a:off x="2438400" y="4762500"/>
            <a:ext cx="13430250" cy="762000"/>
          </a:xfrm>
          <a:prstGeom prst="rect">
            <a:avLst/>
          </a:prstGeom>
          <a:noFill/>
          <a:ln/>
        </p:spPr>
        <p:txBody>
          <a:bodyPr wrap="square" lIns="0" tIns="0" rIns="0" bIns="0" rtlCol="0" anchor="t"/>
          <a:lstStyle/>
          <a:p>
            <a:pPr marL="0" indent="0" algn="l">
              <a:lnSpc>
                <a:spcPct val="83333"/>
              </a:lnSpc>
              <a:buNone/>
            </a:pPr>
            <a:r>
              <a:rPr lang="en-US" sz="6000" dirty="0">
                <a:solidFill>
                  <a:srgbClr val="FFFFFF"/>
                </a:solidFill>
                <a:latin typeface="Equip Extended Medium" pitchFamily="34" charset="0"/>
                <a:ea typeface="Equip Extended Medium" pitchFamily="34" charset="-122"/>
                <a:cs typeface="Equip Extended Medium" pitchFamily="34" charset="-120"/>
              </a:rPr>
              <a:t>At a Glance:</a:t>
            </a:r>
            <a:endParaRPr lang="en-US" sz="6000" dirty="0"/>
          </a:p>
        </p:txBody>
      </p:sp>
      <p:sp>
        <p:nvSpPr>
          <p:cNvPr id="6" name="name_95"/>
          <p:cNvSpPr/>
          <p:nvPr/>
        </p:nvSpPr>
        <p:spPr>
          <a:xfrm>
            <a:off x="15601950" y="3731492"/>
            <a:ext cx="1386384" cy="862493"/>
          </a:xfrm>
          <a:prstGeom prst="rect">
            <a:avLst/>
          </a:prstGeom>
          <a:noFill/>
          <a:ln/>
        </p:spPr>
        <p:txBody>
          <a:bodyPr wrap="square" lIns="0" tIns="0" rIns="0" bIns="0" rtlCol="0" anchor="t"/>
          <a:lstStyle/>
          <a:p>
            <a:pPr marL="0" indent="0" algn="r">
              <a:lnSpc>
                <a:spcPts val="4875"/>
              </a:lnSpc>
              <a:buNone/>
            </a:pPr>
            <a:r>
              <a:rPr lang="en-US" sz="3906" b="1" dirty="0">
                <a:solidFill>
                  <a:srgbClr val="FFFFFF"/>
                </a:solidFill>
                <a:latin typeface="Equip Extended Bold" pitchFamily="34" charset="0"/>
                <a:ea typeface="Equip Extended Bold" pitchFamily="34" charset="-122"/>
                <a:cs typeface="Equip Extended Bold" pitchFamily="34" charset="-120"/>
              </a:rPr>
              <a:t>9.5</a:t>
            </a:r>
            <a:endParaRPr lang="en-US" sz="3906" dirty="0"/>
          </a:p>
        </p:txBody>
      </p:sp>
      <p:sp>
        <p:nvSpPr>
          <p:cNvPr id="7" name="default_name"/>
          <p:cNvSpPr/>
          <p:nvPr/>
        </p:nvSpPr>
        <p:spPr>
          <a:xfrm>
            <a:off x="16984080" y="3920529"/>
            <a:ext cx="370979" cy="614379"/>
          </a:xfrm>
          <a:prstGeom prst="rect">
            <a:avLst/>
          </a:prstGeom>
          <a:noFill/>
          <a:ln/>
        </p:spPr>
        <p:txBody>
          <a:bodyPr wrap="square" lIns="0" tIns="0" rIns="0" bIns="0" rtlCol="0" anchor="t"/>
          <a:lstStyle/>
          <a:p>
            <a:pPr marL="0" indent="0" algn="l">
              <a:lnSpc>
                <a:spcPts val="3450"/>
              </a:lnSpc>
              <a:buNone/>
            </a:pPr>
            <a:r>
              <a:rPr lang="en-US" sz="2790" b="1" dirty="0">
                <a:solidFill>
                  <a:srgbClr val="FFFFFF"/>
                </a:solidFill>
                <a:latin typeface="Equip Extended Bold" pitchFamily="34" charset="0"/>
                <a:ea typeface="Equip Extended Bold" pitchFamily="34" charset="-122"/>
                <a:cs typeface="Equip Extended Bold" pitchFamily="34" charset="-120"/>
              </a:rPr>
              <a:t>+</a:t>
            </a:r>
            <a:endParaRPr lang="en-US" sz="2790" dirty="0"/>
          </a:p>
        </p:txBody>
      </p:sp>
      <p:sp>
        <p:nvSpPr>
          <p:cNvPr id="8" name="Satisfaction"/>
          <p:cNvSpPr/>
          <p:nvPr/>
        </p:nvSpPr>
        <p:spPr>
          <a:xfrm>
            <a:off x="15754350" y="4434245"/>
            <a:ext cx="1593430" cy="343039"/>
          </a:xfrm>
          <a:prstGeom prst="rect">
            <a:avLst/>
          </a:prstGeom>
          <a:noFill/>
          <a:ln/>
        </p:spPr>
        <p:txBody>
          <a:bodyPr wrap="square" lIns="0" tIns="0" rIns="0" bIns="0" rtlCol="0" anchor="t"/>
          <a:lstStyle/>
          <a:p>
            <a:pPr marL="0" indent="0" algn="ctr">
              <a:lnSpc>
                <a:spcPts val="1950"/>
              </a:lnSpc>
              <a:buNone/>
            </a:pPr>
            <a:r>
              <a:rPr lang="en-US" sz="1534" dirty="0">
                <a:solidFill>
                  <a:srgbClr val="FFFFFF"/>
                </a:solidFill>
                <a:latin typeface="Equip Extended Medium" pitchFamily="34" charset="0"/>
                <a:ea typeface="Equip Extended Medium" pitchFamily="34" charset="-122"/>
                <a:cs typeface="Equip Extended Medium" pitchFamily="34" charset="-120"/>
              </a:rPr>
              <a:t>Satisfaction</a:t>
            </a:r>
            <a:endParaRPr lang="en-US" sz="1534" dirty="0"/>
          </a:p>
        </p:txBody>
      </p:sp>
      <p:sp>
        <p:nvSpPr>
          <p:cNvPr id="9" name="name_600M USD"/>
          <p:cNvSpPr/>
          <p:nvPr/>
        </p:nvSpPr>
        <p:spPr>
          <a:xfrm>
            <a:off x="14249400" y="7539872"/>
            <a:ext cx="3774075" cy="863246"/>
          </a:xfrm>
          <a:prstGeom prst="rect">
            <a:avLst/>
          </a:prstGeom>
          <a:noFill/>
          <a:ln/>
        </p:spPr>
        <p:txBody>
          <a:bodyPr wrap="square" lIns="0" tIns="0" rIns="0" bIns="0" rtlCol="0" anchor="t"/>
          <a:lstStyle/>
          <a:p>
            <a:pPr marL="0" indent="0" algn="ctr">
              <a:lnSpc>
                <a:spcPts val="2400"/>
              </a:lnSpc>
              <a:buNone/>
            </a:pPr>
            <a:r>
              <a:rPr lang="en-US" sz="1935" b="1" dirty="0">
                <a:solidFill>
                  <a:srgbClr val="FFFFFF"/>
                </a:solidFill>
                <a:latin typeface="Equip Extended Bold" pitchFamily="34" charset="0"/>
                <a:ea typeface="Equip Extended Bold" pitchFamily="34" charset="-122"/>
                <a:cs typeface="Equip Extended Bold" pitchFamily="34" charset="-120"/>
              </a:rPr>
              <a:t>$</a:t>
            </a:r>
            <a:r>
              <a:rPr lang="en-US" sz="3911" b="1" dirty="0">
                <a:solidFill>
                  <a:srgbClr val="FFFFFF"/>
                </a:solidFill>
                <a:latin typeface="Equip Extended Bold" pitchFamily="34" charset="0"/>
                <a:ea typeface="Equip Extended Bold" pitchFamily="34" charset="-122"/>
                <a:cs typeface="Equip Extended Bold" pitchFamily="34" charset="-120"/>
              </a:rPr>
              <a:t>600M </a:t>
            </a:r>
            <a:r>
              <a:rPr lang="en-US" sz="1935" b="1" dirty="0">
                <a:solidFill>
                  <a:srgbClr val="FFFFFF"/>
                </a:solidFill>
                <a:latin typeface="Equip Extended Bold" pitchFamily="34" charset="0"/>
                <a:ea typeface="Equip Extended Bold" pitchFamily="34" charset="-122"/>
                <a:cs typeface="Equip Extended Bold" pitchFamily="34" charset="-120"/>
              </a:rPr>
              <a:t>USD</a:t>
            </a:r>
            <a:endParaRPr lang="en-US" sz="1935" dirty="0"/>
          </a:p>
        </p:txBody>
      </p:sp>
      <p:sp>
        <p:nvSpPr>
          <p:cNvPr id="10" name="Revenue"/>
          <p:cNvSpPr/>
          <p:nvPr/>
        </p:nvSpPr>
        <p:spPr>
          <a:xfrm>
            <a:off x="15201900" y="8283743"/>
            <a:ext cx="1852232" cy="399429"/>
          </a:xfrm>
          <a:prstGeom prst="rect">
            <a:avLst/>
          </a:prstGeom>
          <a:noFill/>
          <a:ln/>
        </p:spPr>
        <p:txBody>
          <a:bodyPr wrap="square" lIns="0" tIns="0" rIns="0" bIns="0" rtlCol="0" anchor="t"/>
          <a:lstStyle/>
          <a:p>
            <a:pPr marL="0" indent="0" algn="ctr">
              <a:lnSpc>
                <a:spcPts val="2250"/>
              </a:lnSpc>
              <a:buNone/>
            </a:pPr>
            <a:r>
              <a:rPr lang="en-US" sz="1787" dirty="0">
                <a:solidFill>
                  <a:srgbClr val="FFFFFF"/>
                </a:solidFill>
                <a:latin typeface="Equip Extended Medium" pitchFamily="34" charset="0"/>
                <a:ea typeface="Equip Extended Medium" pitchFamily="34" charset="-122"/>
                <a:cs typeface="Equip Extended Medium" pitchFamily="34" charset="-120"/>
              </a:rPr>
              <a:t>Revenue</a:t>
            </a:r>
            <a:endParaRPr lang="en-US" sz="1787" dirty="0"/>
          </a:p>
        </p:txBody>
      </p:sp>
      <p:sp>
        <p:nvSpPr>
          <p:cNvPr id="11" name="name_1000"/>
          <p:cNvSpPr/>
          <p:nvPr/>
        </p:nvSpPr>
        <p:spPr>
          <a:xfrm>
            <a:off x="10920785" y="5421112"/>
            <a:ext cx="3050368" cy="1448387"/>
          </a:xfrm>
          <a:prstGeom prst="rect">
            <a:avLst/>
          </a:prstGeom>
          <a:noFill/>
          <a:ln/>
        </p:spPr>
        <p:txBody>
          <a:bodyPr wrap="square" lIns="0" tIns="0" rIns="0" bIns="0" rtlCol="0" anchor="t"/>
          <a:lstStyle/>
          <a:p>
            <a:pPr marL="0" indent="0" algn="l">
              <a:lnSpc>
                <a:spcPts val="8175"/>
              </a:lnSpc>
              <a:buNone/>
            </a:pPr>
            <a:r>
              <a:rPr lang="en-US" sz="6527" b="1" dirty="0">
                <a:solidFill>
                  <a:srgbClr val="FFFFFF"/>
                </a:solidFill>
                <a:latin typeface="Equip Extended Bold" pitchFamily="34" charset="0"/>
                <a:ea typeface="Equip Extended Bold" pitchFamily="34" charset="-122"/>
                <a:cs typeface="Equip Extended Bold" pitchFamily="34" charset="-120"/>
              </a:rPr>
              <a:t>1000</a:t>
            </a:r>
            <a:endParaRPr lang="en-US" sz="6527" dirty="0"/>
          </a:p>
        </p:txBody>
      </p:sp>
      <p:sp>
        <p:nvSpPr>
          <p:cNvPr id="12" name="default_name"/>
          <p:cNvSpPr/>
          <p:nvPr/>
        </p:nvSpPr>
        <p:spPr>
          <a:xfrm>
            <a:off x="13940061" y="5737041"/>
            <a:ext cx="600812" cy="1026770"/>
          </a:xfrm>
          <a:prstGeom prst="rect">
            <a:avLst/>
          </a:prstGeom>
          <a:noFill/>
          <a:ln/>
        </p:spPr>
        <p:txBody>
          <a:bodyPr wrap="square" lIns="0" tIns="0" rIns="0" bIns="0" rtlCol="0" anchor="t"/>
          <a:lstStyle/>
          <a:p>
            <a:pPr marL="0" indent="0" algn="l">
              <a:lnSpc>
                <a:spcPts val="5850"/>
              </a:lnSpc>
              <a:buNone/>
            </a:pPr>
            <a:r>
              <a:rPr lang="en-US" sz="4662" b="1" dirty="0">
                <a:solidFill>
                  <a:srgbClr val="FFFFFF"/>
                </a:solidFill>
                <a:latin typeface="Equip Extended Bold" pitchFamily="34" charset="0"/>
                <a:ea typeface="Equip Extended Bold" pitchFamily="34" charset="-122"/>
                <a:cs typeface="Equip Extended Bold" pitchFamily="34" charset="-120"/>
              </a:rPr>
              <a:t>+</a:t>
            </a:r>
            <a:endParaRPr lang="en-US" sz="4662" dirty="0"/>
          </a:p>
        </p:txBody>
      </p:sp>
      <p:sp>
        <p:nvSpPr>
          <p:cNvPr id="13" name="Customers"/>
          <p:cNvSpPr/>
          <p:nvPr/>
        </p:nvSpPr>
        <p:spPr>
          <a:xfrm>
            <a:off x="11534775" y="6595577"/>
            <a:ext cx="2465856" cy="572622"/>
          </a:xfrm>
          <a:prstGeom prst="rect">
            <a:avLst/>
          </a:prstGeom>
          <a:noFill/>
          <a:ln/>
        </p:spPr>
        <p:txBody>
          <a:bodyPr wrap="square" lIns="0" tIns="0" rIns="0" bIns="0" rtlCol="0" anchor="t"/>
          <a:lstStyle/>
          <a:p>
            <a:pPr marL="0" indent="0" algn="ctr">
              <a:lnSpc>
                <a:spcPts val="3225"/>
              </a:lnSpc>
              <a:buNone/>
            </a:pPr>
            <a:r>
              <a:rPr lang="en-US" sz="2564" dirty="0">
                <a:solidFill>
                  <a:srgbClr val="FFFFFF"/>
                </a:solidFill>
                <a:latin typeface="Equip Extended Medium" pitchFamily="34" charset="0"/>
                <a:ea typeface="Equip Extended Medium" pitchFamily="34" charset="-122"/>
                <a:cs typeface="Equip Extended Medium" pitchFamily="34" charset="-120"/>
              </a:rPr>
              <a:t>Customers</a:t>
            </a:r>
            <a:endParaRPr lang="en-US" sz="2564" dirty="0"/>
          </a:p>
        </p:txBody>
      </p:sp>
      <p:sp>
        <p:nvSpPr>
          <p:cNvPr id="14" name="name_32"/>
          <p:cNvSpPr/>
          <p:nvPr/>
        </p:nvSpPr>
        <p:spPr>
          <a:xfrm>
            <a:off x="7210425" y="8104900"/>
            <a:ext cx="995782" cy="614379"/>
          </a:xfrm>
          <a:prstGeom prst="rect">
            <a:avLst/>
          </a:prstGeom>
          <a:noFill/>
          <a:ln/>
        </p:spPr>
        <p:txBody>
          <a:bodyPr wrap="square" lIns="0" tIns="0" rIns="0" bIns="0" rtlCol="0" anchor="t"/>
          <a:lstStyle/>
          <a:p>
            <a:pPr marL="0" indent="0" algn="ctr">
              <a:lnSpc>
                <a:spcPts val="3450"/>
              </a:lnSpc>
              <a:buNone/>
            </a:pPr>
            <a:r>
              <a:rPr lang="en-US" sz="2782" b="1" dirty="0">
                <a:solidFill>
                  <a:srgbClr val="FFFFFF"/>
                </a:solidFill>
                <a:latin typeface="Equip Extended Bold" pitchFamily="34" charset="0"/>
                <a:ea typeface="Equip Extended Bold" pitchFamily="34" charset="-122"/>
                <a:cs typeface="Equip Extended Bold" pitchFamily="34" charset="-120"/>
              </a:rPr>
              <a:t>32</a:t>
            </a:r>
            <a:endParaRPr lang="en-US" sz="2782" dirty="0"/>
          </a:p>
        </p:txBody>
      </p:sp>
      <p:sp>
        <p:nvSpPr>
          <p:cNvPr id="15" name="Countries"/>
          <p:cNvSpPr/>
          <p:nvPr/>
        </p:nvSpPr>
        <p:spPr>
          <a:xfrm>
            <a:off x="7143750" y="8595463"/>
            <a:ext cx="1140526" cy="244356"/>
          </a:xfrm>
          <a:prstGeom prst="rect">
            <a:avLst/>
          </a:prstGeom>
          <a:noFill/>
          <a:ln/>
        </p:spPr>
        <p:txBody>
          <a:bodyPr wrap="square" lIns="0" tIns="0" rIns="0" bIns="0" rtlCol="0" anchor="t"/>
          <a:lstStyle/>
          <a:p>
            <a:pPr marL="0" indent="0" algn="ctr">
              <a:lnSpc>
                <a:spcPts val="1350"/>
              </a:lnSpc>
              <a:buNone/>
            </a:pPr>
            <a:r>
              <a:rPr lang="en-US" sz="1093" dirty="0">
                <a:solidFill>
                  <a:srgbClr val="FFFFFF"/>
                </a:solidFill>
                <a:latin typeface="Equip Extended Medium" pitchFamily="34" charset="0"/>
                <a:ea typeface="Equip Extended Medium" pitchFamily="34" charset="-122"/>
                <a:cs typeface="Equip Extended Medium" pitchFamily="34" charset="-120"/>
              </a:rPr>
              <a:t>Countries</a:t>
            </a:r>
            <a:endParaRPr lang="en-US" sz="1093" dirty="0"/>
          </a:p>
        </p:txBody>
      </p:sp>
      <p:sp>
        <p:nvSpPr>
          <p:cNvPr id="16" name="name_25"/>
          <p:cNvSpPr/>
          <p:nvPr/>
        </p:nvSpPr>
        <p:spPr>
          <a:xfrm>
            <a:off x="9696450" y="4353706"/>
            <a:ext cx="891945" cy="533616"/>
          </a:xfrm>
          <a:prstGeom prst="rect">
            <a:avLst/>
          </a:prstGeom>
          <a:noFill/>
          <a:ln/>
        </p:spPr>
        <p:txBody>
          <a:bodyPr wrap="square" lIns="0" tIns="0" rIns="0" bIns="0" rtlCol="0" anchor="t"/>
          <a:lstStyle/>
          <a:p>
            <a:pPr marL="0" indent="0" algn="ctr">
              <a:lnSpc>
                <a:spcPts val="3075"/>
              </a:lnSpc>
              <a:buNone/>
            </a:pPr>
            <a:r>
              <a:rPr lang="en-US" sz="2434" b="1" dirty="0">
                <a:solidFill>
                  <a:srgbClr val="FFFFFF"/>
                </a:solidFill>
                <a:latin typeface="Equip Extended Bold" pitchFamily="34" charset="0"/>
                <a:ea typeface="Equip Extended Bold" pitchFamily="34" charset="-122"/>
                <a:cs typeface="Equip Extended Bold" pitchFamily="34" charset="-120"/>
              </a:rPr>
              <a:t>25+</a:t>
            </a:r>
            <a:endParaRPr lang="en-US" sz="2434" dirty="0"/>
          </a:p>
        </p:txBody>
      </p:sp>
      <p:sp>
        <p:nvSpPr>
          <p:cNvPr id="17" name="Years"/>
          <p:cNvSpPr/>
          <p:nvPr/>
        </p:nvSpPr>
        <p:spPr>
          <a:xfrm>
            <a:off x="9201150" y="4749455"/>
            <a:ext cx="1890895" cy="407853"/>
          </a:xfrm>
          <a:prstGeom prst="rect">
            <a:avLst/>
          </a:prstGeom>
          <a:noFill/>
          <a:ln/>
        </p:spPr>
        <p:txBody>
          <a:bodyPr wrap="square" lIns="0" tIns="0" rIns="0" bIns="0" rtlCol="0" anchor="t"/>
          <a:lstStyle/>
          <a:p>
            <a:pPr marL="0" indent="0" algn="ctr">
              <a:lnSpc>
                <a:spcPts val="2250"/>
              </a:lnSpc>
              <a:buNone/>
            </a:pPr>
            <a:r>
              <a:rPr lang="en-US" sz="1824" dirty="0">
                <a:solidFill>
                  <a:srgbClr val="FFFFFF"/>
                </a:solidFill>
                <a:latin typeface="Equip Extended Medium" pitchFamily="34" charset="0"/>
                <a:ea typeface="Equip Extended Medium" pitchFamily="34" charset="-122"/>
                <a:cs typeface="Equip Extended Medium" pitchFamily="34" charset="-120"/>
              </a:rPr>
              <a:t>Years</a:t>
            </a:r>
            <a:endParaRPr lang="en-US" sz="1824" dirty="0"/>
          </a:p>
        </p:txBody>
      </p:sp>
      <p:sp>
        <p:nvSpPr>
          <p:cNvPr id="18" name="name_17000"/>
          <p:cNvSpPr/>
          <p:nvPr/>
        </p:nvSpPr>
        <p:spPr>
          <a:xfrm>
            <a:off x="8896350" y="7860664"/>
            <a:ext cx="2479021" cy="863950"/>
          </a:xfrm>
          <a:prstGeom prst="rect">
            <a:avLst/>
          </a:prstGeom>
          <a:noFill/>
          <a:ln/>
        </p:spPr>
        <p:txBody>
          <a:bodyPr wrap="square" lIns="0" tIns="0" rIns="0" bIns="0" rtlCol="0" anchor="t"/>
          <a:lstStyle/>
          <a:p>
            <a:pPr marL="0" indent="0" algn="r">
              <a:lnSpc>
                <a:spcPts val="4875"/>
              </a:lnSpc>
              <a:buNone/>
            </a:pPr>
            <a:r>
              <a:rPr lang="en-US" sz="3906" b="1" dirty="0">
                <a:solidFill>
                  <a:srgbClr val="FFFFFF"/>
                </a:solidFill>
                <a:latin typeface="Equip Extended Bold" pitchFamily="34" charset="0"/>
                <a:ea typeface="Equip Extended Bold" pitchFamily="34" charset="-122"/>
                <a:cs typeface="Equip Extended Bold" pitchFamily="34" charset="-120"/>
              </a:rPr>
              <a:t>17,000</a:t>
            </a:r>
            <a:endParaRPr lang="en-US" sz="3906" dirty="0"/>
          </a:p>
        </p:txBody>
      </p:sp>
      <p:sp>
        <p:nvSpPr>
          <p:cNvPr id="19" name="default_name"/>
          <p:cNvSpPr/>
          <p:nvPr/>
        </p:nvSpPr>
        <p:spPr>
          <a:xfrm>
            <a:off x="11384868" y="8049703"/>
            <a:ext cx="370979" cy="614379"/>
          </a:xfrm>
          <a:prstGeom prst="rect">
            <a:avLst/>
          </a:prstGeom>
          <a:noFill/>
          <a:ln/>
        </p:spPr>
        <p:txBody>
          <a:bodyPr wrap="square" lIns="0" tIns="0" rIns="0" bIns="0" rtlCol="0" anchor="t"/>
          <a:lstStyle/>
          <a:p>
            <a:pPr marL="0" indent="0" algn="l">
              <a:lnSpc>
                <a:spcPts val="3450"/>
              </a:lnSpc>
              <a:buNone/>
            </a:pPr>
            <a:r>
              <a:rPr lang="en-US" sz="2790" b="1" dirty="0">
                <a:solidFill>
                  <a:srgbClr val="FFFFFF"/>
                </a:solidFill>
                <a:latin typeface="Equip Extended Bold" pitchFamily="34" charset="0"/>
                <a:ea typeface="Equip Extended Bold" pitchFamily="34" charset="-122"/>
                <a:cs typeface="Equip Extended Bold" pitchFamily="34" charset="-120"/>
              </a:rPr>
              <a:t>+</a:t>
            </a:r>
            <a:endParaRPr lang="en-US" sz="2790" dirty="0"/>
          </a:p>
        </p:txBody>
      </p:sp>
      <p:sp>
        <p:nvSpPr>
          <p:cNvPr id="20" name="People"/>
          <p:cNvSpPr/>
          <p:nvPr/>
        </p:nvSpPr>
        <p:spPr>
          <a:xfrm>
            <a:off x="9772650" y="8601530"/>
            <a:ext cx="971296" cy="343039"/>
          </a:xfrm>
          <a:prstGeom prst="rect">
            <a:avLst/>
          </a:prstGeom>
          <a:noFill/>
          <a:ln/>
        </p:spPr>
        <p:txBody>
          <a:bodyPr wrap="square" lIns="0" tIns="0" rIns="0" bIns="0" rtlCol="0" anchor="t"/>
          <a:lstStyle/>
          <a:p>
            <a:pPr marL="0" indent="0" algn="ctr">
              <a:lnSpc>
                <a:spcPts val="1950"/>
              </a:lnSpc>
              <a:buNone/>
            </a:pPr>
            <a:r>
              <a:rPr lang="en-US" sz="1534" dirty="0">
                <a:solidFill>
                  <a:srgbClr val="FFFFFF"/>
                </a:solidFill>
                <a:latin typeface="Equip Extended Medium" pitchFamily="34" charset="0"/>
                <a:ea typeface="Equip Extended Medium" pitchFamily="34" charset="-122"/>
                <a:cs typeface="Equip Extended Medium" pitchFamily="34" charset="-120"/>
              </a:rPr>
              <a:t>People</a:t>
            </a:r>
            <a:endParaRPr lang="en-US" sz="153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529</TotalTime>
  <Words>579</Words>
  <Application>Microsoft Macintosh PowerPoint</Application>
  <PresentationFormat>Custom</PresentationFormat>
  <Paragraphs>121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Equip Extended Medium</vt:lpstr>
      <vt:lpstr>Equip Extended Bold</vt:lpstr>
      <vt:lpstr>Arial</vt:lpstr>
      <vt:lpstr>Equip Extended Regular</vt:lpstr>
      <vt:lpstr>Equip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9</cp:revision>
  <dcterms:created xsi:type="dcterms:W3CDTF">2026-05-27T18:03:55Z</dcterms:created>
  <dcterms:modified xsi:type="dcterms:W3CDTF">2026-06-02T20:17:55Z</dcterms:modified>
</cp:coreProperties>
</file>