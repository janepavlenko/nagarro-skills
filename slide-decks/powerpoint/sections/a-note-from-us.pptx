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8288000" cy="10287000"/>
  <p:notesSz cx="10287000" cy="18288000"/>
  <p:embeddedFontLst>
    <p:embeddedFont>
      <p:font typeface="Equip Extended Medium" panose="02000603000000020004" pitchFamily="2" charset="77"/>
      <p:regular r:id="rId8"/>
      <p:italic r:id="rId9"/>
    </p:embeddedFont>
    <p:embeddedFont>
      <p:font typeface="Equip Extended Regular" panose="02000503030000020004" pitchFamily="2" charset="77"/>
      <p:regular r:id="rId10"/>
      <p:bold r:id="rId11"/>
      <p:italic r:id="rId12"/>
      <p:boldItalic r:id="rId13"/>
    </p:embeddedFont>
    <p:embeddedFont>
      <p:font typeface="Equip Regular" panose="02000503030000020004" pitchFamily="2" charset="77"/>
      <p:regular r:id="rId14"/>
      <p:bold r:id="rId15"/>
      <p:italic r:id="rId16"/>
      <p:boldItalic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86" userDrawn="1">
          <p15:clr>
            <a:srgbClr val="A4A3A4"/>
          </p15:clr>
        </p15:guide>
        <p15:guide id="2" pos="498" userDrawn="1">
          <p15:clr>
            <a:srgbClr val="A4A3A4"/>
          </p15:clr>
        </p15:guide>
        <p15:guide id="3" pos="110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716"/>
    <a:srgbClr val="A4EBD5"/>
    <a:srgbClr val="2C807C"/>
    <a:srgbClr val="FDF4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64"/>
    <p:restoredTop sz="94610"/>
  </p:normalViewPr>
  <p:slideViewPr>
    <p:cSldViewPr snapToGrid="0" snapToObjects="1">
      <p:cViewPr>
        <p:scale>
          <a:sx n="80" d="100"/>
          <a:sy n="80" d="100"/>
        </p:scale>
        <p:origin x="832" y="424"/>
      </p:cViewPr>
      <p:guideLst>
        <p:guide orient="horz" pos="586"/>
        <p:guide pos="498"/>
        <p:guide pos="1102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Layout" descr="preencoded.png"/>
          <p:cNvPicPr>
            <a:picLocks noChangeAspect="1"/>
          </p:cNvPicPr>
          <p:nvPr/>
        </p:nvPicPr>
        <p:blipFill>
          <a:blip r:embed="rId2"/>
          <a:srcRect l="4311" t="4985" r="87886" b="88782"/>
          <a:stretch>
            <a:fillRect/>
          </a:stretch>
        </p:blipFill>
        <p:spPr>
          <a:xfrm>
            <a:off x="790575" y="513347"/>
            <a:ext cx="1426842" cy="641084"/>
          </a:xfrm>
          <a:prstGeom prst="rect">
            <a:avLst/>
          </a:prstGeom>
        </p:spPr>
      </p:pic>
      <p:sp>
        <p:nvSpPr>
          <p:cNvPr id="3" name="note-name-1"/>
          <p:cNvSpPr/>
          <p:nvPr/>
        </p:nvSpPr>
        <p:spPr>
          <a:xfrm>
            <a:off x="13706475" y="733425"/>
            <a:ext cx="11906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Product Studio</a:t>
            </a:r>
            <a:endParaRPr lang="en-US" sz="1200" dirty="0"/>
          </a:p>
        </p:txBody>
      </p:sp>
      <p:sp>
        <p:nvSpPr>
          <p:cNvPr id="4" name="note-name-2"/>
          <p:cNvSpPr/>
          <p:nvPr/>
        </p:nvSpPr>
        <p:spPr>
          <a:xfrm>
            <a:off x="15335250" y="733425"/>
            <a:ext cx="151447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Presentation Name</a:t>
            </a:r>
            <a:endParaRPr lang="en-US" sz="1200" dirty="0"/>
          </a:p>
        </p:txBody>
      </p:sp>
      <p:sp>
        <p:nvSpPr>
          <p:cNvPr id="5" name="note-name-3"/>
          <p:cNvSpPr/>
          <p:nvPr/>
        </p:nvSpPr>
        <p:spPr>
          <a:xfrm>
            <a:off x="17287875" y="733425"/>
            <a:ext cx="228600" cy="190500"/>
          </a:xfrm>
          <a:prstGeom prst="rect">
            <a:avLst/>
          </a:prstGeom>
          <a:noFill/>
          <a:ln/>
        </p:spPr>
        <p:txBody>
          <a:bodyPr wrap="square" lIns="0" tIns="0" rIns="0" bIns="0" rtlCol="0" anchor="t"/>
          <a:lstStyle/>
          <a:p>
            <a:pPr marL="0" indent="0" algn="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01</a:t>
            </a:r>
            <a:endParaRPr lang="en-US" sz="1200" dirty="0"/>
          </a:p>
        </p:txBody>
      </p:sp>
      <p:sp>
        <p:nvSpPr>
          <p:cNvPr id="6" name="note-title"/>
          <p:cNvSpPr/>
          <p:nvPr/>
        </p:nvSpPr>
        <p:spPr>
          <a:xfrm>
            <a:off x="819150" y="1914525"/>
            <a:ext cx="8191500" cy="762000"/>
          </a:xfrm>
          <a:prstGeom prst="rect">
            <a:avLst/>
          </a:prstGeom>
          <a:noFill/>
          <a:ln/>
        </p:spPr>
        <p:txBody>
          <a:bodyPr wrap="square" lIns="0" tIns="0" rIns="0" bIns="0" rtlCol="0" anchor="t"/>
          <a:lstStyle/>
          <a:p>
            <a:pPr marL="0" indent="0" algn="l">
              <a:lnSpc>
                <a:spcPts val="6000"/>
              </a:lnSpc>
              <a:buNone/>
            </a:pPr>
            <a:r>
              <a:rPr lang="en-US" sz="6000" kern="0" spc="-112" dirty="0">
                <a:solidFill>
                  <a:srgbClr val="010716"/>
                </a:solidFill>
                <a:latin typeface="Equip Extended Medium" pitchFamily="34" charset="0"/>
                <a:ea typeface="Equip Extended Medium" pitchFamily="34" charset="-122"/>
                <a:cs typeface="Equip Extended Medium" pitchFamily="34" charset="-120"/>
              </a:rPr>
              <a:t>A Note From Us</a:t>
            </a:r>
            <a:endParaRPr lang="en-US" sz="6000" dirty="0"/>
          </a:p>
        </p:txBody>
      </p:sp>
      <p:sp>
        <p:nvSpPr>
          <p:cNvPr id="7" name="note-intro"/>
          <p:cNvSpPr/>
          <p:nvPr/>
        </p:nvSpPr>
        <p:spPr>
          <a:xfrm>
            <a:off x="800100" y="5581650"/>
            <a:ext cx="11068050" cy="3857625"/>
          </a:xfrm>
          <a:prstGeom prst="rect">
            <a:avLst/>
          </a:prstGeom>
          <a:noFill/>
          <a:ln/>
        </p:spPr>
        <p:txBody>
          <a:bodyPr wrap="square" lIns="0" tIns="0" rIns="0" bIns="0" rtlCol="0" anchor="b"/>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First and foremost, thank you for inviting us to submit a proposal for the UX/UI Design, Prototyping &amp; Validation of the _____________ Project. 
At Nagarro, we believe that design has the power to simplify complex information, generate business results, and establish new and exciting connections with audiences. We are excited to contribute to the operational effectiveness of the _______________ project with innovative approaches that deliver impact.
Our Product team has extensive experience in User Experience, User Interface Design, User Testing, and Validation, and we are thrilled to have the opportunity to help the __________ team bring its vision one step closer to reality.
We are looking forward to learning more about this exciting journey __________ is embarking on, and we are ready to support you in achieving your strategic objectives.
Thank you,</a:t>
            </a:r>
            <a:br>
              <a:rPr dirty="0"/>
            </a:br>
            <a:r>
              <a:rPr lang="en-US" sz="1800" kern="0" spc="-75" dirty="0">
                <a:solidFill>
                  <a:srgbClr val="010716"/>
                </a:solidFill>
                <a:latin typeface="Equip Extended Regular" pitchFamily="34" charset="0"/>
                <a:ea typeface="Equip Extended Regular" pitchFamily="34" charset="-122"/>
                <a:cs typeface="Equip Extended Regular" pitchFamily="34" charset="-120"/>
              </a:rPr>
              <a:t>Nagarro Team</a:t>
            </a:r>
            <a:endParaRPr lang="en-US" sz="1800" dirty="0"/>
          </a:p>
        </p:txBody>
      </p:sp>
      <p:cxnSp>
        <p:nvCxnSpPr>
          <p:cNvPr id="9" name="Straight Connector 8">
            <a:extLst>
              <a:ext uri="{FF2B5EF4-FFF2-40B4-BE49-F238E27FC236}">
                <a16:creationId xmlns:a16="http://schemas.microsoft.com/office/drawing/2014/main" id="{B2AA3D54-6358-B0D5-8B1A-1FB93C2A3833}"/>
              </a:ext>
            </a:extLst>
          </p:cNvPr>
          <p:cNvCxnSpPr>
            <a:cxnSpLocks/>
          </p:cNvCxnSpPr>
          <p:nvPr/>
        </p:nvCxnSpPr>
        <p:spPr>
          <a:xfrm>
            <a:off x="790575" y="1235765"/>
            <a:ext cx="16706850"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FA8BB203-CA8A-A5E1-265F-030E1742660A}"/>
              </a:ext>
            </a:extLst>
          </p:cNvPr>
          <p:cNvCxnSpPr>
            <a:cxnSpLocks/>
          </p:cNvCxnSpPr>
          <p:nvPr/>
        </p:nvCxnSpPr>
        <p:spPr>
          <a:xfrm>
            <a:off x="15108093" y="733425"/>
            <a:ext cx="0" cy="190500"/>
          </a:xfrm>
          <a:prstGeom prst="line">
            <a:avLst/>
          </a:prstGeom>
        </p:spPr>
        <p:style>
          <a:lnRef idx="1">
            <a:schemeClr val="accent3"/>
          </a:lnRef>
          <a:fillRef idx="0">
            <a:schemeClr val="accent3"/>
          </a:fillRef>
          <a:effectRef idx="0">
            <a:schemeClr val="accent3"/>
          </a:effectRef>
          <a:fontRef idx="minor">
            <a:schemeClr val="tx1"/>
          </a:fontRef>
        </p:style>
      </p:cxnSp>
      <p:cxnSp>
        <p:nvCxnSpPr>
          <p:cNvPr id="16" name="Straight Connector 15">
            <a:extLst>
              <a:ext uri="{FF2B5EF4-FFF2-40B4-BE49-F238E27FC236}">
                <a16:creationId xmlns:a16="http://schemas.microsoft.com/office/drawing/2014/main" id="{F1654A29-C335-E9E7-CEF8-EC5624C468ED}"/>
              </a:ext>
            </a:extLst>
          </p:cNvPr>
          <p:cNvCxnSpPr>
            <a:cxnSpLocks/>
          </p:cNvCxnSpPr>
          <p:nvPr/>
        </p:nvCxnSpPr>
        <p:spPr>
          <a:xfrm>
            <a:off x="17060718" y="730250"/>
            <a:ext cx="0" cy="190500"/>
          </a:xfrm>
          <a:prstGeom prst="line">
            <a:avLst/>
          </a:prstGeom>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A NoteFrom Us"/>
          <p:cNvSpPr/>
          <p:nvPr/>
        </p:nvSpPr>
        <p:spPr>
          <a:xfrm>
            <a:off x="800100" y="3076575"/>
            <a:ext cx="5429250" cy="1524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A Note</a:t>
            </a:r>
            <a:br>
              <a:rPr dirty="0"/>
            </a:br>
            <a:r>
              <a:rPr lang="en-US" sz="4800" kern="0" spc="-112" dirty="0">
                <a:solidFill>
                  <a:srgbClr val="010716"/>
                </a:solidFill>
                <a:latin typeface="Equip Extended Regular" pitchFamily="34" charset="0"/>
                <a:ea typeface="Equip Extended Regular" pitchFamily="34" charset="-122"/>
                <a:cs typeface="Equip Extended Regular" pitchFamily="34" charset="-120"/>
              </a:rPr>
              <a:t>From Us</a:t>
            </a:r>
            <a:endParaRPr lang="en-US" sz="4800" dirty="0"/>
          </a:p>
        </p:txBody>
      </p:sp>
      <p:sp>
        <p:nvSpPr>
          <p:cNvPr id="8" name="note-body-1"/>
          <p:cNvSpPr/>
          <p:nvPr/>
        </p:nvSpPr>
        <p:spPr>
          <a:xfrm>
            <a:off x="6438900" y="3076575"/>
            <a:ext cx="5429250" cy="295275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First and foremost, thank you for inviting us to submit a proposal for the UX/UI Design, Prototyping &amp; Validation of the __________ Project. 
At Nagarro, we believe that design has the power to simplify complex information, generate business results, and establish new and exciting connections with audiences. We are excited to contribute to the operational effectiveness of the __________ project with innovative approaches that deliver impact.</a:t>
            </a:r>
            <a:endParaRPr lang="en-US" sz="1800" dirty="0"/>
          </a:p>
        </p:txBody>
      </p:sp>
      <p:sp>
        <p:nvSpPr>
          <p:cNvPr id="9" name="note-body-2"/>
          <p:cNvSpPr/>
          <p:nvPr/>
        </p:nvSpPr>
        <p:spPr>
          <a:xfrm>
            <a:off x="12077700" y="3076575"/>
            <a:ext cx="5429250" cy="413385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Our Product team has extensive experience in User Experience, User Interface Design, User Testing, and Validation, and we are thrilled to have the opportunity to help ________ bring its vision one step closer to reality.
We are looking forward to learning more about this exciting journey ____________ is embarking on, and we are ready to support you in achieving your strategic objectives.
Thank you,</a:t>
            </a:r>
            <a:br/>
            <a:r>
              <a:rPr lang="en-US" sz="1800" kern="0" spc="-75" dirty="0">
                <a:solidFill>
                  <a:srgbClr val="010716"/>
                </a:solidFill>
                <a:latin typeface="Equip Regular" pitchFamily="34" charset="0"/>
                <a:ea typeface="Equip Regular" pitchFamily="34" charset="-122"/>
                <a:cs typeface="Equip Regular" pitchFamily="34" charset="-120"/>
              </a:rPr>
              <a:t>Nagarro Team</a:t>
            </a:r>
            <a:endParaRPr lang="en-US" sz="1800" dirty="0"/>
          </a:p>
        </p:txBody>
      </p:sp>
      <p:sp>
        <p:nvSpPr>
          <p:cNvPr id="10" name="Digital Design Strategy">
            <a:extLst>
              <a:ext uri="{FF2B5EF4-FFF2-40B4-BE49-F238E27FC236}">
                <a16:creationId xmlns:a16="http://schemas.microsoft.com/office/drawing/2014/main" id="{E5E5D939-18B1-11AD-B78F-C3C6B5CA9E96}"/>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1" name="Project Name">
            <a:extLst>
              <a:ext uri="{FF2B5EF4-FFF2-40B4-BE49-F238E27FC236}">
                <a16:creationId xmlns:a16="http://schemas.microsoft.com/office/drawing/2014/main" id="{83EC8568-93D4-1A14-BBE4-828205E9FAF7}"/>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2" name="Month Year">
            <a:extLst>
              <a:ext uri="{FF2B5EF4-FFF2-40B4-BE49-F238E27FC236}">
                <a16:creationId xmlns:a16="http://schemas.microsoft.com/office/drawing/2014/main" id="{1BC8AE83-CDC5-402C-7796-B29BE93D2B64}"/>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3" name="2026">
            <a:extLst>
              <a:ext uri="{FF2B5EF4-FFF2-40B4-BE49-F238E27FC236}">
                <a16:creationId xmlns:a16="http://schemas.microsoft.com/office/drawing/2014/main" id="{01C1BE41-4BF6-F20D-89B6-F1A7C08C67D1}"/>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cxnSp>
        <p:nvCxnSpPr>
          <p:cNvPr id="14" name="Straight Connector 13">
            <a:extLst>
              <a:ext uri="{FF2B5EF4-FFF2-40B4-BE49-F238E27FC236}">
                <a16:creationId xmlns:a16="http://schemas.microsoft.com/office/drawing/2014/main" id="{28342ED6-DC6B-96BE-E67F-21E8DDB773BE}"/>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C663A56-4297-4279-645A-41374CBA3A44}"/>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9CCB24-4EE9-3D5A-1973-186C7AE9DAAB}"/>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B835B679-83FB-12B3-D62F-CA4D947B64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note-body-1"/>
          <p:cNvSpPr/>
          <p:nvPr/>
        </p:nvSpPr>
        <p:spPr>
          <a:xfrm>
            <a:off x="6438900" y="3209925"/>
            <a:ext cx="8248650" cy="38576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First and foremost, thank you for inviting us to submit a proposal for the UX/UI Design, Prototyping &amp; Validation of the _____________ Project. 
At Nagarro, we believe that design has the power to simplify complex information, generate business results, and establish new and exciting connections with audiences. 
We are looking forward to learning more about this exciting journey ___________ is embarking on, and we are ready to support you in achieving your strategic objectives.
Thank you,</a:t>
            </a:r>
            <a:br/>
            <a:r>
              <a:rPr lang="en-US" sz="1800" kern="0" spc="-75" dirty="0">
                <a:solidFill>
                  <a:srgbClr val="010716"/>
                </a:solidFill>
                <a:latin typeface="Equip Extended Regular" pitchFamily="34" charset="0"/>
                <a:ea typeface="Equip Extended Regular" pitchFamily="34" charset="-122"/>
                <a:cs typeface="Equip Extended Regular" pitchFamily="34" charset="-120"/>
              </a:rPr>
              <a:t>Nagarro Team</a:t>
            </a:r>
            <a:endParaRPr lang="en-US" sz="1800" dirty="0"/>
          </a:p>
        </p:txBody>
      </p:sp>
      <p:sp>
        <p:nvSpPr>
          <p:cNvPr id="9" name="Digital Design Strategy">
            <a:extLst>
              <a:ext uri="{FF2B5EF4-FFF2-40B4-BE49-F238E27FC236}">
                <a16:creationId xmlns:a16="http://schemas.microsoft.com/office/drawing/2014/main" id="{1C0DF5D8-8552-48B2-2340-2A42516C4251}"/>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E3443477-4F3E-DA92-54FF-1CDFA5D99E71}"/>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17EA01A8-1F7A-7A4E-260B-F536DF6C36FD}"/>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A1795C6A-1F23-31F7-E72E-3C8B31645A5E}"/>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sp>
        <p:nvSpPr>
          <p:cNvPr id="17" name="A NoteFrom Us">
            <a:extLst>
              <a:ext uri="{FF2B5EF4-FFF2-40B4-BE49-F238E27FC236}">
                <a16:creationId xmlns:a16="http://schemas.microsoft.com/office/drawing/2014/main" id="{C5E30C5C-9659-E328-476C-E28C7A547CCF}"/>
              </a:ext>
            </a:extLst>
          </p:cNvPr>
          <p:cNvSpPr/>
          <p:nvPr/>
        </p:nvSpPr>
        <p:spPr>
          <a:xfrm>
            <a:off x="800100" y="3076575"/>
            <a:ext cx="5429250" cy="1524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A Note</a:t>
            </a:r>
            <a:br>
              <a:rPr dirty="0"/>
            </a:br>
            <a:r>
              <a:rPr lang="en-US" sz="4800" kern="0" spc="-112" dirty="0">
                <a:solidFill>
                  <a:srgbClr val="010716"/>
                </a:solidFill>
                <a:latin typeface="Equip Extended Regular" pitchFamily="34" charset="0"/>
                <a:ea typeface="Equip Extended Regular" pitchFamily="34" charset="-122"/>
                <a:cs typeface="Equip Extended Regular" pitchFamily="34" charset="-120"/>
              </a:rPr>
              <a:t>From Us</a:t>
            </a:r>
            <a:endParaRPr lang="en-US" sz="4800" dirty="0"/>
          </a:p>
        </p:txBody>
      </p:sp>
      <p:pic>
        <p:nvPicPr>
          <p:cNvPr id="2" name="Graphic 1">
            <a:extLst>
              <a:ext uri="{FF2B5EF4-FFF2-40B4-BE49-F238E27FC236}">
                <a16:creationId xmlns:a16="http://schemas.microsoft.com/office/drawing/2014/main" id="{9F785FCA-94FE-BE18-8B94-4379BDBB5C0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50E89DF3-A940-8D00-FE1C-E5D7053C770F}"/>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39FE716-24E5-DD36-6493-52817EC13751}"/>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61349BB-08F1-7E77-E6BD-C18C321F398A}"/>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note-title"/>
          <p:cNvSpPr/>
          <p:nvPr/>
        </p:nvSpPr>
        <p:spPr>
          <a:xfrm>
            <a:off x="800100" y="3676650"/>
            <a:ext cx="110680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A Note From Us</a:t>
            </a:r>
            <a:endParaRPr lang="en-US" sz="4800" dirty="0"/>
          </a:p>
        </p:txBody>
      </p:sp>
      <p:sp>
        <p:nvSpPr>
          <p:cNvPr id="8" name="note-body-1"/>
          <p:cNvSpPr/>
          <p:nvPr/>
        </p:nvSpPr>
        <p:spPr>
          <a:xfrm>
            <a:off x="800100" y="4743450"/>
            <a:ext cx="11068050" cy="38576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First and foremost, thank you for inviting us to submit a proposal for the UX/UI Design, Prototyping &amp; Validation of the _____________ Project. 
At Nagarro, we believe that design has the power to simplify complex information, generate business results, and establish new and exciting connections with audiences. We are excited to contribute to the operational effectiveness of the _______________ project with innovative approaches that deliver impact.
Our Product team has extensive experience in User Experience, User Interface Design, User Testing, and Validation, and we are thrilled to have the opportunity to help the __________ team bring its vision one step closer to reality.
We are looking forward to learning more about this exciting journey __________ is embarking on, and we are ready to support you in achieving your strategic objectives.
Thank you,</a:t>
            </a:r>
            <a:br/>
            <a:r>
              <a:rPr lang="en-US" sz="1800" kern="0" spc="-75" dirty="0">
                <a:solidFill>
                  <a:srgbClr val="010716"/>
                </a:solidFill>
                <a:latin typeface="Equip Extended Regular" pitchFamily="34" charset="0"/>
                <a:ea typeface="Equip Extended Regular" pitchFamily="34" charset="-122"/>
                <a:cs typeface="Equip Extended Regular" pitchFamily="34" charset="-120"/>
              </a:rPr>
              <a:t>Nagarro Team</a:t>
            </a:r>
            <a:endParaRPr lang="en-US" sz="1800" dirty="0"/>
          </a:p>
        </p:txBody>
      </p:sp>
      <p:sp>
        <p:nvSpPr>
          <p:cNvPr id="9" name="Digital Design Strategy">
            <a:extLst>
              <a:ext uri="{FF2B5EF4-FFF2-40B4-BE49-F238E27FC236}">
                <a16:creationId xmlns:a16="http://schemas.microsoft.com/office/drawing/2014/main" id="{F19109EA-5B77-1B18-FB7F-A0EE9270F5E8}"/>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26F079FC-63A3-D417-BA69-99238322160C}"/>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28E8A72D-08AF-2943-5E6C-6514B1074AF5}"/>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25D54941-6DEA-2C7A-72BA-69292EE80496}"/>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68EE947B-D10B-6B31-D46A-957EE11742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122F3727-0EE6-418B-FC0D-55D16D6D7D1E}"/>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74889F1A-5DE3-C9B8-8599-56CD872C7EE8}"/>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594E53E-764E-B90B-D827-0EDBA65424B4}"/>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Mask group" descr="preencoded.png"/>
          <p:cNvPicPr>
            <a:picLocks noChangeAspect="1"/>
          </p:cNvPicPr>
          <p:nvPr/>
        </p:nvPicPr>
        <p:blipFill>
          <a:blip r:embed="rId2"/>
          <a:srcRect/>
          <a:stretch/>
        </p:blipFill>
        <p:spPr>
          <a:xfrm>
            <a:off x="12077700" y="0"/>
            <a:ext cx="6210300" cy="10287000"/>
          </a:xfrm>
          <a:prstGeom prst="rect">
            <a:avLst/>
          </a:prstGeom>
        </p:spPr>
      </p:pic>
      <p:sp>
        <p:nvSpPr>
          <p:cNvPr id="4" name="note-title"/>
          <p:cNvSpPr/>
          <p:nvPr/>
        </p:nvSpPr>
        <p:spPr>
          <a:xfrm>
            <a:off x="800100" y="4333875"/>
            <a:ext cx="96583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A Note From Us</a:t>
            </a:r>
            <a:endParaRPr lang="en-US" sz="4800" dirty="0"/>
          </a:p>
        </p:txBody>
      </p:sp>
      <p:sp>
        <p:nvSpPr>
          <p:cNvPr id="5" name="note-body-1"/>
          <p:cNvSpPr/>
          <p:nvPr/>
        </p:nvSpPr>
        <p:spPr>
          <a:xfrm>
            <a:off x="800100" y="5400675"/>
            <a:ext cx="9658350" cy="4152900"/>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First and foremost, thank you for inviting us to submit a proposal for the UX/UI Design, Prototyping &amp; Validation of the _____________ Project. 
At Nagarro, we believe that design has the power to simplify complex information, generate business results, and establish new and exciting connections with audiences. We are excited to contribute to the operational effectiveness of the _______________ project with innovative approaches that deliver impact.
Our Product team has extensive experience in User Experience, User Interface Design, User Testing, and Validation, and we are thrilled to have the opportunity to help the __________ team bring its vision one step closer to reality.
We are looking forward to learning more about this exciting journey __________ is embarking on, and we are ready to support you in achieving your strategic objectives.
Thank you,</a:t>
            </a:r>
            <a:br/>
            <a:r>
              <a:rPr lang="en-US" sz="1800" kern="0" spc="-75" dirty="0">
                <a:solidFill>
                  <a:srgbClr val="010716"/>
                </a:solidFill>
                <a:latin typeface="Equip Extended Regular" pitchFamily="34" charset="0"/>
                <a:ea typeface="Equip Extended Regular" pitchFamily="34" charset="-122"/>
                <a:cs typeface="Equip Extended Regular" pitchFamily="34" charset="-120"/>
              </a:rPr>
              <a:t>Nagarro Team</a:t>
            </a:r>
            <a:endParaRPr lang="en-US" sz="1800" dirty="0"/>
          </a:p>
        </p:txBody>
      </p:sp>
      <p:pic>
        <p:nvPicPr>
          <p:cNvPr id="2" name="Graphic 1">
            <a:extLst>
              <a:ext uri="{FF2B5EF4-FFF2-40B4-BE49-F238E27FC236}">
                <a16:creationId xmlns:a16="http://schemas.microsoft.com/office/drawing/2014/main" id="{965F5CC1-FA59-6563-91C3-9FE98DCE18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730" y="101077"/>
            <a:ext cx="2198820" cy="16491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783</Words>
  <Application>Microsoft Macintosh PowerPoint</Application>
  <PresentationFormat>Custom</PresentationFormat>
  <Paragraphs>26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Equip Extended Medium</vt:lpstr>
      <vt:lpstr>Arial</vt:lpstr>
      <vt:lpstr>Equip Extended Regular</vt:lpstr>
      <vt:lpstr>Equip Regular</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8</cp:revision>
  <dcterms:created xsi:type="dcterms:W3CDTF">2026-05-27T18:03:55Z</dcterms:created>
  <dcterms:modified xsi:type="dcterms:W3CDTF">2026-06-02T11:19:54Z</dcterms:modified>
</cp:coreProperties>
</file>