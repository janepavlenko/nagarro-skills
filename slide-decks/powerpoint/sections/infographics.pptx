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3"/>
  </p:notesMasterIdLst>
  <p:sldIdLst>
    <p:sldId id="256" r:id="rId2"/>
    <p:sldId id="257" r:id="rId3"/>
    <p:sldId id="258" r:id="rId4"/>
    <p:sldId id="259" r:id="rId5"/>
    <p:sldId id="261" r:id="rId6"/>
    <p:sldId id="262" r:id="rId7"/>
    <p:sldId id="260" r:id="rId8"/>
    <p:sldId id="265" r:id="rId9"/>
    <p:sldId id="263" r:id="rId10"/>
    <p:sldId id="264" r:id="rId11"/>
    <p:sldId id="329" r:id="rId12"/>
  </p:sldIdLst>
  <p:sldSz cx="18288000" cy="10287000"/>
  <p:notesSz cx="10287000" cy="18288000"/>
  <p:embeddedFontLst>
    <p:embeddedFont>
      <p:font typeface="Equip Extended Bold" panose="02000503030000020004" pitchFamily="2" charset="77"/>
      <p:bold r:id="rId14"/>
      <p:italic r:id="rId15"/>
      <p:boldItalic r:id="rId16"/>
    </p:embeddedFont>
    <p:embeddedFont>
      <p:font typeface="Equip Extended Medium" panose="02000603000000020004" pitchFamily="2" charset="77"/>
      <p:regular r:id="rId17"/>
      <p:italic r:id="rId18"/>
    </p:embeddedFont>
    <p:embeddedFont>
      <p:font typeface="Equip Extended Regular" panose="02000503030000020004" pitchFamily="2" charset="77"/>
      <p:regular r:id="rId19"/>
      <p:bold r:id="rId20"/>
      <p:italic r:id="rId21"/>
      <p:boldItalic r:id="rId22"/>
    </p:embeddedFont>
    <p:embeddedFont>
      <p:font typeface="Equip Regular" panose="02000503030000020004" pitchFamily="2" charset="77"/>
      <p:regular r:id="rId23"/>
      <p:bold r:id="rId24"/>
      <p:italic r:id="rId25"/>
      <p:boldItalic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98" userDrawn="1">
          <p15:clr>
            <a:srgbClr val="A4A3A4"/>
          </p15:clr>
        </p15:guide>
        <p15:guide id="2" pos="110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7D7AC"/>
    <a:srgbClr val="A4EBD5"/>
    <a:srgbClr val="D1F5EA"/>
    <a:srgbClr val="13294B"/>
    <a:srgbClr val="000716"/>
    <a:srgbClr val="2C807C"/>
    <a:srgbClr val="FDF4D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750"/>
    <p:restoredTop sz="94610"/>
  </p:normalViewPr>
  <p:slideViewPr>
    <p:cSldViewPr snapToGrid="0" snapToObjects="1">
      <p:cViewPr>
        <p:scale>
          <a:sx n="60" d="100"/>
          <a:sy n="60" d="100"/>
        </p:scale>
        <p:origin x="1240" y="816"/>
      </p:cViewPr>
      <p:guideLst>
        <p:guide pos="498"/>
        <p:guide pos="11067"/>
        <p:guide orient="horz" pos="32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0411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sv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sv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svg"/><Relationship Id="rId5" Type="http://schemas.openxmlformats.org/officeDocument/2006/relationships/image" Target="../media/image17.svg"/><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Ellipse 4206"/>
          <p:cNvSpPr/>
          <p:nvPr/>
        </p:nvSpPr>
        <p:spPr>
          <a:xfrm>
            <a:off x="6229350" y="2343151"/>
            <a:ext cx="5772150" cy="5772150"/>
          </a:xfrm>
          <a:prstGeom prst="ellipse">
            <a:avLst/>
          </a:prstGeom>
          <a:ln w="304800">
            <a:solidFill>
              <a:srgbClr val="47D7AC"/>
            </a:solidFill>
            <a:prstDash val="solid"/>
          </a:ln>
        </p:spPr>
        <p:txBody>
          <a:bodyPr/>
          <a:lstStyle/>
          <a:p>
            <a:endParaRPr lang="en-PT"/>
          </a:p>
        </p:txBody>
      </p:sp>
      <p:sp>
        <p:nvSpPr>
          <p:cNvPr id="4" name="Ellipse 4207"/>
          <p:cNvSpPr/>
          <p:nvPr/>
        </p:nvSpPr>
        <p:spPr>
          <a:xfrm>
            <a:off x="6229350" y="2343150"/>
            <a:ext cx="5772150" cy="5772150"/>
          </a:xfrm>
          <a:prstGeom prst="ellipse">
            <a:avLst/>
          </a:prstGeom>
          <a:ln w="304800">
            <a:solidFill>
              <a:srgbClr val="D1F5EA"/>
            </a:solidFill>
            <a:prstDash val="solid"/>
          </a:ln>
        </p:spPr>
        <p:txBody>
          <a:bodyPr/>
          <a:lstStyle/>
          <a:p>
            <a:endParaRPr lang="en-PT"/>
          </a:p>
        </p:txBody>
      </p:sp>
      <p:sp>
        <p:nvSpPr>
          <p:cNvPr id="5" name="Ellipse 4208"/>
          <p:cNvSpPr/>
          <p:nvPr/>
        </p:nvSpPr>
        <p:spPr>
          <a:xfrm>
            <a:off x="6229350" y="2343150"/>
            <a:ext cx="5772150" cy="5772150"/>
          </a:xfrm>
          <a:prstGeom prst="ellipse">
            <a:avLst/>
          </a:prstGeom>
          <a:ln w="304800">
            <a:solidFill>
              <a:srgbClr val="205463"/>
            </a:solidFill>
            <a:prstDash val="solid"/>
          </a:ln>
        </p:spPr>
        <p:txBody>
          <a:bodyPr/>
          <a:lstStyle/>
          <a:p>
            <a:endParaRPr lang="en-PT"/>
          </a:p>
        </p:txBody>
      </p:sp>
      <p:pic>
        <p:nvPicPr>
          <p:cNvPr id="6" name="Container" descr="preencoded.png"/>
          <p:cNvPicPr>
            <a:picLocks noChangeAspect="1"/>
          </p:cNvPicPr>
          <p:nvPr/>
        </p:nvPicPr>
        <p:blipFill>
          <a:blip>
            <a:extLst>
              <a:ext uri="{96DAC541-7B7A-43D3-8B79-37D633B846F1}">
                <asvg:svgBlip xmlns:asvg="http://schemas.microsoft.com/office/drawing/2016/SVG/main" r:embed="rId2"/>
              </a:ext>
            </a:extLst>
          </a:blip>
          <a:srcRect/>
          <a:stretch/>
        </p:blipFill>
        <p:spPr>
          <a:xfrm>
            <a:off x="12620625" y="4972050"/>
            <a:ext cx="1714500" cy="504825"/>
          </a:xfrm>
          <a:prstGeom prst="rect">
            <a:avLst/>
          </a:prstGeom>
        </p:spPr>
      </p:pic>
      <p:pic>
        <p:nvPicPr>
          <p:cNvPr id="7" name="Container" descr="preencoded.png"/>
          <p:cNvPicPr>
            <a:picLocks noChangeAspect="1"/>
          </p:cNvPicPr>
          <p:nvPr/>
        </p:nvPicPr>
        <p:blipFill>
          <a:blip>
            <a:extLst>
              <a:ext uri="{96DAC541-7B7A-43D3-8B79-37D633B846F1}">
                <asvg:svgBlip xmlns:asvg="http://schemas.microsoft.com/office/drawing/2016/SVG/main" r:embed="rId3"/>
              </a:ext>
            </a:extLst>
          </a:blip>
          <a:srcRect/>
          <a:stretch/>
        </p:blipFill>
        <p:spPr>
          <a:xfrm>
            <a:off x="3781425" y="5229225"/>
            <a:ext cx="1714500" cy="504825"/>
          </a:xfrm>
          <a:prstGeom prst="rect">
            <a:avLst/>
          </a:prstGeom>
        </p:spPr>
      </p:pic>
      <p:pic>
        <p:nvPicPr>
          <p:cNvPr id="8" name="Container" descr="preencoded.png"/>
          <p:cNvPicPr>
            <a:picLocks noChangeAspect="1"/>
          </p:cNvPicPr>
          <p:nvPr/>
        </p:nvPicPr>
        <p:blipFill>
          <a:blip>
            <a:extLst>
              <a:ext uri="{96DAC541-7B7A-43D3-8B79-37D633B846F1}">
                <asvg:svgBlip xmlns:asvg="http://schemas.microsoft.com/office/drawing/2016/SVG/main" r:embed="rId3"/>
              </a:ext>
            </a:extLst>
          </a:blip>
          <a:srcRect/>
          <a:stretch/>
        </p:blipFill>
        <p:spPr>
          <a:xfrm>
            <a:off x="5324475" y="1885950"/>
            <a:ext cx="1714500" cy="504825"/>
          </a:xfrm>
          <a:prstGeom prst="rect">
            <a:avLst/>
          </a:prstGeom>
        </p:spPr>
      </p:pic>
      <p:sp>
        <p:nvSpPr>
          <p:cNvPr id="13" name="Percentage"/>
          <p:cNvSpPr/>
          <p:nvPr/>
        </p:nvSpPr>
        <p:spPr>
          <a:xfrm>
            <a:off x="7153275" y="4619625"/>
            <a:ext cx="3876675" cy="1219200"/>
          </a:xfrm>
          <a:prstGeom prst="rect">
            <a:avLst/>
          </a:prstGeom>
          <a:noFill/>
          <a:ln/>
        </p:spPr>
        <p:txBody>
          <a:bodyPr wrap="square" lIns="0" tIns="0" rIns="0" bIns="0" rtlCol="0" anchor="t"/>
          <a:lstStyle/>
          <a:p>
            <a:pPr marL="0" indent="0" algn="ctr">
              <a:lnSpc>
                <a:spcPts val="9600"/>
              </a:lnSpc>
              <a:buNone/>
            </a:pPr>
            <a:r>
              <a:rPr lang="en-US" sz="9600" kern="0" spc="-112" dirty="0">
                <a:solidFill>
                  <a:srgbClr val="4E5E78"/>
                </a:solidFill>
                <a:latin typeface="Equip Extended Regular" pitchFamily="34" charset="0"/>
                <a:ea typeface="Equip Extended Regular" pitchFamily="34" charset="-122"/>
                <a:cs typeface="Equip Extended Regular" pitchFamily="34" charset="-120"/>
              </a:rPr>
              <a:t>64,2%</a:t>
            </a:r>
            <a:endParaRPr lang="en-US" sz="9600" dirty="0"/>
          </a:p>
        </p:txBody>
      </p:sp>
      <p:sp>
        <p:nvSpPr>
          <p:cNvPr id="14" name="bar-1-label"/>
          <p:cNvSpPr/>
          <p:nvPr/>
        </p:nvSpPr>
        <p:spPr>
          <a:xfrm>
            <a:off x="12792075" y="4972050"/>
            <a:ext cx="72390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4E5E78"/>
                </a:solidFill>
                <a:latin typeface="Equip Extended Regular" pitchFamily="34" charset="0"/>
                <a:ea typeface="Equip Extended Regular" pitchFamily="34" charset="-122"/>
                <a:cs typeface="Equip Extended Regular" pitchFamily="34" charset="-120"/>
              </a:rPr>
              <a:t>Nome</a:t>
            </a:r>
            <a:endParaRPr lang="en-US" sz="1800" dirty="0"/>
          </a:p>
        </p:txBody>
      </p:sp>
      <p:sp>
        <p:nvSpPr>
          <p:cNvPr id="15" name="bar-1-desc"/>
          <p:cNvSpPr/>
          <p:nvPr/>
        </p:nvSpPr>
        <p:spPr>
          <a:xfrm>
            <a:off x="12792075" y="5276850"/>
            <a:ext cx="1562100" cy="200025"/>
          </a:xfrm>
          <a:prstGeom prst="rect">
            <a:avLst/>
          </a:prstGeom>
          <a:noFill/>
          <a:ln/>
        </p:spPr>
        <p:txBody>
          <a:bodyPr wrap="square" lIns="0" tIns="0" rIns="0" bIns="0" rtlCol="0" anchor="t"/>
          <a:lstStyle/>
          <a:p>
            <a:pPr marL="0" indent="0" algn="l">
              <a:lnSpc>
                <a:spcPts val="1500"/>
              </a:lnSpc>
              <a:spcAft>
                <a:spcPts val="1200"/>
              </a:spcAft>
              <a:buNone/>
            </a:pPr>
            <a:r>
              <a:rPr lang="en-US" sz="1200" dirty="0">
                <a:solidFill>
                  <a:srgbClr val="8893A5"/>
                </a:solidFill>
                <a:latin typeface="Equip Regular" pitchFamily="34" charset="0"/>
                <a:ea typeface="Equip Regular" pitchFamily="34" charset="-122"/>
                <a:cs typeface="Equip Regular" pitchFamily="34" charset="-120"/>
              </a:rPr>
              <a:t>Description goes here</a:t>
            </a:r>
            <a:endParaRPr lang="en-US" sz="1200" dirty="0"/>
          </a:p>
        </p:txBody>
      </p:sp>
      <p:sp>
        <p:nvSpPr>
          <p:cNvPr id="16" name="bar-2-label"/>
          <p:cNvSpPr/>
          <p:nvPr/>
        </p:nvSpPr>
        <p:spPr>
          <a:xfrm>
            <a:off x="3952875" y="5229225"/>
            <a:ext cx="72390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4E5E78"/>
                </a:solidFill>
                <a:latin typeface="Equip Extended Regular" pitchFamily="34" charset="0"/>
                <a:ea typeface="Equip Extended Regular" pitchFamily="34" charset="-122"/>
                <a:cs typeface="Equip Extended Regular" pitchFamily="34" charset="-120"/>
              </a:rPr>
              <a:t>Nome</a:t>
            </a:r>
            <a:endParaRPr lang="en-US" sz="1800" dirty="0"/>
          </a:p>
        </p:txBody>
      </p:sp>
      <p:sp>
        <p:nvSpPr>
          <p:cNvPr id="17" name="bar-2-desc"/>
          <p:cNvSpPr/>
          <p:nvPr/>
        </p:nvSpPr>
        <p:spPr>
          <a:xfrm>
            <a:off x="3952875" y="5534025"/>
            <a:ext cx="1562100" cy="200025"/>
          </a:xfrm>
          <a:prstGeom prst="rect">
            <a:avLst/>
          </a:prstGeom>
          <a:noFill/>
          <a:ln/>
        </p:spPr>
        <p:txBody>
          <a:bodyPr wrap="square" lIns="0" tIns="0" rIns="0" bIns="0" rtlCol="0" anchor="t"/>
          <a:lstStyle/>
          <a:p>
            <a:pPr marL="0" indent="0" algn="l">
              <a:lnSpc>
                <a:spcPts val="1500"/>
              </a:lnSpc>
              <a:spcAft>
                <a:spcPts val="1200"/>
              </a:spcAft>
              <a:buNone/>
            </a:pPr>
            <a:r>
              <a:rPr lang="en-US" sz="1200" dirty="0">
                <a:solidFill>
                  <a:srgbClr val="8893A5"/>
                </a:solidFill>
                <a:latin typeface="Equip Regular" pitchFamily="34" charset="0"/>
                <a:ea typeface="Equip Regular" pitchFamily="34" charset="-122"/>
                <a:cs typeface="Equip Regular" pitchFamily="34" charset="-120"/>
              </a:rPr>
              <a:t>Description goes here</a:t>
            </a:r>
            <a:endParaRPr lang="en-US" sz="1200" dirty="0"/>
          </a:p>
        </p:txBody>
      </p:sp>
      <p:sp>
        <p:nvSpPr>
          <p:cNvPr id="18" name="bar-3-label"/>
          <p:cNvSpPr/>
          <p:nvPr/>
        </p:nvSpPr>
        <p:spPr>
          <a:xfrm>
            <a:off x="5495925" y="1885950"/>
            <a:ext cx="72390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4E5E78"/>
                </a:solidFill>
                <a:latin typeface="Equip Extended Regular" pitchFamily="34" charset="0"/>
                <a:ea typeface="Equip Extended Regular" pitchFamily="34" charset="-122"/>
                <a:cs typeface="Equip Extended Regular" pitchFamily="34" charset="-120"/>
              </a:rPr>
              <a:t>Nome</a:t>
            </a:r>
            <a:endParaRPr lang="en-US" sz="1800" dirty="0"/>
          </a:p>
        </p:txBody>
      </p:sp>
      <p:sp>
        <p:nvSpPr>
          <p:cNvPr id="19" name="bar-3-desc"/>
          <p:cNvSpPr/>
          <p:nvPr/>
        </p:nvSpPr>
        <p:spPr>
          <a:xfrm>
            <a:off x="5495925" y="2190750"/>
            <a:ext cx="1562100" cy="200025"/>
          </a:xfrm>
          <a:prstGeom prst="rect">
            <a:avLst/>
          </a:prstGeom>
          <a:noFill/>
          <a:ln/>
        </p:spPr>
        <p:txBody>
          <a:bodyPr wrap="square" lIns="0" tIns="0" rIns="0" bIns="0" rtlCol="0" anchor="t"/>
          <a:lstStyle/>
          <a:p>
            <a:pPr marL="0" indent="0" algn="l">
              <a:lnSpc>
                <a:spcPts val="1500"/>
              </a:lnSpc>
              <a:spcAft>
                <a:spcPts val="1200"/>
              </a:spcAft>
              <a:buNone/>
            </a:pPr>
            <a:r>
              <a:rPr lang="en-US" sz="1200" dirty="0">
                <a:solidFill>
                  <a:srgbClr val="8893A5"/>
                </a:solidFill>
                <a:latin typeface="Equip Regular" pitchFamily="34" charset="0"/>
                <a:ea typeface="Equip Regular" pitchFamily="34" charset="-122"/>
                <a:cs typeface="Equip Regular" pitchFamily="34" charset="-120"/>
              </a:rPr>
              <a:t>Description goes here</a:t>
            </a:r>
            <a:endParaRPr lang="en-US" sz="1200" dirty="0"/>
          </a:p>
        </p:txBody>
      </p:sp>
      <p:sp>
        <p:nvSpPr>
          <p:cNvPr id="2" name="Digital Design Strategy">
            <a:extLst>
              <a:ext uri="{FF2B5EF4-FFF2-40B4-BE49-F238E27FC236}">
                <a16:creationId xmlns:a16="http://schemas.microsoft.com/office/drawing/2014/main" id="{C4110822-99DE-A1A0-DC7D-03BAA4C939F0}"/>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9" name="Project Name">
            <a:extLst>
              <a:ext uri="{FF2B5EF4-FFF2-40B4-BE49-F238E27FC236}">
                <a16:creationId xmlns:a16="http://schemas.microsoft.com/office/drawing/2014/main" id="{E86FA61A-505D-BE99-B6A4-232021699ACA}"/>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10" name="Month Year">
            <a:extLst>
              <a:ext uri="{FF2B5EF4-FFF2-40B4-BE49-F238E27FC236}">
                <a16:creationId xmlns:a16="http://schemas.microsoft.com/office/drawing/2014/main" id="{AEE11E32-A19E-F2C6-D4F6-E5ABD469229B}"/>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11" name="2026">
            <a:extLst>
              <a:ext uri="{FF2B5EF4-FFF2-40B4-BE49-F238E27FC236}">
                <a16:creationId xmlns:a16="http://schemas.microsoft.com/office/drawing/2014/main" id="{04D02BFB-4632-9AB1-094C-F37CAA1FF538}"/>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12" name="Graphic 11">
            <a:extLst>
              <a:ext uri="{FF2B5EF4-FFF2-40B4-BE49-F238E27FC236}">
                <a16:creationId xmlns:a16="http://schemas.microsoft.com/office/drawing/2014/main" id="{0A702803-FE78-572A-C016-C0F082CCD29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2730" y="101077"/>
            <a:ext cx="2198820" cy="1649115"/>
          </a:xfrm>
          <a:prstGeom prst="rect">
            <a:avLst/>
          </a:prstGeom>
        </p:spPr>
      </p:pic>
      <p:cxnSp>
        <p:nvCxnSpPr>
          <p:cNvPr id="28" name="Straight Connector 27">
            <a:extLst>
              <a:ext uri="{FF2B5EF4-FFF2-40B4-BE49-F238E27FC236}">
                <a16:creationId xmlns:a16="http://schemas.microsoft.com/office/drawing/2014/main" id="{06E96D16-FA56-6B01-31CD-9844888D8A2C}"/>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BE2C2E8-FEF2-F60E-E1B1-77FC61CA6BE2}"/>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F2F8087-1780-34CC-FB12-50F1476B7ABE}"/>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graph" descr="preencoded.png"/>
          <p:cNvPicPr>
            <a:picLocks noChangeAspect="1"/>
          </p:cNvPicPr>
          <p:nvPr/>
        </p:nvPicPr>
        <p:blipFill>
          <a:blip>
            <a:extLst>
              <a:ext uri="{96DAC541-7B7A-43D3-8B79-37D633B846F1}">
                <asvg:svgBlip xmlns:asvg="http://schemas.microsoft.com/office/drawing/2016/SVG/main" r:embed="rId2"/>
              </a:ext>
            </a:extLst>
          </a:blip>
          <a:srcRect/>
          <a:stretch/>
        </p:blipFill>
        <p:spPr>
          <a:xfrm>
            <a:off x="800100" y="7200900"/>
            <a:ext cx="16687800" cy="1628775"/>
          </a:xfrm>
          <a:prstGeom prst="rect">
            <a:avLst/>
          </a:prstGeom>
        </p:spPr>
      </p:pic>
      <p:pic>
        <p:nvPicPr>
          <p:cNvPr id="4" name="legenda" descr="preencoded.png"/>
          <p:cNvPicPr>
            <a:picLocks noChangeAspect="1"/>
          </p:cNvPicPr>
          <p:nvPr/>
        </p:nvPicPr>
        <p:blipFill>
          <a:blip r:embed="rId3"/>
          <a:srcRect/>
          <a:stretch/>
        </p:blipFill>
        <p:spPr>
          <a:xfrm>
            <a:off x="800100" y="4476750"/>
            <a:ext cx="1752600" cy="1343025"/>
          </a:xfrm>
          <a:prstGeom prst="rect">
            <a:avLst/>
          </a:prstGeom>
        </p:spPr>
      </p:pic>
      <p:sp>
        <p:nvSpPr>
          <p:cNvPr id="9" name="Percentage"/>
          <p:cNvSpPr/>
          <p:nvPr/>
        </p:nvSpPr>
        <p:spPr>
          <a:xfrm>
            <a:off x="801231" y="6667500"/>
            <a:ext cx="1209675" cy="457200"/>
          </a:xfrm>
          <a:prstGeom prst="rect">
            <a:avLst/>
          </a:prstGeom>
          <a:noFill/>
          <a:ln/>
        </p:spPr>
        <p:txBody>
          <a:bodyPr wrap="square" lIns="0" tIns="0" rIns="0" bIns="0" rtlCol="0" anchor="t"/>
          <a:lstStyle/>
          <a:p>
            <a:pPr marL="0" indent="0" algn="ctr">
              <a:lnSpc>
                <a:spcPts val="3600"/>
              </a:lnSpc>
              <a:buNone/>
            </a:pPr>
            <a:r>
              <a:rPr lang="en-US" sz="3000" kern="0" spc="-112" dirty="0">
                <a:solidFill>
                  <a:srgbClr val="4E5E78"/>
                </a:solidFill>
                <a:latin typeface="Equip Extended Medium" pitchFamily="34" charset="0"/>
                <a:ea typeface="Equip Extended Medium" pitchFamily="34" charset="-122"/>
                <a:cs typeface="Equip Extended Medium" pitchFamily="34" charset="-120"/>
              </a:rPr>
              <a:t>64,2%</a:t>
            </a:r>
            <a:endParaRPr lang="en-US" sz="3000" dirty="0"/>
          </a:p>
        </p:txBody>
      </p:sp>
      <p:sp>
        <p:nvSpPr>
          <p:cNvPr id="10" name="segment-label-1"/>
          <p:cNvSpPr/>
          <p:nvPr/>
        </p:nvSpPr>
        <p:spPr>
          <a:xfrm>
            <a:off x="1190625" y="4476750"/>
            <a:ext cx="1371600" cy="295275"/>
          </a:xfrm>
          <a:prstGeom prst="rect">
            <a:avLst/>
          </a:prstGeom>
          <a:noFill/>
          <a:ln/>
        </p:spPr>
        <p:txBody>
          <a:bodyPr wrap="square" lIns="0" tIns="0" rIns="0" bIns="0" rtlCol="0" anchor="t"/>
          <a:lstStyle/>
          <a:p>
            <a:pPr marL="0" indent="0" algn="ctr">
              <a:lnSpc>
                <a:spcPts val="2250"/>
              </a:lnSpc>
              <a:buNone/>
            </a:pPr>
            <a:r>
              <a:rPr lang="en-US" sz="1800" kern="0" spc="-75" dirty="0">
                <a:solidFill>
                  <a:srgbClr val="4E5E78"/>
                </a:solidFill>
                <a:latin typeface="Equip Regular" pitchFamily="34" charset="0"/>
                <a:ea typeface="Equip Regular" pitchFamily="34" charset="-122"/>
                <a:cs typeface="Equip Regular" pitchFamily="34" charset="-120"/>
              </a:rPr>
              <a:t>Description 1</a:t>
            </a:r>
            <a:endParaRPr lang="en-US" sz="1800" dirty="0"/>
          </a:p>
        </p:txBody>
      </p:sp>
      <p:sp>
        <p:nvSpPr>
          <p:cNvPr id="11" name="segment-label-2"/>
          <p:cNvSpPr/>
          <p:nvPr/>
        </p:nvSpPr>
        <p:spPr>
          <a:xfrm>
            <a:off x="1190625" y="5000625"/>
            <a:ext cx="1371600" cy="295275"/>
          </a:xfrm>
          <a:prstGeom prst="rect">
            <a:avLst/>
          </a:prstGeom>
          <a:noFill/>
          <a:ln/>
        </p:spPr>
        <p:txBody>
          <a:bodyPr wrap="square" lIns="0" tIns="0" rIns="0" bIns="0" rtlCol="0" anchor="t"/>
          <a:lstStyle/>
          <a:p>
            <a:pPr marL="0" indent="0" algn="ctr">
              <a:lnSpc>
                <a:spcPts val="2250"/>
              </a:lnSpc>
              <a:buNone/>
            </a:pPr>
            <a:r>
              <a:rPr lang="en-US" sz="1800" kern="0" spc="-75" dirty="0">
                <a:solidFill>
                  <a:srgbClr val="4E5E78"/>
                </a:solidFill>
                <a:latin typeface="Equip Regular" pitchFamily="34" charset="0"/>
                <a:ea typeface="Equip Regular" pitchFamily="34" charset="-122"/>
                <a:cs typeface="Equip Regular" pitchFamily="34" charset="-120"/>
              </a:rPr>
              <a:t>Description 2</a:t>
            </a:r>
            <a:endParaRPr lang="en-US" sz="1800" dirty="0"/>
          </a:p>
        </p:txBody>
      </p:sp>
      <p:sp>
        <p:nvSpPr>
          <p:cNvPr id="12" name="segment-label-3"/>
          <p:cNvSpPr/>
          <p:nvPr/>
        </p:nvSpPr>
        <p:spPr>
          <a:xfrm>
            <a:off x="1190625" y="5524500"/>
            <a:ext cx="1371600" cy="295275"/>
          </a:xfrm>
          <a:prstGeom prst="rect">
            <a:avLst/>
          </a:prstGeom>
          <a:noFill/>
          <a:ln/>
        </p:spPr>
        <p:txBody>
          <a:bodyPr wrap="square" lIns="0" tIns="0" rIns="0" bIns="0" rtlCol="0" anchor="t"/>
          <a:lstStyle/>
          <a:p>
            <a:pPr marL="0" indent="0" algn="ctr">
              <a:lnSpc>
                <a:spcPts val="2250"/>
              </a:lnSpc>
              <a:buNone/>
            </a:pPr>
            <a:r>
              <a:rPr lang="en-US" sz="1800" kern="0" spc="-75" dirty="0">
                <a:solidFill>
                  <a:srgbClr val="4E5E78"/>
                </a:solidFill>
                <a:latin typeface="Equip Regular" pitchFamily="34" charset="0"/>
                <a:ea typeface="Equip Regular" pitchFamily="34" charset="-122"/>
                <a:cs typeface="Equip Regular" pitchFamily="34" charset="-120"/>
              </a:rPr>
              <a:t>Description 3</a:t>
            </a:r>
            <a:endParaRPr lang="en-US" sz="1800" dirty="0"/>
          </a:p>
        </p:txBody>
      </p:sp>
      <p:sp>
        <p:nvSpPr>
          <p:cNvPr id="13" name="name_642"/>
          <p:cNvSpPr/>
          <p:nvPr/>
        </p:nvSpPr>
        <p:spPr>
          <a:xfrm>
            <a:off x="10189200" y="6667500"/>
            <a:ext cx="1209675" cy="457200"/>
          </a:xfrm>
          <a:prstGeom prst="rect">
            <a:avLst/>
          </a:prstGeom>
          <a:noFill/>
          <a:ln/>
        </p:spPr>
        <p:txBody>
          <a:bodyPr wrap="square" lIns="0" tIns="0" rIns="0" bIns="0" rtlCol="0" anchor="t"/>
          <a:lstStyle/>
          <a:p>
            <a:pPr marL="0" indent="0" algn="ctr">
              <a:lnSpc>
                <a:spcPts val="3600"/>
              </a:lnSpc>
              <a:buNone/>
            </a:pPr>
            <a:r>
              <a:rPr lang="en-US" sz="3000" kern="0" spc="-112" dirty="0">
                <a:solidFill>
                  <a:srgbClr val="4E5E78"/>
                </a:solidFill>
                <a:latin typeface="Equip Extended Medium" pitchFamily="34" charset="0"/>
                <a:ea typeface="Equip Extended Medium" pitchFamily="34" charset="-122"/>
                <a:cs typeface="Equip Extended Medium" pitchFamily="34" charset="-120"/>
              </a:rPr>
              <a:t>64,2%</a:t>
            </a:r>
            <a:endParaRPr lang="en-US" sz="3000" dirty="0"/>
          </a:p>
        </p:txBody>
      </p:sp>
      <p:sp>
        <p:nvSpPr>
          <p:cNvPr id="14" name="name_642"/>
          <p:cNvSpPr/>
          <p:nvPr/>
        </p:nvSpPr>
        <p:spPr>
          <a:xfrm>
            <a:off x="16297275" y="6667500"/>
            <a:ext cx="1209675" cy="457200"/>
          </a:xfrm>
          <a:prstGeom prst="rect">
            <a:avLst/>
          </a:prstGeom>
          <a:noFill/>
          <a:ln/>
        </p:spPr>
        <p:txBody>
          <a:bodyPr wrap="square" lIns="0" tIns="0" rIns="0" bIns="0" rtlCol="0" anchor="t"/>
          <a:lstStyle/>
          <a:p>
            <a:pPr marL="0" indent="0" algn="ctr">
              <a:lnSpc>
                <a:spcPts val="3600"/>
              </a:lnSpc>
              <a:buNone/>
            </a:pPr>
            <a:r>
              <a:rPr lang="en-US" sz="3000" kern="0" spc="-112" dirty="0">
                <a:solidFill>
                  <a:srgbClr val="4E5E78"/>
                </a:solidFill>
                <a:latin typeface="Equip Extended Medium" pitchFamily="34" charset="0"/>
                <a:ea typeface="Equip Extended Medium" pitchFamily="34" charset="-122"/>
                <a:cs typeface="Equip Extended Medium" pitchFamily="34" charset="-120"/>
              </a:rPr>
              <a:t>64,2%</a:t>
            </a:r>
            <a:endParaRPr lang="en-US" sz="3000" dirty="0"/>
          </a:p>
        </p:txBody>
      </p:sp>
      <p:sp>
        <p:nvSpPr>
          <p:cNvPr id="2" name="Digital Design Strategy">
            <a:extLst>
              <a:ext uri="{FF2B5EF4-FFF2-40B4-BE49-F238E27FC236}">
                <a16:creationId xmlns:a16="http://schemas.microsoft.com/office/drawing/2014/main" id="{1134B7B5-ECF3-2F49-E937-2B33A3228942}"/>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5" name="Project Name">
            <a:extLst>
              <a:ext uri="{FF2B5EF4-FFF2-40B4-BE49-F238E27FC236}">
                <a16:creationId xmlns:a16="http://schemas.microsoft.com/office/drawing/2014/main" id="{FB98FB03-D924-7EB0-F8D5-132AEA26F32F}"/>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6" name="Month Year">
            <a:extLst>
              <a:ext uri="{FF2B5EF4-FFF2-40B4-BE49-F238E27FC236}">
                <a16:creationId xmlns:a16="http://schemas.microsoft.com/office/drawing/2014/main" id="{20A6CF48-FBAF-727C-476D-8274949CC021}"/>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7" name="2026">
            <a:extLst>
              <a:ext uri="{FF2B5EF4-FFF2-40B4-BE49-F238E27FC236}">
                <a16:creationId xmlns:a16="http://schemas.microsoft.com/office/drawing/2014/main" id="{1D07D5AD-5403-7396-6E07-D8AB0EB8F4F2}"/>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8" name="Graphic 7">
            <a:extLst>
              <a:ext uri="{FF2B5EF4-FFF2-40B4-BE49-F238E27FC236}">
                <a16:creationId xmlns:a16="http://schemas.microsoft.com/office/drawing/2014/main" id="{BFB013FF-34C8-7F8F-BB90-1BBA02A240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2730" y="101077"/>
            <a:ext cx="2198820" cy="1649115"/>
          </a:xfrm>
          <a:prstGeom prst="rect">
            <a:avLst/>
          </a:prstGeom>
        </p:spPr>
      </p:pic>
      <p:cxnSp>
        <p:nvCxnSpPr>
          <p:cNvPr id="23" name="Straight Connector 22">
            <a:extLst>
              <a:ext uri="{FF2B5EF4-FFF2-40B4-BE49-F238E27FC236}">
                <a16:creationId xmlns:a16="http://schemas.microsoft.com/office/drawing/2014/main" id="{6F0704DD-2E5B-B3D3-2E00-C98C87061241}"/>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B9370A0-34FA-125B-BA29-770DD7EF380A}"/>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57B3ED0-57D7-994A-EE05-0CA62446E682}"/>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chart-area" descr="preencoded.png"/>
          <p:cNvPicPr>
            <a:picLocks noChangeAspect="1"/>
          </p:cNvPicPr>
          <p:nvPr/>
        </p:nvPicPr>
        <p:blipFill>
          <a:blip>
            <a:extLst>
              <a:ext uri="{96DAC541-7B7A-43D3-8B79-37D633B846F1}">
                <asvg:svgBlip xmlns:asvg="http://schemas.microsoft.com/office/drawing/2016/SVG/main" r:embed="rId2"/>
              </a:ext>
            </a:extLst>
          </a:blip>
          <a:srcRect/>
          <a:stretch/>
        </p:blipFill>
        <p:spPr>
          <a:xfrm>
            <a:off x="10668000" y="2800350"/>
            <a:ext cx="6819901" cy="5505450"/>
          </a:xfrm>
          <a:prstGeom prst="rect">
            <a:avLst/>
          </a:prstGeom>
        </p:spPr>
      </p:pic>
      <p:sp>
        <p:nvSpPr>
          <p:cNvPr id="8" name="chart-title"/>
          <p:cNvSpPr/>
          <p:nvPr/>
        </p:nvSpPr>
        <p:spPr>
          <a:xfrm>
            <a:off x="10658475" y="7310586"/>
            <a:ext cx="1084659" cy="3810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205463"/>
                </a:solidFill>
                <a:latin typeface="Equip Extended Regular" pitchFamily="34" charset="0"/>
                <a:ea typeface="Equip Extended Regular" pitchFamily="34" charset="-122"/>
                <a:cs typeface="Equip Extended Regular" pitchFamily="34" charset="-120"/>
              </a:rPr>
              <a:t>Revenue Won</a:t>
            </a:r>
            <a:endParaRPr lang="en-US" sz="1200" dirty="0"/>
          </a:p>
        </p:txBody>
      </p:sp>
      <p:sp>
        <p:nvSpPr>
          <p:cNvPr id="9" name="chart-title"/>
          <p:cNvSpPr/>
          <p:nvPr/>
        </p:nvSpPr>
        <p:spPr>
          <a:xfrm>
            <a:off x="12096750" y="7310586"/>
            <a:ext cx="1084659" cy="3810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205463"/>
                </a:solidFill>
                <a:latin typeface="Equip Extended Regular" pitchFamily="34" charset="0"/>
                <a:ea typeface="Equip Extended Regular" pitchFamily="34" charset="-122"/>
                <a:cs typeface="Equip Extended Regular" pitchFamily="34" charset="-120"/>
              </a:rPr>
              <a:t>Revenue Won</a:t>
            </a:r>
            <a:endParaRPr lang="en-US" sz="1200" dirty="0"/>
          </a:p>
        </p:txBody>
      </p:sp>
      <p:sp>
        <p:nvSpPr>
          <p:cNvPr id="10" name="chart-title"/>
          <p:cNvSpPr/>
          <p:nvPr/>
        </p:nvSpPr>
        <p:spPr>
          <a:xfrm>
            <a:off x="13535025" y="7310586"/>
            <a:ext cx="1084659" cy="3810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205463"/>
                </a:solidFill>
                <a:latin typeface="Equip Extended Regular" pitchFamily="34" charset="0"/>
                <a:ea typeface="Equip Extended Regular" pitchFamily="34" charset="-122"/>
                <a:cs typeface="Equip Extended Regular" pitchFamily="34" charset="-120"/>
              </a:rPr>
              <a:t>Revenue Won</a:t>
            </a:r>
            <a:endParaRPr lang="en-US" sz="1200" dirty="0"/>
          </a:p>
        </p:txBody>
      </p:sp>
      <p:sp>
        <p:nvSpPr>
          <p:cNvPr id="11" name="chart-title"/>
          <p:cNvSpPr/>
          <p:nvPr/>
        </p:nvSpPr>
        <p:spPr>
          <a:xfrm>
            <a:off x="14973300" y="7310586"/>
            <a:ext cx="1084659" cy="3810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205463"/>
                </a:solidFill>
                <a:latin typeface="Equip Extended Regular" pitchFamily="34" charset="0"/>
                <a:ea typeface="Equip Extended Regular" pitchFamily="34" charset="-122"/>
                <a:cs typeface="Equip Extended Regular" pitchFamily="34" charset="-120"/>
              </a:rPr>
              <a:t>Revenue Won</a:t>
            </a:r>
            <a:endParaRPr lang="en-US" sz="1200" dirty="0"/>
          </a:p>
        </p:txBody>
      </p:sp>
      <p:sp>
        <p:nvSpPr>
          <p:cNvPr id="12" name="chart-title"/>
          <p:cNvSpPr/>
          <p:nvPr/>
        </p:nvSpPr>
        <p:spPr>
          <a:xfrm>
            <a:off x="16411575" y="7310586"/>
            <a:ext cx="1084659" cy="190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205463"/>
                </a:solidFill>
                <a:latin typeface="Equip Extended Regular" pitchFamily="34" charset="0"/>
                <a:ea typeface="Equip Extended Regular" pitchFamily="34" charset="-122"/>
                <a:cs typeface="Equip Extended Regular" pitchFamily="34" charset="-120"/>
              </a:rPr>
              <a:t>Time Saved</a:t>
            </a:r>
            <a:endParaRPr lang="en-US" sz="1200" dirty="0"/>
          </a:p>
        </p:txBody>
      </p:sp>
      <p:sp>
        <p:nvSpPr>
          <p:cNvPr id="13" name="chart-title"/>
          <p:cNvSpPr/>
          <p:nvPr/>
        </p:nvSpPr>
        <p:spPr>
          <a:xfrm>
            <a:off x="12877800" y="8086874"/>
            <a:ext cx="1114425" cy="200025"/>
          </a:xfrm>
          <a:prstGeom prst="rect">
            <a:avLst/>
          </a:prstGeom>
          <a:noFill/>
          <a:ln/>
        </p:spPr>
        <p:txBody>
          <a:bodyPr wrap="square" lIns="0" tIns="0" rIns="0" bIns="0" rtlCol="0" anchor="t"/>
          <a:lstStyle/>
          <a:p>
            <a:pPr marL="0" indent="0" algn="ctr">
              <a:lnSpc>
                <a:spcPts val="1500"/>
              </a:lnSpc>
              <a:spcAft>
                <a:spcPts val="1200"/>
              </a:spcAft>
              <a:buNone/>
            </a:pPr>
            <a:r>
              <a:rPr lang="en-US" sz="1200" dirty="0">
                <a:solidFill>
                  <a:srgbClr val="205463"/>
                </a:solidFill>
                <a:latin typeface="Equip Regular" pitchFamily="34" charset="0"/>
                <a:ea typeface="Equip Regular" pitchFamily="34" charset="-122"/>
                <a:cs typeface="Equip Regular" pitchFamily="34" charset="-120"/>
              </a:rPr>
              <a:t>Without Mosaic</a:t>
            </a:r>
            <a:endParaRPr lang="en-US" sz="1200" dirty="0"/>
          </a:p>
        </p:txBody>
      </p:sp>
      <p:sp>
        <p:nvSpPr>
          <p:cNvPr id="14" name="chart-title"/>
          <p:cNvSpPr/>
          <p:nvPr/>
        </p:nvSpPr>
        <p:spPr>
          <a:xfrm>
            <a:off x="14782800" y="8086874"/>
            <a:ext cx="885825" cy="200025"/>
          </a:xfrm>
          <a:prstGeom prst="rect">
            <a:avLst/>
          </a:prstGeom>
          <a:noFill/>
          <a:ln/>
        </p:spPr>
        <p:txBody>
          <a:bodyPr wrap="square" lIns="0" tIns="0" rIns="0" bIns="0" rtlCol="0" anchor="t"/>
          <a:lstStyle/>
          <a:p>
            <a:pPr marL="0" indent="0" algn="ctr">
              <a:lnSpc>
                <a:spcPts val="1500"/>
              </a:lnSpc>
              <a:spcAft>
                <a:spcPts val="1200"/>
              </a:spcAft>
              <a:buNone/>
            </a:pPr>
            <a:r>
              <a:rPr lang="en-US" sz="1200" dirty="0">
                <a:solidFill>
                  <a:srgbClr val="205463"/>
                </a:solidFill>
                <a:latin typeface="Equip Regular" pitchFamily="34" charset="0"/>
                <a:ea typeface="Equip Regular" pitchFamily="34" charset="-122"/>
                <a:cs typeface="Equip Regular" pitchFamily="34" charset="-120"/>
              </a:rPr>
              <a:t>With Mosaic</a:t>
            </a:r>
            <a:endParaRPr lang="en-US" sz="1200" dirty="0"/>
          </a:p>
        </p:txBody>
      </p:sp>
      <p:sp>
        <p:nvSpPr>
          <p:cNvPr id="15" name="chart-title"/>
          <p:cNvSpPr/>
          <p:nvPr/>
        </p:nvSpPr>
        <p:spPr>
          <a:xfrm>
            <a:off x="794721" y="2800350"/>
            <a:ext cx="8248650" cy="2286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Nagarro is a global leader in technology and human centered digital solutions.</a:t>
            </a:r>
            <a:endParaRPr lang="en-US" sz="4800" dirty="0"/>
          </a:p>
        </p:txBody>
      </p:sp>
      <p:sp>
        <p:nvSpPr>
          <p:cNvPr id="16" name="chart-body"/>
          <p:cNvSpPr/>
          <p:nvPr/>
        </p:nvSpPr>
        <p:spPr>
          <a:xfrm>
            <a:off x="794721" y="5467350"/>
            <a:ext cx="8248650" cy="1476375"/>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Our clients need to become digital-first companies that compete through superior software platforms.
Nagarro helps them transform, adapt, and build new ways into the  future through an entrepreneurial, agile, and caring mindset.</a:t>
            </a:r>
            <a:endParaRPr lang="en-US" sz="1800" dirty="0"/>
          </a:p>
        </p:txBody>
      </p:sp>
      <p:sp>
        <p:nvSpPr>
          <p:cNvPr id="2" name="Digital Design Strategy">
            <a:extLst>
              <a:ext uri="{FF2B5EF4-FFF2-40B4-BE49-F238E27FC236}">
                <a16:creationId xmlns:a16="http://schemas.microsoft.com/office/drawing/2014/main" id="{08AE430F-1912-703D-DF12-0B29C0AC27CC}"/>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4" name="Project Name">
            <a:extLst>
              <a:ext uri="{FF2B5EF4-FFF2-40B4-BE49-F238E27FC236}">
                <a16:creationId xmlns:a16="http://schemas.microsoft.com/office/drawing/2014/main" id="{C0BEE053-4F93-C178-EE61-6D37C14D7CB1}"/>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5" name="Month Year">
            <a:extLst>
              <a:ext uri="{FF2B5EF4-FFF2-40B4-BE49-F238E27FC236}">
                <a16:creationId xmlns:a16="http://schemas.microsoft.com/office/drawing/2014/main" id="{71343245-CE99-2E6A-ED67-4D185B07AB4A}"/>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6" name="2026">
            <a:extLst>
              <a:ext uri="{FF2B5EF4-FFF2-40B4-BE49-F238E27FC236}">
                <a16:creationId xmlns:a16="http://schemas.microsoft.com/office/drawing/2014/main" id="{88A8CA19-2168-F854-8D82-FF80DD850F97}"/>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7" name="Graphic 6">
            <a:extLst>
              <a:ext uri="{FF2B5EF4-FFF2-40B4-BE49-F238E27FC236}">
                <a16:creationId xmlns:a16="http://schemas.microsoft.com/office/drawing/2014/main" id="{DAB60388-3E52-0B14-5CDF-BA6753A06A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730" y="101077"/>
            <a:ext cx="2198820" cy="1649115"/>
          </a:xfrm>
          <a:prstGeom prst="rect">
            <a:avLst/>
          </a:prstGeom>
        </p:spPr>
      </p:pic>
      <p:cxnSp>
        <p:nvCxnSpPr>
          <p:cNvPr id="24" name="Straight Connector 23">
            <a:extLst>
              <a:ext uri="{FF2B5EF4-FFF2-40B4-BE49-F238E27FC236}">
                <a16:creationId xmlns:a16="http://schemas.microsoft.com/office/drawing/2014/main" id="{60645C22-6403-1528-B320-453C34A172A7}"/>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AA386C7-895B-3416-131B-BFCF1796B7B4}"/>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11A9920-82C0-81AE-A4CC-EEFF2B9A15AF}"/>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Small Topic" descr="preencoded.png"/>
          <p:cNvPicPr>
            <a:picLocks noChangeAspect="1"/>
          </p:cNvPicPr>
          <p:nvPr/>
        </p:nvPicPr>
        <p:blipFill>
          <a:blip r:embed="rId2"/>
          <a:srcRect/>
          <a:stretch/>
        </p:blipFill>
        <p:spPr>
          <a:xfrm>
            <a:off x="3619500" y="6210300"/>
            <a:ext cx="2590800" cy="2590800"/>
          </a:xfrm>
          <a:prstGeom prst="rect">
            <a:avLst/>
          </a:prstGeom>
        </p:spPr>
      </p:pic>
      <p:grpSp>
        <p:nvGrpSpPr>
          <p:cNvPr id="42" name="Group 41">
            <a:extLst>
              <a:ext uri="{FF2B5EF4-FFF2-40B4-BE49-F238E27FC236}">
                <a16:creationId xmlns:a16="http://schemas.microsoft.com/office/drawing/2014/main" id="{EFBE161C-373B-E398-1446-A27D53C7FB29}"/>
              </a:ext>
            </a:extLst>
          </p:cNvPr>
          <p:cNvGrpSpPr/>
          <p:nvPr/>
        </p:nvGrpSpPr>
        <p:grpSpPr>
          <a:xfrm>
            <a:off x="9296400" y="609600"/>
            <a:ext cx="8220075" cy="8191498"/>
            <a:chOff x="9296400" y="609600"/>
            <a:chExt cx="8220075" cy="8191498"/>
          </a:xfrm>
        </p:grpSpPr>
        <p:sp>
          <p:nvSpPr>
            <p:cNvPr id="40" name="Oval 39">
              <a:extLst>
                <a:ext uri="{FF2B5EF4-FFF2-40B4-BE49-F238E27FC236}">
                  <a16:creationId xmlns:a16="http://schemas.microsoft.com/office/drawing/2014/main" id="{2D0ED915-C351-2FEF-EA44-86F666AC02BF}"/>
                </a:ext>
              </a:extLst>
            </p:cNvPr>
            <p:cNvSpPr/>
            <p:nvPr/>
          </p:nvSpPr>
          <p:spPr>
            <a:xfrm>
              <a:off x="9296400" y="609600"/>
              <a:ext cx="8220075" cy="8191498"/>
            </a:xfrm>
            <a:prstGeom prst="ellipse">
              <a:avLst/>
            </a:prstGeom>
            <a:solidFill>
              <a:srgbClr val="47D7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dirty="0"/>
            </a:p>
          </p:txBody>
        </p:sp>
        <p:grpSp>
          <p:nvGrpSpPr>
            <p:cNvPr id="41" name="Group 40">
              <a:extLst>
                <a:ext uri="{FF2B5EF4-FFF2-40B4-BE49-F238E27FC236}">
                  <a16:creationId xmlns:a16="http://schemas.microsoft.com/office/drawing/2014/main" id="{99E5D24B-24D4-C2FE-C15C-491E847E24FA}"/>
                </a:ext>
              </a:extLst>
            </p:cNvPr>
            <p:cNvGrpSpPr/>
            <p:nvPr/>
          </p:nvGrpSpPr>
          <p:grpSpPr>
            <a:xfrm>
              <a:off x="11992897" y="4067175"/>
              <a:ext cx="2827081" cy="1293865"/>
              <a:chOff x="11869318" y="4067175"/>
              <a:chExt cx="2827081" cy="1293865"/>
            </a:xfrm>
          </p:grpSpPr>
          <p:sp>
            <p:nvSpPr>
              <p:cNvPr id="10" name="circle-1-label"/>
              <p:cNvSpPr/>
              <p:nvPr/>
            </p:nvSpPr>
            <p:spPr>
              <a:xfrm>
                <a:off x="12554196" y="4067175"/>
                <a:ext cx="1457325"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06041F"/>
                    </a:solidFill>
                    <a:latin typeface="Equip Extended Regular" pitchFamily="34" charset="0"/>
                    <a:ea typeface="Equip Extended Regular" pitchFamily="34" charset="-122"/>
                    <a:cs typeface="Equip Extended Regular" pitchFamily="34" charset="-120"/>
                  </a:rPr>
                  <a:t>Topic Name</a:t>
                </a:r>
                <a:endParaRPr lang="en-US" sz="1800" dirty="0"/>
              </a:p>
            </p:txBody>
          </p:sp>
          <p:sp>
            <p:nvSpPr>
              <p:cNvPr id="11" name="name_642"/>
              <p:cNvSpPr/>
              <p:nvPr/>
            </p:nvSpPr>
            <p:spPr>
              <a:xfrm>
                <a:off x="12554196" y="4429125"/>
                <a:ext cx="1457325" cy="457200"/>
              </a:xfrm>
              <a:prstGeom prst="rect">
                <a:avLst/>
              </a:prstGeom>
              <a:noFill/>
              <a:ln/>
            </p:spPr>
            <p:txBody>
              <a:bodyPr wrap="square" lIns="0" tIns="0" rIns="0" bIns="0" rtlCol="0" anchor="t"/>
              <a:lstStyle/>
              <a:p>
                <a:pPr marL="0" indent="0" algn="ctr">
                  <a:lnSpc>
                    <a:spcPts val="3600"/>
                  </a:lnSpc>
                  <a:buNone/>
                </a:pPr>
                <a:r>
                  <a:rPr lang="en-US" sz="3600" kern="0" spc="-112" dirty="0">
                    <a:solidFill>
                      <a:srgbClr val="06041F"/>
                    </a:solidFill>
                    <a:latin typeface="Equip Extended Medium" pitchFamily="34" charset="0"/>
                    <a:ea typeface="Equip Extended Medium" pitchFamily="34" charset="-122"/>
                    <a:cs typeface="Equip Extended Medium" pitchFamily="34" charset="-120"/>
                  </a:rPr>
                  <a:t>64,2%</a:t>
                </a:r>
                <a:endParaRPr lang="en-US" sz="3600" dirty="0"/>
              </a:p>
            </p:txBody>
          </p:sp>
          <p:sp>
            <p:nvSpPr>
              <p:cNvPr id="12" name="circle-1-desc"/>
              <p:cNvSpPr/>
              <p:nvPr/>
            </p:nvSpPr>
            <p:spPr>
              <a:xfrm>
                <a:off x="11869318" y="4960990"/>
                <a:ext cx="2827081" cy="400050"/>
              </a:xfrm>
              <a:prstGeom prst="rect">
                <a:avLst/>
              </a:prstGeom>
              <a:noFill/>
              <a:ln/>
            </p:spPr>
            <p:txBody>
              <a:bodyPr wrap="square" lIns="0" tIns="0" rIns="0" bIns="0" rtlCol="0" anchor="t"/>
              <a:lstStyle/>
              <a:p>
                <a:pPr marL="0" indent="0" algn="ctr">
                  <a:lnSpc>
                    <a:spcPts val="1500"/>
                  </a:lnSpc>
                  <a:spcAft>
                    <a:spcPts val="1200"/>
                  </a:spcAft>
                  <a:buNone/>
                </a:pPr>
                <a:r>
                  <a:rPr lang="en-US" sz="1200" dirty="0">
                    <a:solidFill>
                      <a:srgbClr val="06041F"/>
                    </a:solidFill>
                    <a:latin typeface="Equip Regular" pitchFamily="34" charset="0"/>
                    <a:ea typeface="Equip Regular" pitchFamily="34" charset="-122"/>
                    <a:cs typeface="Equip Regular" pitchFamily="34" charset="-120"/>
                  </a:rPr>
                  <a:t>Description goes here</a:t>
                </a:r>
                <a:endParaRPr lang="en-US" sz="1200" dirty="0"/>
              </a:p>
            </p:txBody>
          </p:sp>
        </p:grpSp>
      </p:grpSp>
      <p:grpSp>
        <p:nvGrpSpPr>
          <p:cNvPr id="38" name="Group 37">
            <a:extLst>
              <a:ext uri="{FF2B5EF4-FFF2-40B4-BE49-F238E27FC236}">
                <a16:creationId xmlns:a16="http://schemas.microsoft.com/office/drawing/2014/main" id="{5DFCA19E-DFB8-AC3F-0D75-A65BB468C7BE}"/>
              </a:ext>
            </a:extLst>
          </p:cNvPr>
          <p:cNvGrpSpPr/>
          <p:nvPr/>
        </p:nvGrpSpPr>
        <p:grpSpPr>
          <a:xfrm>
            <a:off x="5053351" y="3401099"/>
            <a:ext cx="5399999" cy="5399999"/>
            <a:chOff x="5053351" y="3401099"/>
            <a:chExt cx="5399999" cy="5399999"/>
          </a:xfrm>
        </p:grpSpPr>
        <p:sp>
          <p:nvSpPr>
            <p:cNvPr id="36" name="Oval 35">
              <a:extLst>
                <a:ext uri="{FF2B5EF4-FFF2-40B4-BE49-F238E27FC236}">
                  <a16:creationId xmlns:a16="http://schemas.microsoft.com/office/drawing/2014/main" id="{92C7276F-1621-2806-34FB-33BCA647992D}"/>
                </a:ext>
              </a:extLst>
            </p:cNvPr>
            <p:cNvSpPr/>
            <p:nvPr/>
          </p:nvSpPr>
          <p:spPr>
            <a:xfrm>
              <a:off x="5053351" y="3401099"/>
              <a:ext cx="5399999" cy="5399999"/>
            </a:xfrm>
            <a:prstGeom prst="ellipse">
              <a:avLst/>
            </a:prstGeom>
            <a:solidFill>
              <a:srgbClr val="D1F5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dirty="0"/>
            </a:p>
          </p:txBody>
        </p:sp>
        <p:grpSp>
          <p:nvGrpSpPr>
            <p:cNvPr id="35" name="Group 34">
              <a:extLst>
                <a:ext uri="{FF2B5EF4-FFF2-40B4-BE49-F238E27FC236}">
                  <a16:creationId xmlns:a16="http://schemas.microsoft.com/office/drawing/2014/main" id="{D97156F8-8823-60D2-9009-2F506CD394FB}"/>
                </a:ext>
              </a:extLst>
            </p:cNvPr>
            <p:cNvGrpSpPr/>
            <p:nvPr/>
          </p:nvGrpSpPr>
          <p:grpSpPr>
            <a:xfrm>
              <a:off x="6338888" y="5457823"/>
              <a:ext cx="2828925" cy="1276350"/>
              <a:chOff x="6327897" y="5457825"/>
              <a:chExt cx="2828925" cy="1276350"/>
            </a:xfrm>
          </p:grpSpPr>
          <p:sp>
            <p:nvSpPr>
              <p:cNvPr id="13" name="circle-2-label"/>
              <p:cNvSpPr/>
              <p:nvPr/>
            </p:nvSpPr>
            <p:spPr>
              <a:xfrm>
                <a:off x="7010400" y="5457825"/>
                <a:ext cx="1457325"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13294B"/>
                    </a:solidFill>
                    <a:latin typeface="Equip Extended Regular" pitchFamily="34" charset="0"/>
                    <a:ea typeface="Equip Extended Regular" pitchFamily="34" charset="-122"/>
                    <a:cs typeface="Equip Extended Regular" pitchFamily="34" charset="-120"/>
                  </a:rPr>
                  <a:t>Topic Name</a:t>
                </a:r>
                <a:endParaRPr lang="en-US" sz="1800" dirty="0"/>
              </a:p>
            </p:txBody>
          </p:sp>
          <p:sp>
            <p:nvSpPr>
              <p:cNvPr id="14" name="name_642"/>
              <p:cNvSpPr/>
              <p:nvPr/>
            </p:nvSpPr>
            <p:spPr>
              <a:xfrm>
                <a:off x="7010400" y="5819775"/>
                <a:ext cx="1457325" cy="457200"/>
              </a:xfrm>
              <a:prstGeom prst="rect">
                <a:avLst/>
              </a:prstGeom>
              <a:noFill/>
              <a:ln/>
            </p:spPr>
            <p:txBody>
              <a:bodyPr wrap="square" lIns="0" tIns="0" rIns="0" bIns="0" rtlCol="0" anchor="t"/>
              <a:lstStyle/>
              <a:p>
                <a:pPr marL="0" indent="0" algn="ctr">
                  <a:lnSpc>
                    <a:spcPts val="3600"/>
                  </a:lnSpc>
                  <a:buNone/>
                </a:pPr>
                <a:r>
                  <a:rPr lang="en-US" sz="3600" kern="0" spc="-112" dirty="0">
                    <a:solidFill>
                      <a:srgbClr val="13294B"/>
                    </a:solidFill>
                    <a:latin typeface="Equip Extended Medium" pitchFamily="34" charset="0"/>
                    <a:ea typeface="Equip Extended Medium" pitchFamily="34" charset="-122"/>
                    <a:cs typeface="Equip Extended Medium" pitchFamily="34" charset="-120"/>
                  </a:rPr>
                  <a:t>64,2%</a:t>
                </a:r>
                <a:endParaRPr lang="en-US" sz="3600" dirty="0"/>
              </a:p>
            </p:txBody>
          </p:sp>
          <p:sp>
            <p:nvSpPr>
              <p:cNvPr id="15" name="circle-2-desc"/>
              <p:cNvSpPr/>
              <p:nvPr/>
            </p:nvSpPr>
            <p:spPr>
              <a:xfrm>
                <a:off x="6327897" y="6334125"/>
                <a:ext cx="2828925" cy="400050"/>
              </a:xfrm>
              <a:prstGeom prst="rect">
                <a:avLst/>
              </a:prstGeom>
              <a:noFill/>
              <a:ln/>
            </p:spPr>
            <p:txBody>
              <a:bodyPr wrap="square" lIns="0" tIns="0" rIns="0" bIns="0" rtlCol="0" anchor="t"/>
              <a:lstStyle/>
              <a:p>
                <a:pPr marL="0" indent="0" algn="ctr">
                  <a:lnSpc>
                    <a:spcPts val="1500"/>
                  </a:lnSpc>
                  <a:spcAft>
                    <a:spcPts val="1200"/>
                  </a:spcAft>
                  <a:buNone/>
                </a:pPr>
                <a:r>
                  <a:rPr lang="en-US" sz="1200" dirty="0">
                    <a:solidFill>
                      <a:srgbClr val="13294B"/>
                    </a:solidFill>
                    <a:latin typeface="Equip Regular" pitchFamily="34" charset="0"/>
                    <a:ea typeface="Equip Regular" pitchFamily="34" charset="-122"/>
                    <a:cs typeface="Equip Regular" pitchFamily="34" charset="-120"/>
                  </a:rPr>
                  <a:t>Description goes here</a:t>
                </a:r>
                <a:endParaRPr lang="en-US" sz="1200" dirty="0"/>
              </a:p>
            </p:txBody>
          </p:sp>
        </p:grpSp>
      </p:grpSp>
      <p:sp>
        <p:nvSpPr>
          <p:cNvPr id="19" name="chart-body"/>
          <p:cNvSpPr/>
          <p:nvPr/>
        </p:nvSpPr>
        <p:spPr>
          <a:xfrm>
            <a:off x="795640" y="2057400"/>
            <a:ext cx="4019550" cy="1181100"/>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We help our clients transform innovative ideas into inspiring brands, amazing products and cutting-edge experiences that touch millions.</a:t>
            </a:r>
            <a:endParaRPr lang="en-US" sz="1800" dirty="0"/>
          </a:p>
        </p:txBody>
      </p:sp>
      <p:sp>
        <p:nvSpPr>
          <p:cNvPr id="2" name="Digital Design Strategy">
            <a:extLst>
              <a:ext uri="{FF2B5EF4-FFF2-40B4-BE49-F238E27FC236}">
                <a16:creationId xmlns:a16="http://schemas.microsoft.com/office/drawing/2014/main" id="{B41D2201-D791-F01D-DEC4-2282CDB4DDB6}"/>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6" name="Project Name">
            <a:extLst>
              <a:ext uri="{FF2B5EF4-FFF2-40B4-BE49-F238E27FC236}">
                <a16:creationId xmlns:a16="http://schemas.microsoft.com/office/drawing/2014/main" id="{D38F2847-D365-C350-A7B7-3AD13F0CC958}"/>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7" name="Month Year">
            <a:extLst>
              <a:ext uri="{FF2B5EF4-FFF2-40B4-BE49-F238E27FC236}">
                <a16:creationId xmlns:a16="http://schemas.microsoft.com/office/drawing/2014/main" id="{3514D6A2-53F4-123C-D870-1DF76E8FFABA}"/>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8" name="2026">
            <a:extLst>
              <a:ext uri="{FF2B5EF4-FFF2-40B4-BE49-F238E27FC236}">
                <a16:creationId xmlns:a16="http://schemas.microsoft.com/office/drawing/2014/main" id="{4663974A-971C-9F13-7ECB-3982BC8A3900}"/>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9" name="Graphic 8">
            <a:extLst>
              <a:ext uri="{FF2B5EF4-FFF2-40B4-BE49-F238E27FC236}">
                <a16:creationId xmlns:a16="http://schemas.microsoft.com/office/drawing/2014/main" id="{B1F1061D-96BF-0D41-3BA2-549419516B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730" y="101077"/>
            <a:ext cx="2198820" cy="1649115"/>
          </a:xfrm>
          <a:prstGeom prst="rect">
            <a:avLst/>
          </a:prstGeom>
        </p:spPr>
      </p:pic>
      <p:cxnSp>
        <p:nvCxnSpPr>
          <p:cNvPr id="28" name="Straight Connector 27">
            <a:extLst>
              <a:ext uri="{FF2B5EF4-FFF2-40B4-BE49-F238E27FC236}">
                <a16:creationId xmlns:a16="http://schemas.microsoft.com/office/drawing/2014/main" id="{19AE89FF-96BA-4EE3-F0D1-807E63188545}"/>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FC7C270-E454-BFB7-9029-424FD51289D1}"/>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41CD983-7D5B-6C66-03B6-98F5F8A22D2C}"/>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77A68D22-4A32-3F9A-9B55-B9F3257E0E89}"/>
              </a:ext>
            </a:extLst>
          </p:cNvPr>
          <p:cNvGrpSpPr/>
          <p:nvPr/>
        </p:nvGrpSpPr>
        <p:grpSpPr>
          <a:xfrm>
            <a:off x="3619500" y="6210300"/>
            <a:ext cx="2590800" cy="2590800"/>
            <a:chOff x="3619500" y="6210300"/>
            <a:chExt cx="2590800" cy="2590800"/>
          </a:xfrm>
        </p:grpSpPr>
        <p:sp>
          <p:nvSpPr>
            <p:cNvPr id="31" name="Oval 30">
              <a:extLst>
                <a:ext uri="{FF2B5EF4-FFF2-40B4-BE49-F238E27FC236}">
                  <a16:creationId xmlns:a16="http://schemas.microsoft.com/office/drawing/2014/main" id="{29C52668-4E3A-C1D6-9BCA-4F856A8FC7BD}"/>
                </a:ext>
              </a:extLst>
            </p:cNvPr>
            <p:cNvSpPr/>
            <p:nvPr/>
          </p:nvSpPr>
          <p:spPr>
            <a:xfrm>
              <a:off x="3619500" y="6210300"/>
              <a:ext cx="2590800" cy="2590800"/>
            </a:xfrm>
            <a:prstGeom prst="ellipse">
              <a:avLst/>
            </a:prstGeom>
            <a:solidFill>
              <a:srgbClr val="1329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dirty="0"/>
            </a:p>
          </p:txBody>
        </p:sp>
        <p:sp>
          <p:nvSpPr>
            <p:cNvPr id="16" name="circle-3-label"/>
            <p:cNvSpPr/>
            <p:nvPr/>
          </p:nvSpPr>
          <p:spPr>
            <a:xfrm>
              <a:off x="4181475" y="6924675"/>
              <a:ext cx="1457325" cy="304800"/>
            </a:xfrm>
            <a:prstGeom prst="rect">
              <a:avLst/>
            </a:prstGeom>
            <a:noFill/>
            <a:ln/>
          </p:spPr>
          <p:txBody>
            <a:bodyPr wrap="square" lIns="0" tIns="0" rIns="0" bIns="0" rtlCol="0" anchor="t"/>
            <a:lstStyle/>
            <a:p>
              <a:pPr marL="0" indent="0" algn="ctr">
                <a:lnSpc>
                  <a:spcPts val="2400"/>
                </a:lnSpc>
                <a:buNone/>
              </a:pPr>
              <a:r>
                <a:rPr lang="en-US" sz="1800" kern="0" spc="-75" dirty="0">
                  <a:solidFill>
                    <a:srgbClr val="D1F5EA"/>
                  </a:solidFill>
                  <a:latin typeface="Equip Extended Regular" pitchFamily="34" charset="0"/>
                  <a:ea typeface="Equip Extended Regular" pitchFamily="34" charset="-122"/>
                  <a:cs typeface="Equip Extended Regular" pitchFamily="34" charset="-120"/>
                </a:rPr>
                <a:t>Topic Name</a:t>
              </a:r>
              <a:endParaRPr lang="en-US" sz="1800" dirty="0">
                <a:solidFill>
                  <a:srgbClr val="D1F5EA"/>
                </a:solidFill>
              </a:endParaRPr>
            </a:p>
          </p:txBody>
        </p:sp>
        <p:sp>
          <p:nvSpPr>
            <p:cNvPr id="17" name="name_642"/>
            <p:cNvSpPr/>
            <p:nvPr/>
          </p:nvSpPr>
          <p:spPr>
            <a:xfrm>
              <a:off x="4181475" y="7286625"/>
              <a:ext cx="1457325" cy="457200"/>
            </a:xfrm>
            <a:prstGeom prst="rect">
              <a:avLst/>
            </a:prstGeom>
            <a:noFill/>
            <a:ln/>
          </p:spPr>
          <p:txBody>
            <a:bodyPr wrap="square" lIns="0" tIns="0" rIns="0" bIns="0" rtlCol="0" anchor="t"/>
            <a:lstStyle/>
            <a:p>
              <a:pPr marL="0" indent="0" algn="ctr">
                <a:lnSpc>
                  <a:spcPts val="3600"/>
                </a:lnSpc>
                <a:buNone/>
              </a:pPr>
              <a:r>
                <a:rPr lang="en-US" sz="3600" kern="0" spc="-112" dirty="0">
                  <a:solidFill>
                    <a:srgbClr val="D1F5EA"/>
                  </a:solidFill>
                  <a:latin typeface="Equip Extended Medium" pitchFamily="34" charset="0"/>
                  <a:ea typeface="Equip Extended Medium" pitchFamily="34" charset="-122"/>
                  <a:cs typeface="Equip Extended Medium" pitchFamily="34" charset="-120"/>
                </a:rPr>
                <a:t>64,2%</a:t>
              </a:r>
              <a:endParaRPr lang="en-US" sz="3600" dirty="0">
                <a:solidFill>
                  <a:srgbClr val="D1F5EA"/>
                </a:solidFill>
              </a:endParaRPr>
            </a:p>
          </p:txBody>
        </p:sp>
        <p:sp>
          <p:nvSpPr>
            <p:cNvPr id="18" name="circle-3-desc"/>
            <p:cNvSpPr/>
            <p:nvPr/>
          </p:nvSpPr>
          <p:spPr>
            <a:xfrm>
              <a:off x="4181475" y="7800975"/>
              <a:ext cx="1457325" cy="400050"/>
            </a:xfrm>
            <a:prstGeom prst="rect">
              <a:avLst/>
            </a:prstGeom>
            <a:noFill/>
            <a:ln/>
          </p:spPr>
          <p:txBody>
            <a:bodyPr wrap="square" lIns="0" tIns="0" rIns="0" bIns="0" rtlCol="0" anchor="t"/>
            <a:lstStyle/>
            <a:p>
              <a:pPr marL="0" indent="0" algn="ctr">
                <a:lnSpc>
                  <a:spcPts val="1500"/>
                </a:lnSpc>
                <a:spcAft>
                  <a:spcPts val="1200"/>
                </a:spcAft>
                <a:buNone/>
              </a:pPr>
              <a:r>
                <a:rPr lang="en-US" sz="1200" dirty="0">
                  <a:solidFill>
                    <a:srgbClr val="D1F5EA"/>
                  </a:solidFill>
                  <a:latin typeface="Equip Regular" pitchFamily="34" charset="0"/>
                  <a:ea typeface="Equip Regular" pitchFamily="34" charset="-122"/>
                  <a:cs typeface="Equip Regular" pitchFamily="34" charset="-120"/>
                </a:rPr>
                <a:t>Description goes here</a:t>
              </a:r>
              <a:endParaRPr lang="en-US" sz="1200" dirty="0">
                <a:solidFill>
                  <a:srgbClr val="D1F5EA"/>
                </a:solidFil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name_3"/>
          <p:cNvSpPr/>
          <p:nvPr/>
        </p:nvSpPr>
        <p:spPr>
          <a:xfrm rot="5400000">
            <a:off x="2569603" y="6370080"/>
            <a:ext cx="2143125" cy="5690718"/>
          </a:xfrm>
          <a:prstGeom prst="rect">
            <a:avLst/>
          </a:prstGeom>
          <a:solidFill>
            <a:srgbClr val="13294B"/>
          </a:solidFill>
          <a:ln/>
        </p:spPr>
        <p:txBody>
          <a:bodyPr/>
          <a:lstStyle/>
          <a:p>
            <a:endParaRPr lang="en-PT"/>
          </a:p>
        </p:txBody>
      </p:sp>
      <p:sp>
        <p:nvSpPr>
          <p:cNvPr id="4" name="name_2"/>
          <p:cNvSpPr/>
          <p:nvPr/>
        </p:nvSpPr>
        <p:spPr>
          <a:xfrm rot="5400000">
            <a:off x="6988735" y="5374715"/>
            <a:ext cx="4133850" cy="5690720"/>
          </a:xfrm>
          <a:prstGeom prst="rect">
            <a:avLst/>
          </a:prstGeom>
          <a:solidFill>
            <a:srgbClr val="47D7AC"/>
          </a:solidFill>
          <a:ln/>
        </p:spPr>
        <p:txBody>
          <a:bodyPr/>
          <a:lstStyle/>
          <a:p>
            <a:endParaRPr lang="en-PT"/>
          </a:p>
        </p:txBody>
      </p:sp>
      <p:sp>
        <p:nvSpPr>
          <p:cNvPr id="5" name="name_1"/>
          <p:cNvSpPr/>
          <p:nvPr/>
        </p:nvSpPr>
        <p:spPr>
          <a:xfrm rot="5400000">
            <a:off x="11031912" y="3745939"/>
            <a:ext cx="7391400" cy="5690719"/>
          </a:xfrm>
          <a:prstGeom prst="rect">
            <a:avLst/>
          </a:prstGeom>
          <a:solidFill>
            <a:srgbClr val="D1F5EA"/>
          </a:solidFill>
          <a:ln/>
        </p:spPr>
        <p:txBody>
          <a:bodyPr/>
          <a:lstStyle/>
          <a:p>
            <a:endParaRPr lang="en-PT"/>
          </a:p>
        </p:txBody>
      </p:sp>
      <p:sp>
        <p:nvSpPr>
          <p:cNvPr id="6" name="chart-title"/>
          <p:cNvSpPr/>
          <p:nvPr/>
        </p:nvSpPr>
        <p:spPr>
          <a:xfrm>
            <a:off x="795236" y="1990725"/>
            <a:ext cx="8248650" cy="762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Trusted by global brands</a:t>
            </a:r>
            <a:endParaRPr lang="en-US" sz="4800" dirty="0"/>
          </a:p>
        </p:txBody>
      </p:sp>
      <p:sp>
        <p:nvSpPr>
          <p:cNvPr id="7" name="chart-body"/>
          <p:cNvSpPr/>
          <p:nvPr/>
        </p:nvSpPr>
        <p:spPr>
          <a:xfrm>
            <a:off x="795236" y="3057525"/>
            <a:ext cx="8248650" cy="590550"/>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We help our clients transform innovative ideas into inspiring brands, amazing products and cutting-edge experiences that touch millions.</a:t>
            </a:r>
            <a:endParaRPr lang="en-US" sz="1800" dirty="0"/>
          </a:p>
        </p:txBody>
      </p:sp>
      <p:sp>
        <p:nvSpPr>
          <p:cNvPr id="8" name="Percentage"/>
          <p:cNvSpPr/>
          <p:nvPr/>
        </p:nvSpPr>
        <p:spPr>
          <a:xfrm>
            <a:off x="795807" y="7277100"/>
            <a:ext cx="1857375" cy="866775"/>
          </a:xfrm>
          <a:prstGeom prst="rect">
            <a:avLst/>
          </a:prstGeom>
          <a:noFill/>
          <a:ln/>
        </p:spPr>
        <p:txBody>
          <a:bodyPr wrap="square" lIns="0" tIns="0" rIns="0" bIns="0" rtlCol="0" anchor="t"/>
          <a:lstStyle/>
          <a:p>
            <a:pPr marL="0" indent="0" algn="l">
              <a:lnSpc>
                <a:spcPts val="6819"/>
              </a:lnSpc>
              <a:buNone/>
            </a:pPr>
            <a:r>
              <a:rPr lang="en-US" sz="4800" kern="0" spc="-213" dirty="0">
                <a:solidFill>
                  <a:srgbClr val="010716"/>
                </a:solidFill>
                <a:latin typeface="Equip Extended Regular" pitchFamily="34" charset="0"/>
                <a:ea typeface="Equip Extended Regular" pitchFamily="34" charset="-122"/>
                <a:cs typeface="Equip Extended Regular" pitchFamily="34" charset="-120"/>
              </a:rPr>
              <a:t>64,2%</a:t>
            </a:r>
            <a:endParaRPr lang="en-US" sz="4800" dirty="0"/>
          </a:p>
        </p:txBody>
      </p:sp>
      <p:sp>
        <p:nvSpPr>
          <p:cNvPr id="9" name="name_642"/>
          <p:cNvSpPr/>
          <p:nvPr/>
        </p:nvSpPr>
        <p:spPr>
          <a:xfrm>
            <a:off x="6210300" y="5286375"/>
            <a:ext cx="1857375" cy="866775"/>
          </a:xfrm>
          <a:prstGeom prst="rect">
            <a:avLst/>
          </a:prstGeom>
          <a:noFill/>
          <a:ln/>
        </p:spPr>
        <p:txBody>
          <a:bodyPr wrap="square" lIns="0" tIns="0" rIns="0" bIns="0" rtlCol="0" anchor="t"/>
          <a:lstStyle/>
          <a:p>
            <a:pPr marL="0" indent="0" algn="l">
              <a:lnSpc>
                <a:spcPts val="6819"/>
              </a:lnSpc>
              <a:buNone/>
            </a:pPr>
            <a:r>
              <a:rPr lang="en-US" sz="4800" kern="0" spc="-213" dirty="0">
                <a:solidFill>
                  <a:srgbClr val="010716"/>
                </a:solidFill>
                <a:latin typeface="Equip Extended Regular" pitchFamily="34" charset="0"/>
                <a:ea typeface="Equip Extended Regular" pitchFamily="34" charset="-122"/>
                <a:cs typeface="Equip Extended Regular" pitchFamily="34" charset="-120"/>
              </a:rPr>
              <a:t>64,2%</a:t>
            </a:r>
            <a:endParaRPr lang="en-US" sz="4800" dirty="0"/>
          </a:p>
        </p:txBody>
      </p:sp>
      <p:sp>
        <p:nvSpPr>
          <p:cNvPr id="10" name="name_642"/>
          <p:cNvSpPr/>
          <p:nvPr/>
        </p:nvSpPr>
        <p:spPr>
          <a:xfrm>
            <a:off x="11882252" y="2028825"/>
            <a:ext cx="1857375" cy="866775"/>
          </a:xfrm>
          <a:prstGeom prst="rect">
            <a:avLst/>
          </a:prstGeom>
          <a:noFill/>
          <a:ln/>
        </p:spPr>
        <p:txBody>
          <a:bodyPr wrap="square" lIns="0" tIns="0" rIns="0" bIns="0" rtlCol="0" anchor="t"/>
          <a:lstStyle/>
          <a:p>
            <a:pPr marL="0" indent="0" algn="l">
              <a:lnSpc>
                <a:spcPts val="6819"/>
              </a:lnSpc>
              <a:buNone/>
            </a:pPr>
            <a:r>
              <a:rPr lang="en-US" sz="4800" kern="0" spc="-213" dirty="0">
                <a:solidFill>
                  <a:srgbClr val="010716"/>
                </a:solidFill>
                <a:latin typeface="Equip Extended Regular" pitchFamily="34" charset="0"/>
                <a:ea typeface="Equip Extended Regular" pitchFamily="34" charset="-122"/>
                <a:cs typeface="Equip Extended Regular" pitchFamily="34" charset="-120"/>
              </a:rPr>
              <a:t>64,2%</a:t>
            </a:r>
            <a:endParaRPr lang="en-US" sz="4800" dirty="0"/>
          </a:p>
        </p:txBody>
      </p:sp>
      <p:sp>
        <p:nvSpPr>
          <p:cNvPr id="11" name="bar-1-label"/>
          <p:cNvSpPr/>
          <p:nvPr/>
        </p:nvSpPr>
        <p:spPr>
          <a:xfrm>
            <a:off x="1085850" y="8401050"/>
            <a:ext cx="160020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D1F5EA"/>
                </a:solidFill>
                <a:latin typeface="Equip Extended Regular" pitchFamily="34" charset="0"/>
                <a:ea typeface="Equip Extended Regular" pitchFamily="34" charset="-122"/>
                <a:cs typeface="Equip Extended Regular" pitchFamily="34" charset="-120"/>
              </a:rPr>
              <a:t>Topic Name</a:t>
            </a:r>
            <a:endParaRPr lang="en-US" sz="1800" dirty="0"/>
          </a:p>
        </p:txBody>
      </p:sp>
      <p:sp>
        <p:nvSpPr>
          <p:cNvPr id="12" name="bar-1-desc"/>
          <p:cNvSpPr/>
          <p:nvPr/>
        </p:nvSpPr>
        <p:spPr>
          <a:xfrm>
            <a:off x="1085850" y="8763000"/>
            <a:ext cx="1600200" cy="200025"/>
          </a:xfrm>
          <a:prstGeom prst="rect">
            <a:avLst/>
          </a:prstGeom>
          <a:noFill/>
          <a:ln/>
        </p:spPr>
        <p:txBody>
          <a:bodyPr wrap="square" lIns="0" tIns="0" rIns="0" bIns="0" rtlCol="0" anchor="t"/>
          <a:lstStyle/>
          <a:p>
            <a:pPr marL="0" indent="0" algn="l">
              <a:lnSpc>
                <a:spcPts val="1500"/>
              </a:lnSpc>
              <a:spcAft>
                <a:spcPts val="1200"/>
              </a:spcAft>
              <a:buNone/>
            </a:pPr>
            <a:r>
              <a:rPr lang="en-US" sz="1200" dirty="0">
                <a:solidFill>
                  <a:srgbClr val="D1F5EA"/>
                </a:solidFill>
                <a:latin typeface="Equip Regular" pitchFamily="34" charset="0"/>
                <a:ea typeface="Equip Regular" pitchFamily="34" charset="-122"/>
                <a:cs typeface="Equip Regular" pitchFamily="34" charset="-120"/>
              </a:rPr>
              <a:t>Description goes here</a:t>
            </a:r>
            <a:endParaRPr lang="en-US" sz="1200" dirty="0"/>
          </a:p>
        </p:txBody>
      </p:sp>
      <p:sp>
        <p:nvSpPr>
          <p:cNvPr id="13" name="bar-2-label"/>
          <p:cNvSpPr/>
          <p:nvPr/>
        </p:nvSpPr>
        <p:spPr>
          <a:xfrm>
            <a:off x="6486525" y="6400800"/>
            <a:ext cx="160020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13294B"/>
                </a:solidFill>
                <a:latin typeface="Equip Extended Regular" pitchFamily="34" charset="0"/>
                <a:ea typeface="Equip Extended Regular" pitchFamily="34" charset="-122"/>
                <a:cs typeface="Equip Extended Regular" pitchFamily="34" charset="-120"/>
              </a:rPr>
              <a:t>Topic Name</a:t>
            </a:r>
            <a:endParaRPr lang="en-US" sz="1800" dirty="0"/>
          </a:p>
        </p:txBody>
      </p:sp>
      <p:sp>
        <p:nvSpPr>
          <p:cNvPr id="14" name="bar-2-desc"/>
          <p:cNvSpPr/>
          <p:nvPr/>
        </p:nvSpPr>
        <p:spPr>
          <a:xfrm>
            <a:off x="6486525" y="6762750"/>
            <a:ext cx="1600200" cy="200025"/>
          </a:xfrm>
          <a:prstGeom prst="rect">
            <a:avLst/>
          </a:prstGeom>
          <a:noFill/>
          <a:ln/>
        </p:spPr>
        <p:txBody>
          <a:bodyPr wrap="square" lIns="0" tIns="0" rIns="0" bIns="0" rtlCol="0" anchor="t"/>
          <a:lstStyle/>
          <a:p>
            <a:pPr marL="0" indent="0" algn="l">
              <a:lnSpc>
                <a:spcPts val="1500"/>
              </a:lnSpc>
              <a:spcAft>
                <a:spcPts val="1200"/>
              </a:spcAft>
              <a:buNone/>
            </a:pPr>
            <a:r>
              <a:rPr lang="en-US" sz="1200" dirty="0">
                <a:solidFill>
                  <a:srgbClr val="13294B"/>
                </a:solidFill>
                <a:latin typeface="Equip Regular" pitchFamily="34" charset="0"/>
                <a:ea typeface="Equip Regular" pitchFamily="34" charset="-122"/>
                <a:cs typeface="Equip Regular" pitchFamily="34" charset="-120"/>
              </a:rPr>
              <a:t>Description goes here</a:t>
            </a:r>
            <a:endParaRPr lang="en-US" sz="1200" dirty="0"/>
          </a:p>
        </p:txBody>
      </p:sp>
      <p:sp>
        <p:nvSpPr>
          <p:cNvPr id="15" name="bar-3-label"/>
          <p:cNvSpPr/>
          <p:nvPr/>
        </p:nvSpPr>
        <p:spPr>
          <a:xfrm>
            <a:off x="12231351" y="3133725"/>
            <a:ext cx="160020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13294B"/>
                </a:solidFill>
                <a:latin typeface="Equip Extended Regular" pitchFamily="34" charset="0"/>
                <a:ea typeface="Equip Extended Regular" pitchFamily="34" charset="-122"/>
                <a:cs typeface="Equip Extended Regular" pitchFamily="34" charset="-120"/>
              </a:rPr>
              <a:t>Topic Name</a:t>
            </a:r>
            <a:endParaRPr lang="en-US" sz="1800" dirty="0"/>
          </a:p>
        </p:txBody>
      </p:sp>
      <p:sp>
        <p:nvSpPr>
          <p:cNvPr id="16" name="bar-3-desc"/>
          <p:cNvSpPr/>
          <p:nvPr/>
        </p:nvSpPr>
        <p:spPr>
          <a:xfrm>
            <a:off x="12231351" y="3495675"/>
            <a:ext cx="1600200" cy="200025"/>
          </a:xfrm>
          <a:prstGeom prst="rect">
            <a:avLst/>
          </a:prstGeom>
          <a:noFill/>
          <a:ln/>
        </p:spPr>
        <p:txBody>
          <a:bodyPr wrap="square" lIns="0" tIns="0" rIns="0" bIns="0" rtlCol="0" anchor="t"/>
          <a:lstStyle/>
          <a:p>
            <a:pPr marL="0" indent="0" algn="l">
              <a:lnSpc>
                <a:spcPts val="1500"/>
              </a:lnSpc>
              <a:spcAft>
                <a:spcPts val="1200"/>
              </a:spcAft>
              <a:buNone/>
            </a:pPr>
            <a:r>
              <a:rPr lang="en-US" sz="1200" dirty="0">
                <a:solidFill>
                  <a:srgbClr val="13294B"/>
                </a:solidFill>
                <a:latin typeface="Equip Regular" pitchFamily="34" charset="0"/>
                <a:ea typeface="Equip Regular" pitchFamily="34" charset="-122"/>
                <a:cs typeface="Equip Regular" pitchFamily="34" charset="-120"/>
              </a:rPr>
              <a:t>Description goes here</a:t>
            </a:r>
            <a:endParaRPr lang="en-US" sz="1200" dirty="0"/>
          </a:p>
        </p:txBody>
      </p:sp>
      <p:pic>
        <p:nvPicPr>
          <p:cNvPr id="2" name="Graphic 1">
            <a:extLst>
              <a:ext uri="{FF2B5EF4-FFF2-40B4-BE49-F238E27FC236}">
                <a16:creationId xmlns:a16="http://schemas.microsoft.com/office/drawing/2014/main" id="{C53F9468-F72F-821E-57D9-37A40D49B2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bars" descr="preencoded.png"/>
          <p:cNvPicPr>
            <a:picLocks noChangeAspect="1"/>
          </p:cNvPicPr>
          <p:nvPr/>
        </p:nvPicPr>
        <p:blipFill>
          <a:blip>
            <a:extLst>
              <a:ext uri="{96DAC541-7B7A-43D3-8B79-37D633B846F1}">
                <asvg:svgBlip xmlns:asvg="http://schemas.microsoft.com/office/drawing/2016/SVG/main" r:embed="rId2"/>
              </a:ext>
            </a:extLst>
          </a:blip>
          <a:srcRect/>
          <a:stretch/>
        </p:blipFill>
        <p:spPr>
          <a:xfrm>
            <a:off x="5118845" y="1990725"/>
            <a:ext cx="12458700" cy="6705600"/>
          </a:xfrm>
          <a:prstGeom prst="rect">
            <a:avLst/>
          </a:prstGeom>
        </p:spPr>
      </p:pic>
      <p:pic>
        <p:nvPicPr>
          <p:cNvPr id="4" name="legenda" descr="preencoded.png"/>
          <p:cNvPicPr>
            <a:picLocks noChangeAspect="1"/>
          </p:cNvPicPr>
          <p:nvPr/>
        </p:nvPicPr>
        <p:blipFill>
          <a:blip r:embed="rId3"/>
          <a:srcRect/>
          <a:stretch/>
        </p:blipFill>
        <p:spPr>
          <a:xfrm>
            <a:off x="800100" y="7210425"/>
            <a:ext cx="1343025" cy="1485900"/>
          </a:xfrm>
          <a:prstGeom prst="rect">
            <a:avLst/>
          </a:prstGeom>
        </p:spPr>
      </p:pic>
      <p:sp>
        <p:nvSpPr>
          <p:cNvPr id="9" name="Name"/>
          <p:cNvSpPr/>
          <p:nvPr/>
        </p:nvSpPr>
        <p:spPr>
          <a:xfrm>
            <a:off x="6829425" y="1990725"/>
            <a:ext cx="70485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10716"/>
                </a:solidFill>
                <a:latin typeface="Equip Extended Regular" pitchFamily="34" charset="0"/>
                <a:ea typeface="Equip Extended Regular" pitchFamily="34" charset="-122"/>
                <a:cs typeface="Equip Extended Regular" pitchFamily="34" charset="-120"/>
              </a:rPr>
              <a:t>Name</a:t>
            </a:r>
            <a:endParaRPr lang="en-US" sz="1800" dirty="0"/>
          </a:p>
        </p:txBody>
      </p:sp>
      <p:sp>
        <p:nvSpPr>
          <p:cNvPr id="10" name="Name"/>
          <p:cNvSpPr/>
          <p:nvPr/>
        </p:nvSpPr>
        <p:spPr>
          <a:xfrm>
            <a:off x="6829425" y="2447925"/>
            <a:ext cx="70485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10716"/>
                </a:solidFill>
                <a:latin typeface="Equip Extended Regular" pitchFamily="34" charset="0"/>
                <a:ea typeface="Equip Extended Regular" pitchFamily="34" charset="-122"/>
                <a:cs typeface="Equip Extended Regular" pitchFamily="34" charset="-120"/>
              </a:rPr>
              <a:t>Name</a:t>
            </a:r>
            <a:endParaRPr lang="en-US" sz="1800" dirty="0"/>
          </a:p>
        </p:txBody>
      </p:sp>
      <p:sp>
        <p:nvSpPr>
          <p:cNvPr id="11" name="Name"/>
          <p:cNvSpPr/>
          <p:nvPr/>
        </p:nvSpPr>
        <p:spPr>
          <a:xfrm>
            <a:off x="6829425" y="2905125"/>
            <a:ext cx="70485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10716"/>
                </a:solidFill>
                <a:latin typeface="Equip Extended Regular" pitchFamily="34" charset="0"/>
                <a:ea typeface="Equip Extended Regular" pitchFamily="34" charset="-122"/>
                <a:cs typeface="Equip Extended Regular" pitchFamily="34" charset="-120"/>
              </a:rPr>
              <a:t>Name</a:t>
            </a:r>
            <a:endParaRPr lang="en-US" sz="1800" dirty="0"/>
          </a:p>
        </p:txBody>
      </p:sp>
      <p:sp>
        <p:nvSpPr>
          <p:cNvPr id="12" name="Name"/>
          <p:cNvSpPr/>
          <p:nvPr/>
        </p:nvSpPr>
        <p:spPr>
          <a:xfrm>
            <a:off x="6829425" y="3362325"/>
            <a:ext cx="70485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10716"/>
                </a:solidFill>
                <a:latin typeface="Equip Extended Regular" pitchFamily="34" charset="0"/>
                <a:ea typeface="Equip Extended Regular" pitchFamily="34" charset="-122"/>
                <a:cs typeface="Equip Extended Regular" pitchFamily="34" charset="-120"/>
              </a:rPr>
              <a:t>Name</a:t>
            </a:r>
            <a:endParaRPr lang="en-US" sz="1800" dirty="0"/>
          </a:p>
        </p:txBody>
      </p:sp>
      <p:sp>
        <p:nvSpPr>
          <p:cNvPr id="13" name="Name"/>
          <p:cNvSpPr/>
          <p:nvPr/>
        </p:nvSpPr>
        <p:spPr>
          <a:xfrm>
            <a:off x="6829425" y="3819525"/>
            <a:ext cx="70485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10716"/>
                </a:solidFill>
                <a:latin typeface="Equip Extended Regular" pitchFamily="34" charset="0"/>
                <a:ea typeface="Equip Extended Regular" pitchFamily="34" charset="-122"/>
                <a:cs typeface="Equip Extended Regular" pitchFamily="34" charset="-120"/>
              </a:rPr>
              <a:t>Name</a:t>
            </a:r>
            <a:endParaRPr lang="en-US" sz="1800" dirty="0"/>
          </a:p>
        </p:txBody>
      </p:sp>
      <p:sp>
        <p:nvSpPr>
          <p:cNvPr id="14" name="Name"/>
          <p:cNvSpPr/>
          <p:nvPr/>
        </p:nvSpPr>
        <p:spPr>
          <a:xfrm>
            <a:off x="6829425" y="4276725"/>
            <a:ext cx="70485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10716"/>
                </a:solidFill>
                <a:latin typeface="Equip Extended Regular" pitchFamily="34" charset="0"/>
                <a:ea typeface="Equip Extended Regular" pitchFamily="34" charset="-122"/>
                <a:cs typeface="Equip Extended Regular" pitchFamily="34" charset="-120"/>
              </a:rPr>
              <a:t>Name</a:t>
            </a:r>
            <a:endParaRPr lang="en-US" sz="1800" dirty="0"/>
          </a:p>
        </p:txBody>
      </p:sp>
      <p:sp>
        <p:nvSpPr>
          <p:cNvPr id="15" name="Name"/>
          <p:cNvSpPr/>
          <p:nvPr/>
        </p:nvSpPr>
        <p:spPr>
          <a:xfrm>
            <a:off x="6829425" y="4733925"/>
            <a:ext cx="70485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10716"/>
                </a:solidFill>
                <a:latin typeface="Equip Extended Regular" pitchFamily="34" charset="0"/>
                <a:ea typeface="Equip Extended Regular" pitchFamily="34" charset="-122"/>
                <a:cs typeface="Equip Extended Regular" pitchFamily="34" charset="-120"/>
              </a:rPr>
              <a:t>Name</a:t>
            </a:r>
            <a:endParaRPr lang="en-US" sz="1800" dirty="0"/>
          </a:p>
        </p:txBody>
      </p:sp>
      <p:sp>
        <p:nvSpPr>
          <p:cNvPr id="16" name="Name"/>
          <p:cNvSpPr/>
          <p:nvPr/>
        </p:nvSpPr>
        <p:spPr>
          <a:xfrm>
            <a:off x="6829425" y="5191125"/>
            <a:ext cx="70485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10716"/>
                </a:solidFill>
                <a:latin typeface="Equip Extended Regular" pitchFamily="34" charset="0"/>
                <a:ea typeface="Equip Extended Regular" pitchFamily="34" charset="-122"/>
                <a:cs typeface="Equip Extended Regular" pitchFamily="34" charset="-120"/>
              </a:rPr>
              <a:t>Name</a:t>
            </a:r>
            <a:endParaRPr lang="en-US" sz="1800" dirty="0"/>
          </a:p>
        </p:txBody>
      </p:sp>
      <p:sp>
        <p:nvSpPr>
          <p:cNvPr id="17" name="Name"/>
          <p:cNvSpPr/>
          <p:nvPr/>
        </p:nvSpPr>
        <p:spPr>
          <a:xfrm>
            <a:off x="6829425" y="5648325"/>
            <a:ext cx="70485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10716"/>
                </a:solidFill>
                <a:latin typeface="Equip Extended Regular" pitchFamily="34" charset="0"/>
                <a:ea typeface="Equip Extended Regular" pitchFamily="34" charset="-122"/>
                <a:cs typeface="Equip Extended Regular" pitchFamily="34" charset="-120"/>
              </a:rPr>
              <a:t>Name</a:t>
            </a:r>
            <a:endParaRPr lang="en-US" sz="1800" dirty="0"/>
          </a:p>
        </p:txBody>
      </p:sp>
      <p:sp>
        <p:nvSpPr>
          <p:cNvPr id="18" name="Name"/>
          <p:cNvSpPr/>
          <p:nvPr/>
        </p:nvSpPr>
        <p:spPr>
          <a:xfrm>
            <a:off x="6829425" y="6105525"/>
            <a:ext cx="70485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10716"/>
                </a:solidFill>
                <a:latin typeface="Equip Extended Regular" pitchFamily="34" charset="0"/>
                <a:ea typeface="Equip Extended Regular" pitchFamily="34" charset="-122"/>
                <a:cs typeface="Equip Extended Regular" pitchFamily="34" charset="-120"/>
              </a:rPr>
              <a:t>Name</a:t>
            </a:r>
            <a:endParaRPr lang="en-US" sz="1800" dirty="0"/>
          </a:p>
        </p:txBody>
      </p:sp>
      <p:sp>
        <p:nvSpPr>
          <p:cNvPr id="19" name="Name"/>
          <p:cNvSpPr/>
          <p:nvPr/>
        </p:nvSpPr>
        <p:spPr>
          <a:xfrm>
            <a:off x="6829425" y="6562725"/>
            <a:ext cx="70485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10716"/>
                </a:solidFill>
                <a:latin typeface="Equip Extended Regular" pitchFamily="34" charset="0"/>
                <a:ea typeface="Equip Extended Regular" pitchFamily="34" charset="-122"/>
                <a:cs typeface="Equip Extended Regular" pitchFamily="34" charset="-120"/>
              </a:rPr>
              <a:t>Name</a:t>
            </a:r>
            <a:endParaRPr lang="en-US" sz="1800" dirty="0"/>
          </a:p>
        </p:txBody>
      </p:sp>
      <p:sp>
        <p:nvSpPr>
          <p:cNvPr id="20" name="Name"/>
          <p:cNvSpPr/>
          <p:nvPr/>
        </p:nvSpPr>
        <p:spPr>
          <a:xfrm>
            <a:off x="6829425" y="7019925"/>
            <a:ext cx="70485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10716"/>
                </a:solidFill>
                <a:latin typeface="Equip Extended Regular" pitchFamily="34" charset="0"/>
                <a:ea typeface="Equip Extended Regular" pitchFamily="34" charset="-122"/>
                <a:cs typeface="Equip Extended Regular" pitchFamily="34" charset="-120"/>
              </a:rPr>
              <a:t>Name</a:t>
            </a:r>
            <a:endParaRPr lang="en-US" sz="1800" dirty="0"/>
          </a:p>
        </p:txBody>
      </p:sp>
      <p:sp>
        <p:nvSpPr>
          <p:cNvPr id="21" name="Name"/>
          <p:cNvSpPr/>
          <p:nvPr/>
        </p:nvSpPr>
        <p:spPr>
          <a:xfrm>
            <a:off x="6829425" y="7477125"/>
            <a:ext cx="70485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10716"/>
                </a:solidFill>
                <a:latin typeface="Equip Extended Regular" pitchFamily="34" charset="0"/>
                <a:ea typeface="Equip Extended Regular" pitchFamily="34" charset="-122"/>
                <a:cs typeface="Equip Extended Regular" pitchFamily="34" charset="-120"/>
              </a:rPr>
              <a:t>Name</a:t>
            </a:r>
            <a:endParaRPr lang="en-US" sz="1800" dirty="0"/>
          </a:p>
        </p:txBody>
      </p:sp>
      <p:sp>
        <p:nvSpPr>
          <p:cNvPr id="22" name="Name"/>
          <p:cNvSpPr/>
          <p:nvPr/>
        </p:nvSpPr>
        <p:spPr>
          <a:xfrm>
            <a:off x="6829425" y="7934325"/>
            <a:ext cx="70485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10716"/>
                </a:solidFill>
                <a:latin typeface="Equip Extended Regular" pitchFamily="34" charset="0"/>
                <a:ea typeface="Equip Extended Regular" pitchFamily="34" charset="-122"/>
                <a:cs typeface="Equip Extended Regular" pitchFamily="34" charset="-120"/>
              </a:rPr>
              <a:t>Name</a:t>
            </a:r>
            <a:endParaRPr lang="en-US" sz="1800" dirty="0"/>
          </a:p>
        </p:txBody>
      </p:sp>
      <p:sp>
        <p:nvSpPr>
          <p:cNvPr id="23" name="Name"/>
          <p:cNvSpPr/>
          <p:nvPr/>
        </p:nvSpPr>
        <p:spPr>
          <a:xfrm>
            <a:off x="6829425" y="8391525"/>
            <a:ext cx="70485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10716"/>
                </a:solidFill>
                <a:latin typeface="Equip Extended Regular" pitchFamily="34" charset="0"/>
                <a:ea typeface="Equip Extended Regular" pitchFamily="34" charset="-122"/>
                <a:cs typeface="Equip Extended Regular" pitchFamily="34" charset="-120"/>
              </a:rPr>
              <a:t>Name</a:t>
            </a:r>
            <a:endParaRPr lang="en-US" sz="1800" dirty="0"/>
          </a:p>
        </p:txBody>
      </p:sp>
      <p:sp>
        <p:nvSpPr>
          <p:cNvPr id="24" name="chart-title"/>
          <p:cNvSpPr/>
          <p:nvPr/>
        </p:nvSpPr>
        <p:spPr>
          <a:xfrm>
            <a:off x="794934" y="1990725"/>
            <a:ext cx="4019550" cy="2286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Trusted by 
global brands</a:t>
            </a:r>
            <a:endParaRPr lang="en-US" sz="4800" dirty="0"/>
          </a:p>
        </p:txBody>
      </p:sp>
      <p:sp>
        <p:nvSpPr>
          <p:cNvPr id="25" name="chart-body"/>
          <p:cNvSpPr/>
          <p:nvPr/>
        </p:nvSpPr>
        <p:spPr>
          <a:xfrm>
            <a:off x="794934" y="4581525"/>
            <a:ext cx="4019550" cy="1181100"/>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We help our clients transform innovative ideas into inspiring brands, amazing products and cutting-edge experiences that touch millions.</a:t>
            </a:r>
            <a:endParaRPr lang="en-US" sz="1800" dirty="0"/>
          </a:p>
        </p:txBody>
      </p:sp>
      <p:sp>
        <p:nvSpPr>
          <p:cNvPr id="26" name="bar-label-1"/>
          <p:cNvSpPr/>
          <p:nvPr/>
        </p:nvSpPr>
        <p:spPr>
          <a:xfrm>
            <a:off x="1190625" y="7210425"/>
            <a:ext cx="971550" cy="200025"/>
          </a:xfrm>
          <a:prstGeom prst="rect">
            <a:avLst/>
          </a:prstGeom>
          <a:noFill/>
          <a:ln/>
        </p:spPr>
        <p:txBody>
          <a:bodyPr wrap="square" lIns="0" tIns="0" rIns="0" bIns="0" rtlCol="0" anchor="t"/>
          <a:lstStyle/>
          <a:p>
            <a:pPr marL="0" indent="0" algn="ctr">
              <a:lnSpc>
                <a:spcPts val="1500"/>
              </a:lnSpc>
              <a:spcAft>
                <a:spcPts val="1200"/>
              </a:spcAft>
              <a:buNone/>
            </a:pPr>
            <a:r>
              <a:rPr lang="en-US" sz="1200" dirty="0">
                <a:solidFill>
                  <a:srgbClr val="4E5E78"/>
                </a:solidFill>
                <a:latin typeface="Equip Regular" pitchFamily="34" charset="0"/>
                <a:ea typeface="Equip Regular" pitchFamily="34" charset="-122"/>
                <a:cs typeface="Equip Regular" pitchFamily="34" charset="-120"/>
              </a:rPr>
              <a:t>Description 1</a:t>
            </a:r>
            <a:endParaRPr lang="en-US" sz="1200" dirty="0"/>
          </a:p>
        </p:txBody>
      </p:sp>
      <p:sp>
        <p:nvSpPr>
          <p:cNvPr id="27" name="bar-label-2"/>
          <p:cNvSpPr/>
          <p:nvPr/>
        </p:nvSpPr>
        <p:spPr>
          <a:xfrm>
            <a:off x="1190625" y="7639050"/>
            <a:ext cx="971550" cy="200025"/>
          </a:xfrm>
          <a:prstGeom prst="rect">
            <a:avLst/>
          </a:prstGeom>
          <a:noFill/>
          <a:ln/>
        </p:spPr>
        <p:txBody>
          <a:bodyPr wrap="square" lIns="0" tIns="0" rIns="0" bIns="0" rtlCol="0" anchor="t"/>
          <a:lstStyle/>
          <a:p>
            <a:pPr marL="0" indent="0" algn="ctr">
              <a:lnSpc>
                <a:spcPts val="1500"/>
              </a:lnSpc>
              <a:spcAft>
                <a:spcPts val="1200"/>
              </a:spcAft>
              <a:buNone/>
            </a:pPr>
            <a:r>
              <a:rPr lang="en-US" sz="1200" dirty="0">
                <a:solidFill>
                  <a:srgbClr val="4E5E78"/>
                </a:solidFill>
                <a:latin typeface="Equip Regular" pitchFamily="34" charset="0"/>
                <a:ea typeface="Equip Regular" pitchFamily="34" charset="-122"/>
                <a:cs typeface="Equip Regular" pitchFamily="34" charset="-120"/>
              </a:rPr>
              <a:t>Description 2</a:t>
            </a:r>
            <a:endParaRPr lang="en-US" sz="1200" dirty="0"/>
          </a:p>
        </p:txBody>
      </p:sp>
      <p:sp>
        <p:nvSpPr>
          <p:cNvPr id="28" name="bar-label-3"/>
          <p:cNvSpPr/>
          <p:nvPr/>
        </p:nvSpPr>
        <p:spPr>
          <a:xfrm>
            <a:off x="1190625" y="8067675"/>
            <a:ext cx="971550" cy="200025"/>
          </a:xfrm>
          <a:prstGeom prst="rect">
            <a:avLst/>
          </a:prstGeom>
          <a:noFill/>
          <a:ln/>
        </p:spPr>
        <p:txBody>
          <a:bodyPr wrap="square" lIns="0" tIns="0" rIns="0" bIns="0" rtlCol="0" anchor="t"/>
          <a:lstStyle/>
          <a:p>
            <a:pPr marL="0" indent="0" algn="ctr">
              <a:lnSpc>
                <a:spcPts val="1500"/>
              </a:lnSpc>
              <a:spcAft>
                <a:spcPts val="1200"/>
              </a:spcAft>
              <a:buNone/>
            </a:pPr>
            <a:r>
              <a:rPr lang="en-US" sz="1200" dirty="0">
                <a:solidFill>
                  <a:srgbClr val="4E5E78"/>
                </a:solidFill>
                <a:latin typeface="Equip Regular" pitchFamily="34" charset="0"/>
                <a:ea typeface="Equip Regular" pitchFamily="34" charset="-122"/>
                <a:cs typeface="Equip Regular" pitchFamily="34" charset="-120"/>
              </a:rPr>
              <a:t>Description 3</a:t>
            </a:r>
            <a:endParaRPr lang="en-US" sz="1200" dirty="0"/>
          </a:p>
        </p:txBody>
      </p:sp>
      <p:sp>
        <p:nvSpPr>
          <p:cNvPr id="29" name="bar-label-4"/>
          <p:cNvSpPr/>
          <p:nvPr/>
        </p:nvSpPr>
        <p:spPr>
          <a:xfrm>
            <a:off x="1190625" y="8496300"/>
            <a:ext cx="971550" cy="200025"/>
          </a:xfrm>
          <a:prstGeom prst="rect">
            <a:avLst/>
          </a:prstGeom>
          <a:noFill/>
          <a:ln/>
        </p:spPr>
        <p:txBody>
          <a:bodyPr wrap="square" lIns="0" tIns="0" rIns="0" bIns="0" rtlCol="0" anchor="t"/>
          <a:lstStyle/>
          <a:p>
            <a:pPr marL="0" indent="0" algn="ctr">
              <a:lnSpc>
                <a:spcPts val="1500"/>
              </a:lnSpc>
              <a:spcAft>
                <a:spcPts val="1200"/>
              </a:spcAft>
              <a:buNone/>
            </a:pPr>
            <a:r>
              <a:rPr lang="en-US" sz="1200" dirty="0">
                <a:solidFill>
                  <a:srgbClr val="4E5E78"/>
                </a:solidFill>
                <a:latin typeface="Equip Regular" pitchFamily="34" charset="0"/>
                <a:ea typeface="Equip Regular" pitchFamily="34" charset="-122"/>
                <a:cs typeface="Equip Regular" pitchFamily="34" charset="-120"/>
              </a:rPr>
              <a:t>Description 4</a:t>
            </a:r>
            <a:endParaRPr lang="en-US" sz="1200" dirty="0"/>
          </a:p>
        </p:txBody>
      </p:sp>
      <p:pic>
        <p:nvPicPr>
          <p:cNvPr id="2" name="Graphic 1">
            <a:extLst>
              <a:ext uri="{FF2B5EF4-FFF2-40B4-BE49-F238E27FC236}">
                <a16:creationId xmlns:a16="http://schemas.microsoft.com/office/drawing/2014/main" id="{ED36BA0C-3120-E4F8-2920-FCFE1D76FB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2730" y="101077"/>
            <a:ext cx="2198820" cy="1649115"/>
          </a:xfrm>
          <a:prstGeom prst="rect">
            <a:avLst/>
          </a:prstGeom>
        </p:spPr>
      </p:pic>
      <p:sp>
        <p:nvSpPr>
          <p:cNvPr id="5" name="Digital Design Strategy">
            <a:extLst>
              <a:ext uri="{FF2B5EF4-FFF2-40B4-BE49-F238E27FC236}">
                <a16:creationId xmlns:a16="http://schemas.microsoft.com/office/drawing/2014/main" id="{21F0554E-199D-4216-3C8D-E9492CD006A0}"/>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6" name="Project Name">
            <a:extLst>
              <a:ext uri="{FF2B5EF4-FFF2-40B4-BE49-F238E27FC236}">
                <a16:creationId xmlns:a16="http://schemas.microsoft.com/office/drawing/2014/main" id="{B836A0D2-3FC6-C452-4B35-4E64838BEA3E}"/>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7" name="Month Year">
            <a:extLst>
              <a:ext uri="{FF2B5EF4-FFF2-40B4-BE49-F238E27FC236}">
                <a16:creationId xmlns:a16="http://schemas.microsoft.com/office/drawing/2014/main" id="{B4A44156-4203-E9EC-5FF8-8C6C937D4316}"/>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8" name="2026">
            <a:extLst>
              <a:ext uri="{FF2B5EF4-FFF2-40B4-BE49-F238E27FC236}">
                <a16:creationId xmlns:a16="http://schemas.microsoft.com/office/drawing/2014/main" id="{604AC4DE-64B2-3BC2-40A9-E40B1ED2F854}"/>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cxnSp>
        <p:nvCxnSpPr>
          <p:cNvPr id="38" name="Straight Connector 37">
            <a:extLst>
              <a:ext uri="{FF2B5EF4-FFF2-40B4-BE49-F238E27FC236}">
                <a16:creationId xmlns:a16="http://schemas.microsoft.com/office/drawing/2014/main" id="{69B79A9D-3BB9-28CB-DB81-388848B76223}"/>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8E4AA66-FF94-07EE-0844-2958F888108D}"/>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575DF9B-B699-FB7E-4798-BDBA4CAA793A}"/>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timeline layout" descr="preencoded.png"/>
          <p:cNvPicPr>
            <a:picLocks noChangeAspect="1"/>
          </p:cNvPicPr>
          <p:nvPr/>
        </p:nvPicPr>
        <p:blipFill>
          <a:blip r:embed="rId2"/>
          <a:srcRect/>
          <a:stretch/>
        </p:blipFill>
        <p:spPr>
          <a:xfrm>
            <a:off x="6528108" y="1676400"/>
            <a:ext cx="11049000" cy="6619875"/>
          </a:xfrm>
          <a:prstGeom prst="rect">
            <a:avLst/>
          </a:prstGeom>
        </p:spPr>
      </p:pic>
      <p:pic>
        <p:nvPicPr>
          <p:cNvPr id="4" name="Group 1437253221" descr="preencoded.png"/>
          <p:cNvPicPr>
            <a:picLocks noChangeAspect="1"/>
          </p:cNvPicPr>
          <p:nvPr/>
        </p:nvPicPr>
        <p:blipFill>
          <a:blip>
            <a:extLst>
              <a:ext uri="{96DAC541-7B7A-43D3-8B79-37D633B846F1}">
                <asvg:svgBlip xmlns:asvg="http://schemas.microsoft.com/office/drawing/2016/SVG/main" r:embed="rId3"/>
              </a:ext>
            </a:extLst>
          </a:blip>
          <a:srcRect/>
          <a:stretch/>
        </p:blipFill>
        <p:spPr>
          <a:xfrm>
            <a:off x="7303565" y="4029387"/>
            <a:ext cx="10263271" cy="4047499"/>
          </a:xfrm>
          <a:prstGeom prst="rect">
            <a:avLst/>
          </a:prstGeom>
        </p:spPr>
      </p:pic>
      <p:sp>
        <p:nvSpPr>
          <p:cNvPr id="9" name="chart-title"/>
          <p:cNvSpPr/>
          <p:nvPr/>
        </p:nvSpPr>
        <p:spPr>
          <a:xfrm>
            <a:off x="794689" y="1990725"/>
            <a:ext cx="4019550" cy="2286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Trusted by 
global brands</a:t>
            </a:r>
            <a:endParaRPr lang="en-US" sz="4800" dirty="0"/>
          </a:p>
        </p:txBody>
      </p:sp>
      <p:sp>
        <p:nvSpPr>
          <p:cNvPr id="10" name="chart-body"/>
          <p:cNvSpPr/>
          <p:nvPr/>
        </p:nvSpPr>
        <p:spPr>
          <a:xfrm>
            <a:off x="794689" y="4581525"/>
            <a:ext cx="4019550" cy="1181100"/>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We help our clients transform innovative ideas into inspiring brands, amazing products and cutting-edge experiences that touch millions.</a:t>
            </a:r>
            <a:endParaRPr lang="en-US" sz="1800" dirty="0"/>
          </a:p>
        </p:txBody>
      </p:sp>
      <p:sp>
        <p:nvSpPr>
          <p:cNvPr id="11" name="Week 1"/>
          <p:cNvSpPr/>
          <p:nvPr/>
        </p:nvSpPr>
        <p:spPr>
          <a:xfrm>
            <a:off x="6438900" y="2190155"/>
            <a:ext cx="542925" cy="200025"/>
          </a:xfrm>
          <a:prstGeom prst="rect">
            <a:avLst/>
          </a:prstGeom>
          <a:noFill/>
          <a:ln/>
        </p:spPr>
        <p:txBody>
          <a:bodyPr wrap="square" lIns="0" tIns="0" rIns="0" bIns="0" rtlCol="0" anchor="t"/>
          <a:lstStyle/>
          <a:p>
            <a:pPr marL="0" indent="0" algn="l">
              <a:lnSpc>
                <a:spcPts val="1500"/>
              </a:lnSpc>
              <a:spcAft>
                <a:spcPts val="1200"/>
              </a:spcAft>
              <a:buNone/>
            </a:pPr>
            <a:r>
              <a:rPr lang="en-US" sz="1200" dirty="0">
                <a:solidFill>
                  <a:srgbClr val="8893A5"/>
                </a:solidFill>
                <a:latin typeface="Equip Regular" pitchFamily="34" charset="0"/>
                <a:ea typeface="Equip Regular" pitchFamily="34" charset="-122"/>
                <a:cs typeface="Equip Regular" pitchFamily="34" charset="-120"/>
              </a:rPr>
              <a:t>Week 1</a:t>
            </a:r>
            <a:endParaRPr lang="en-US" sz="1200" dirty="0"/>
          </a:p>
        </p:txBody>
      </p:sp>
      <p:sp>
        <p:nvSpPr>
          <p:cNvPr id="12" name="Week 2"/>
          <p:cNvSpPr/>
          <p:nvPr/>
        </p:nvSpPr>
        <p:spPr>
          <a:xfrm>
            <a:off x="6438900" y="2960489"/>
            <a:ext cx="542925" cy="200025"/>
          </a:xfrm>
          <a:prstGeom prst="rect">
            <a:avLst/>
          </a:prstGeom>
          <a:noFill/>
          <a:ln/>
        </p:spPr>
        <p:txBody>
          <a:bodyPr wrap="square" lIns="0" tIns="0" rIns="0" bIns="0" rtlCol="0" anchor="t"/>
          <a:lstStyle/>
          <a:p>
            <a:pPr marL="0" indent="0" algn="l">
              <a:lnSpc>
                <a:spcPts val="1500"/>
              </a:lnSpc>
              <a:spcAft>
                <a:spcPts val="1200"/>
              </a:spcAft>
              <a:buNone/>
            </a:pPr>
            <a:r>
              <a:rPr lang="en-US" sz="1200" dirty="0">
                <a:solidFill>
                  <a:srgbClr val="8893A5"/>
                </a:solidFill>
                <a:latin typeface="Equip Regular" pitchFamily="34" charset="0"/>
                <a:ea typeface="Equip Regular" pitchFamily="34" charset="-122"/>
                <a:cs typeface="Equip Regular" pitchFamily="34" charset="-120"/>
              </a:rPr>
              <a:t>Week 2</a:t>
            </a:r>
            <a:endParaRPr lang="en-US" sz="1200" dirty="0"/>
          </a:p>
        </p:txBody>
      </p:sp>
      <p:sp>
        <p:nvSpPr>
          <p:cNvPr id="13" name="Week 3"/>
          <p:cNvSpPr/>
          <p:nvPr/>
        </p:nvSpPr>
        <p:spPr>
          <a:xfrm>
            <a:off x="6438900" y="3730823"/>
            <a:ext cx="542925" cy="200025"/>
          </a:xfrm>
          <a:prstGeom prst="rect">
            <a:avLst/>
          </a:prstGeom>
          <a:noFill/>
          <a:ln/>
        </p:spPr>
        <p:txBody>
          <a:bodyPr wrap="square" lIns="0" tIns="0" rIns="0" bIns="0" rtlCol="0" anchor="t"/>
          <a:lstStyle/>
          <a:p>
            <a:pPr marL="0" indent="0" algn="l">
              <a:lnSpc>
                <a:spcPts val="1500"/>
              </a:lnSpc>
              <a:spcAft>
                <a:spcPts val="1200"/>
              </a:spcAft>
              <a:buNone/>
            </a:pPr>
            <a:r>
              <a:rPr lang="en-US" sz="1200" dirty="0">
                <a:solidFill>
                  <a:srgbClr val="8893A5"/>
                </a:solidFill>
                <a:latin typeface="Equip Regular" pitchFamily="34" charset="0"/>
                <a:ea typeface="Equip Regular" pitchFamily="34" charset="-122"/>
                <a:cs typeface="Equip Regular" pitchFamily="34" charset="-120"/>
              </a:rPr>
              <a:t>Week 3</a:t>
            </a:r>
            <a:endParaRPr lang="en-US" sz="1200" dirty="0"/>
          </a:p>
        </p:txBody>
      </p:sp>
      <p:sp>
        <p:nvSpPr>
          <p:cNvPr id="14" name="Week 4"/>
          <p:cNvSpPr/>
          <p:nvPr/>
        </p:nvSpPr>
        <p:spPr>
          <a:xfrm>
            <a:off x="6438900" y="4501158"/>
            <a:ext cx="542925" cy="200025"/>
          </a:xfrm>
          <a:prstGeom prst="rect">
            <a:avLst/>
          </a:prstGeom>
          <a:noFill/>
          <a:ln/>
        </p:spPr>
        <p:txBody>
          <a:bodyPr wrap="square" lIns="0" tIns="0" rIns="0" bIns="0" rtlCol="0" anchor="t"/>
          <a:lstStyle/>
          <a:p>
            <a:pPr marL="0" indent="0" algn="l">
              <a:lnSpc>
                <a:spcPts val="1500"/>
              </a:lnSpc>
              <a:spcAft>
                <a:spcPts val="1200"/>
              </a:spcAft>
              <a:buNone/>
            </a:pPr>
            <a:r>
              <a:rPr lang="en-US" sz="1200" dirty="0">
                <a:solidFill>
                  <a:srgbClr val="8893A5"/>
                </a:solidFill>
                <a:latin typeface="Equip Regular" pitchFamily="34" charset="0"/>
                <a:ea typeface="Equip Regular" pitchFamily="34" charset="-122"/>
                <a:cs typeface="Equip Regular" pitchFamily="34" charset="-120"/>
              </a:rPr>
              <a:t>Week 4</a:t>
            </a:r>
            <a:endParaRPr lang="en-US" sz="1200" dirty="0"/>
          </a:p>
        </p:txBody>
      </p:sp>
      <p:sp>
        <p:nvSpPr>
          <p:cNvPr id="15" name="Week 5"/>
          <p:cNvSpPr/>
          <p:nvPr/>
        </p:nvSpPr>
        <p:spPr>
          <a:xfrm>
            <a:off x="6438900" y="5271492"/>
            <a:ext cx="542925" cy="200025"/>
          </a:xfrm>
          <a:prstGeom prst="rect">
            <a:avLst/>
          </a:prstGeom>
          <a:noFill/>
          <a:ln/>
        </p:spPr>
        <p:txBody>
          <a:bodyPr wrap="square" lIns="0" tIns="0" rIns="0" bIns="0" rtlCol="0" anchor="t"/>
          <a:lstStyle/>
          <a:p>
            <a:pPr marL="0" indent="0" algn="l">
              <a:lnSpc>
                <a:spcPts val="1500"/>
              </a:lnSpc>
              <a:spcAft>
                <a:spcPts val="1200"/>
              </a:spcAft>
              <a:buNone/>
            </a:pPr>
            <a:r>
              <a:rPr lang="en-US" sz="1200" dirty="0">
                <a:solidFill>
                  <a:srgbClr val="8893A5"/>
                </a:solidFill>
                <a:latin typeface="Equip Regular" pitchFamily="34" charset="0"/>
                <a:ea typeface="Equip Regular" pitchFamily="34" charset="-122"/>
                <a:cs typeface="Equip Regular" pitchFamily="34" charset="-120"/>
              </a:rPr>
              <a:t>Week 5</a:t>
            </a:r>
            <a:endParaRPr lang="en-US" sz="1200" dirty="0"/>
          </a:p>
        </p:txBody>
      </p:sp>
      <p:sp>
        <p:nvSpPr>
          <p:cNvPr id="16" name="Week 6"/>
          <p:cNvSpPr/>
          <p:nvPr/>
        </p:nvSpPr>
        <p:spPr>
          <a:xfrm>
            <a:off x="6438900" y="6041827"/>
            <a:ext cx="542925" cy="200025"/>
          </a:xfrm>
          <a:prstGeom prst="rect">
            <a:avLst/>
          </a:prstGeom>
          <a:noFill/>
          <a:ln/>
        </p:spPr>
        <p:txBody>
          <a:bodyPr wrap="square" lIns="0" tIns="0" rIns="0" bIns="0" rtlCol="0" anchor="t"/>
          <a:lstStyle/>
          <a:p>
            <a:pPr marL="0" indent="0" algn="l">
              <a:lnSpc>
                <a:spcPts val="1500"/>
              </a:lnSpc>
              <a:spcAft>
                <a:spcPts val="1200"/>
              </a:spcAft>
              <a:buNone/>
            </a:pPr>
            <a:r>
              <a:rPr lang="en-US" sz="1200" dirty="0">
                <a:solidFill>
                  <a:srgbClr val="8893A5"/>
                </a:solidFill>
                <a:latin typeface="Equip Regular" pitchFamily="34" charset="0"/>
                <a:ea typeface="Equip Regular" pitchFamily="34" charset="-122"/>
                <a:cs typeface="Equip Regular" pitchFamily="34" charset="-120"/>
              </a:rPr>
              <a:t>Week 6</a:t>
            </a:r>
            <a:endParaRPr lang="en-US" sz="1200" dirty="0"/>
          </a:p>
        </p:txBody>
      </p:sp>
      <p:sp>
        <p:nvSpPr>
          <p:cNvPr id="17" name="Week 7"/>
          <p:cNvSpPr/>
          <p:nvPr/>
        </p:nvSpPr>
        <p:spPr>
          <a:xfrm>
            <a:off x="6438900" y="6812161"/>
            <a:ext cx="542925" cy="200025"/>
          </a:xfrm>
          <a:prstGeom prst="rect">
            <a:avLst/>
          </a:prstGeom>
          <a:noFill/>
          <a:ln/>
        </p:spPr>
        <p:txBody>
          <a:bodyPr wrap="square" lIns="0" tIns="0" rIns="0" bIns="0" rtlCol="0" anchor="t"/>
          <a:lstStyle/>
          <a:p>
            <a:pPr marL="0" indent="0" algn="l">
              <a:lnSpc>
                <a:spcPts val="1500"/>
              </a:lnSpc>
              <a:spcAft>
                <a:spcPts val="1200"/>
              </a:spcAft>
              <a:buNone/>
            </a:pPr>
            <a:r>
              <a:rPr lang="en-US" sz="1200" dirty="0">
                <a:solidFill>
                  <a:srgbClr val="8893A5"/>
                </a:solidFill>
                <a:latin typeface="Equip Regular" pitchFamily="34" charset="0"/>
                <a:ea typeface="Equip Regular" pitchFamily="34" charset="-122"/>
                <a:cs typeface="Equip Regular" pitchFamily="34" charset="-120"/>
              </a:rPr>
              <a:t>Week 7</a:t>
            </a:r>
            <a:endParaRPr lang="en-US" sz="1200" dirty="0"/>
          </a:p>
        </p:txBody>
      </p:sp>
      <p:sp>
        <p:nvSpPr>
          <p:cNvPr id="18" name="Week 8"/>
          <p:cNvSpPr/>
          <p:nvPr/>
        </p:nvSpPr>
        <p:spPr>
          <a:xfrm>
            <a:off x="6438900" y="7582495"/>
            <a:ext cx="542925" cy="200025"/>
          </a:xfrm>
          <a:prstGeom prst="rect">
            <a:avLst/>
          </a:prstGeom>
          <a:noFill/>
          <a:ln/>
        </p:spPr>
        <p:txBody>
          <a:bodyPr wrap="square" lIns="0" tIns="0" rIns="0" bIns="0" rtlCol="0" anchor="t"/>
          <a:lstStyle/>
          <a:p>
            <a:pPr marL="0" indent="0" algn="l">
              <a:lnSpc>
                <a:spcPts val="1500"/>
              </a:lnSpc>
              <a:spcAft>
                <a:spcPts val="1200"/>
              </a:spcAft>
              <a:buNone/>
            </a:pPr>
            <a:r>
              <a:rPr lang="en-US" sz="1200" dirty="0">
                <a:solidFill>
                  <a:srgbClr val="8893A5"/>
                </a:solidFill>
                <a:latin typeface="Equip Regular" pitchFamily="34" charset="0"/>
                <a:ea typeface="Equip Regular" pitchFamily="34" charset="-122"/>
                <a:cs typeface="Equip Regular" pitchFamily="34" charset="-120"/>
              </a:rPr>
              <a:t>Week 8</a:t>
            </a:r>
            <a:endParaRPr lang="en-US" sz="1200" dirty="0"/>
          </a:p>
        </p:txBody>
      </p:sp>
      <p:sp>
        <p:nvSpPr>
          <p:cNvPr id="19" name="stat-label"/>
          <p:cNvSpPr/>
          <p:nvPr/>
        </p:nvSpPr>
        <p:spPr>
          <a:xfrm>
            <a:off x="16948150" y="6810375"/>
            <a:ext cx="6191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47D7AC"/>
                </a:solidFill>
                <a:latin typeface="Equip Extended Regular" pitchFamily="34" charset="0"/>
                <a:ea typeface="Equip Extended Regular" pitchFamily="34" charset="-122"/>
                <a:cs typeface="Equip Extended Regular" pitchFamily="34" charset="-120"/>
              </a:rPr>
              <a:t>Growth</a:t>
            </a:r>
            <a:endParaRPr lang="en-US" sz="1200" dirty="0"/>
          </a:p>
        </p:txBody>
      </p:sp>
      <p:sp>
        <p:nvSpPr>
          <p:cNvPr id="20" name="stat-value"/>
          <p:cNvSpPr/>
          <p:nvPr/>
        </p:nvSpPr>
        <p:spPr>
          <a:xfrm>
            <a:off x="14224635" y="7038975"/>
            <a:ext cx="3343275" cy="914400"/>
          </a:xfrm>
          <a:prstGeom prst="rect">
            <a:avLst/>
          </a:prstGeom>
          <a:noFill/>
          <a:ln/>
        </p:spPr>
        <p:txBody>
          <a:bodyPr wrap="square" lIns="0" tIns="0" rIns="0" bIns="0" rtlCol="0" anchor="t"/>
          <a:lstStyle/>
          <a:p>
            <a:pPr marL="0" indent="0" algn="l">
              <a:lnSpc>
                <a:spcPts val="7200"/>
              </a:lnSpc>
              <a:buNone/>
            </a:pPr>
            <a:r>
              <a:rPr lang="en-US" sz="7200" kern="0" spc="-112" dirty="0">
                <a:solidFill>
                  <a:srgbClr val="47D7AC"/>
                </a:solidFill>
                <a:latin typeface="Equip Extended Medium" pitchFamily="34" charset="0"/>
                <a:ea typeface="Equip Extended Medium" pitchFamily="34" charset="-122"/>
                <a:cs typeface="Equip Extended Medium" pitchFamily="34" charset="-120"/>
              </a:rPr>
              <a:t>+132%</a:t>
            </a:r>
            <a:endParaRPr lang="en-US" sz="7200" dirty="0"/>
          </a:p>
        </p:txBody>
      </p:sp>
      <p:sp>
        <p:nvSpPr>
          <p:cNvPr id="2" name="Digital Design Strategy">
            <a:extLst>
              <a:ext uri="{FF2B5EF4-FFF2-40B4-BE49-F238E27FC236}">
                <a16:creationId xmlns:a16="http://schemas.microsoft.com/office/drawing/2014/main" id="{1A492213-9C80-EF9A-625E-8B4D10E3EDC9}"/>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5" name="Project Name">
            <a:extLst>
              <a:ext uri="{FF2B5EF4-FFF2-40B4-BE49-F238E27FC236}">
                <a16:creationId xmlns:a16="http://schemas.microsoft.com/office/drawing/2014/main" id="{50F54520-C210-D8D4-6377-55BF8DEE4BA2}"/>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6" name="Month Year">
            <a:extLst>
              <a:ext uri="{FF2B5EF4-FFF2-40B4-BE49-F238E27FC236}">
                <a16:creationId xmlns:a16="http://schemas.microsoft.com/office/drawing/2014/main" id="{F34F83A4-BE6F-5649-CCEE-28315AD5420E}"/>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7" name="2026">
            <a:extLst>
              <a:ext uri="{FF2B5EF4-FFF2-40B4-BE49-F238E27FC236}">
                <a16:creationId xmlns:a16="http://schemas.microsoft.com/office/drawing/2014/main" id="{93530133-319B-B6D4-86CD-E046472959CF}"/>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8" name="Graphic 7">
            <a:extLst>
              <a:ext uri="{FF2B5EF4-FFF2-40B4-BE49-F238E27FC236}">
                <a16:creationId xmlns:a16="http://schemas.microsoft.com/office/drawing/2014/main" id="{8D738483-D2B7-3817-DAEE-636E6B4FD1E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2730" y="101077"/>
            <a:ext cx="2198820" cy="1649115"/>
          </a:xfrm>
          <a:prstGeom prst="rect">
            <a:avLst/>
          </a:prstGeom>
        </p:spPr>
      </p:pic>
      <p:cxnSp>
        <p:nvCxnSpPr>
          <p:cNvPr id="29" name="Straight Connector 28">
            <a:extLst>
              <a:ext uri="{FF2B5EF4-FFF2-40B4-BE49-F238E27FC236}">
                <a16:creationId xmlns:a16="http://schemas.microsoft.com/office/drawing/2014/main" id="{6B2F4BEC-E209-E36A-7350-275D23E3FD86}"/>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0E3EDC6-05BC-E491-C154-EB4066F71287}"/>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044E890-614B-0029-CF5D-B239546AADBB}"/>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graph" descr="preencoded.png"/>
          <p:cNvPicPr>
            <a:picLocks noChangeAspect="1"/>
          </p:cNvPicPr>
          <p:nvPr/>
        </p:nvPicPr>
        <p:blipFill>
          <a:blip r:embed="rId2"/>
          <a:srcRect/>
          <a:stretch/>
        </p:blipFill>
        <p:spPr>
          <a:xfrm>
            <a:off x="8839405" y="1504950"/>
            <a:ext cx="5319740" cy="7466205"/>
          </a:xfrm>
          <a:prstGeom prst="rect">
            <a:avLst/>
          </a:prstGeom>
        </p:spPr>
      </p:pic>
      <p:sp>
        <p:nvSpPr>
          <p:cNvPr id="8" name="chart-title"/>
          <p:cNvSpPr/>
          <p:nvPr/>
        </p:nvSpPr>
        <p:spPr>
          <a:xfrm>
            <a:off x="791824" y="2571750"/>
            <a:ext cx="6838950" cy="2286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Systems That Scale Across Brands, Stores, and Experiences</a:t>
            </a:r>
            <a:endParaRPr lang="en-US" sz="4800" dirty="0"/>
          </a:p>
        </p:txBody>
      </p:sp>
      <p:sp>
        <p:nvSpPr>
          <p:cNvPr id="9" name="body"/>
          <p:cNvSpPr/>
          <p:nvPr/>
        </p:nvSpPr>
        <p:spPr>
          <a:xfrm>
            <a:off x="791824" y="5238750"/>
            <a:ext cx="6838950" cy="1771650"/>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The design system is the central mechanism through which YOU can scale multiple stores, campaigns, and future experiences without repeatedly reinventing interface patterns. 
The design system acts as a business asset: something that reduces rework, speeds iteration, increases consistency, and makes future complexity manageable.  </a:t>
            </a:r>
            <a:endParaRPr lang="en-US" sz="1800" dirty="0"/>
          </a:p>
        </p:txBody>
      </p:sp>
      <p:sp>
        <p:nvSpPr>
          <p:cNvPr id="10" name="Experience"/>
          <p:cNvSpPr/>
          <p:nvPr/>
        </p:nvSpPr>
        <p:spPr>
          <a:xfrm>
            <a:off x="14392275" y="2124075"/>
            <a:ext cx="2600325" cy="190500"/>
          </a:xfrm>
          <a:prstGeom prst="rect">
            <a:avLst/>
          </a:prstGeom>
          <a:noFill/>
          <a:ln/>
        </p:spPr>
        <p:txBody>
          <a:bodyPr wrap="square" lIns="0" tIns="0" rIns="0" bIns="0" rtlCol="0" anchor="t"/>
          <a:lstStyle/>
          <a:p>
            <a:pPr marL="0" indent="0" algn="l">
              <a:lnSpc>
                <a:spcPts val="1500"/>
              </a:lnSpc>
              <a:spcAft>
                <a:spcPts val="1500"/>
              </a:spcAft>
              <a:buNone/>
            </a:pPr>
            <a:r>
              <a:rPr lang="en-US" sz="1200" b="1" dirty="0">
                <a:solidFill>
                  <a:srgbClr val="010716"/>
                </a:solidFill>
                <a:latin typeface="Equip Extended Bold" pitchFamily="34" charset="0"/>
                <a:ea typeface="Equip Extended Bold" pitchFamily="34" charset="-122"/>
                <a:cs typeface="Equip Extended Bold" pitchFamily="34" charset="-120"/>
              </a:rPr>
              <a:t>Experience</a:t>
            </a:r>
            <a:endParaRPr lang="en-US" sz="1200" dirty="0"/>
          </a:p>
        </p:txBody>
      </p:sp>
      <p:sp>
        <p:nvSpPr>
          <p:cNvPr id="11" name="label"/>
          <p:cNvSpPr/>
          <p:nvPr/>
        </p:nvSpPr>
        <p:spPr>
          <a:xfrm>
            <a:off x="14392275" y="2314575"/>
            <a:ext cx="3114675" cy="200025"/>
          </a:xfrm>
          <a:prstGeom prst="rect">
            <a:avLst/>
          </a:prstGeom>
          <a:noFill/>
          <a:ln/>
        </p:spPr>
        <p:txBody>
          <a:bodyPr wrap="square" lIns="0" tIns="0" rIns="0" bIns="0" rtlCol="0" anchor="t"/>
          <a:lstStyle/>
          <a:p>
            <a:pPr marL="0" indent="0" algn="l">
              <a:lnSpc>
                <a:spcPts val="1500"/>
              </a:lnSpc>
              <a:spcAft>
                <a:spcPts val="1200"/>
              </a:spcAft>
              <a:buNone/>
            </a:pPr>
            <a:r>
              <a:rPr lang="en-US" sz="1200" dirty="0">
                <a:solidFill>
                  <a:srgbClr val="4E5E78"/>
                </a:solidFill>
                <a:latin typeface="Equip Regular" pitchFamily="34" charset="0"/>
                <a:ea typeface="Equip Regular" pitchFamily="34" charset="-122"/>
                <a:cs typeface="Equip Regular" pitchFamily="34" charset="-120"/>
              </a:rPr>
              <a:t>What the user experiences</a:t>
            </a:r>
            <a:endParaRPr lang="en-US" sz="1200" dirty="0"/>
          </a:p>
        </p:txBody>
      </p:sp>
      <p:sp>
        <p:nvSpPr>
          <p:cNvPr id="12" name="Governance"/>
          <p:cNvSpPr/>
          <p:nvPr/>
        </p:nvSpPr>
        <p:spPr>
          <a:xfrm>
            <a:off x="14392275" y="3038475"/>
            <a:ext cx="2600325" cy="190500"/>
          </a:xfrm>
          <a:prstGeom prst="rect">
            <a:avLst/>
          </a:prstGeom>
          <a:noFill/>
          <a:ln/>
        </p:spPr>
        <p:txBody>
          <a:bodyPr wrap="square" lIns="0" tIns="0" rIns="0" bIns="0" rtlCol="0" anchor="t"/>
          <a:lstStyle/>
          <a:p>
            <a:pPr marL="0" indent="0" algn="l">
              <a:lnSpc>
                <a:spcPts val="1500"/>
              </a:lnSpc>
              <a:spcAft>
                <a:spcPts val="1500"/>
              </a:spcAft>
              <a:buNone/>
            </a:pPr>
            <a:r>
              <a:rPr lang="en-US" sz="1200" b="1" dirty="0">
                <a:solidFill>
                  <a:srgbClr val="010716"/>
                </a:solidFill>
                <a:latin typeface="Equip Extended Bold" pitchFamily="34" charset="0"/>
                <a:ea typeface="Equip Extended Bold" pitchFamily="34" charset="-122"/>
                <a:cs typeface="Equip Extended Bold" pitchFamily="34" charset="-120"/>
              </a:rPr>
              <a:t>Governance</a:t>
            </a:r>
            <a:endParaRPr lang="en-US" sz="1200" dirty="0"/>
          </a:p>
        </p:txBody>
      </p:sp>
      <p:sp>
        <p:nvSpPr>
          <p:cNvPr id="13" name="label"/>
          <p:cNvSpPr/>
          <p:nvPr/>
        </p:nvSpPr>
        <p:spPr>
          <a:xfrm>
            <a:off x="14392275" y="3228975"/>
            <a:ext cx="3114675" cy="400050"/>
          </a:xfrm>
          <a:prstGeom prst="rect">
            <a:avLst/>
          </a:prstGeom>
          <a:noFill/>
          <a:ln/>
        </p:spPr>
        <p:txBody>
          <a:bodyPr wrap="square" lIns="0" tIns="0" rIns="0" bIns="0" rtlCol="0" anchor="t"/>
          <a:lstStyle/>
          <a:p>
            <a:pPr marL="0" indent="0" algn="l">
              <a:lnSpc>
                <a:spcPts val="1500"/>
              </a:lnSpc>
              <a:spcAft>
                <a:spcPts val="1200"/>
              </a:spcAft>
              <a:buNone/>
            </a:pPr>
            <a:r>
              <a:rPr lang="en-US" sz="1200" dirty="0">
                <a:solidFill>
                  <a:srgbClr val="4E5E78"/>
                </a:solidFill>
                <a:latin typeface="Equip Regular" pitchFamily="34" charset="0"/>
                <a:ea typeface="Equip Regular" pitchFamily="34" charset="-122"/>
                <a:cs typeface="Equip Regular" pitchFamily="34" charset="-120"/>
              </a:rPr>
              <a:t>Documentation to Ensure Maintenance and Scalability</a:t>
            </a:r>
            <a:endParaRPr lang="en-US" sz="1200" dirty="0"/>
          </a:p>
        </p:txBody>
      </p:sp>
      <p:sp>
        <p:nvSpPr>
          <p:cNvPr id="14" name="Patterns"/>
          <p:cNvSpPr/>
          <p:nvPr/>
        </p:nvSpPr>
        <p:spPr>
          <a:xfrm>
            <a:off x="14392275" y="3943350"/>
            <a:ext cx="2600325" cy="190500"/>
          </a:xfrm>
          <a:prstGeom prst="rect">
            <a:avLst/>
          </a:prstGeom>
          <a:noFill/>
          <a:ln/>
        </p:spPr>
        <p:txBody>
          <a:bodyPr wrap="square" lIns="0" tIns="0" rIns="0" bIns="0" rtlCol="0" anchor="t"/>
          <a:lstStyle/>
          <a:p>
            <a:pPr marL="0" indent="0" algn="l">
              <a:lnSpc>
                <a:spcPts val="1500"/>
              </a:lnSpc>
              <a:spcAft>
                <a:spcPts val="1500"/>
              </a:spcAft>
              <a:buNone/>
            </a:pPr>
            <a:r>
              <a:rPr lang="en-US" sz="1200" b="1" dirty="0">
                <a:solidFill>
                  <a:srgbClr val="010716"/>
                </a:solidFill>
                <a:latin typeface="Equip Extended Bold" pitchFamily="34" charset="0"/>
                <a:ea typeface="Equip Extended Bold" pitchFamily="34" charset="-122"/>
                <a:cs typeface="Equip Extended Bold" pitchFamily="34" charset="-120"/>
              </a:rPr>
              <a:t>Patterns</a:t>
            </a:r>
            <a:endParaRPr lang="en-US" sz="1200" dirty="0"/>
          </a:p>
        </p:txBody>
      </p:sp>
      <p:sp>
        <p:nvSpPr>
          <p:cNvPr id="15" name="label"/>
          <p:cNvSpPr/>
          <p:nvPr/>
        </p:nvSpPr>
        <p:spPr>
          <a:xfrm>
            <a:off x="14392275" y="4133850"/>
            <a:ext cx="3114675" cy="200025"/>
          </a:xfrm>
          <a:prstGeom prst="rect">
            <a:avLst/>
          </a:prstGeom>
          <a:noFill/>
          <a:ln/>
        </p:spPr>
        <p:txBody>
          <a:bodyPr wrap="square" lIns="0" tIns="0" rIns="0" bIns="0" rtlCol="0" anchor="t"/>
          <a:lstStyle/>
          <a:p>
            <a:pPr marL="0" indent="0" algn="l">
              <a:lnSpc>
                <a:spcPts val="1500"/>
              </a:lnSpc>
              <a:spcAft>
                <a:spcPts val="1200"/>
              </a:spcAft>
              <a:buNone/>
            </a:pPr>
            <a:r>
              <a:rPr lang="en-US" sz="1200" dirty="0">
                <a:solidFill>
                  <a:srgbClr val="4E5E78"/>
                </a:solidFill>
                <a:latin typeface="Equip Regular" pitchFamily="34" charset="0"/>
                <a:ea typeface="Equip Regular" pitchFamily="34" charset="-122"/>
                <a:cs typeface="Equip Regular" pitchFamily="34" charset="-120"/>
              </a:rPr>
              <a:t>Modules that become structured flows</a:t>
            </a:r>
            <a:endParaRPr lang="en-US" sz="1200" dirty="0"/>
          </a:p>
        </p:txBody>
      </p:sp>
      <p:sp>
        <p:nvSpPr>
          <p:cNvPr id="16" name="Components"/>
          <p:cNvSpPr/>
          <p:nvPr/>
        </p:nvSpPr>
        <p:spPr>
          <a:xfrm>
            <a:off x="14392275" y="4857750"/>
            <a:ext cx="2600325" cy="190500"/>
          </a:xfrm>
          <a:prstGeom prst="rect">
            <a:avLst/>
          </a:prstGeom>
          <a:noFill/>
          <a:ln/>
        </p:spPr>
        <p:txBody>
          <a:bodyPr wrap="square" lIns="0" tIns="0" rIns="0" bIns="0" rtlCol="0" anchor="t"/>
          <a:lstStyle/>
          <a:p>
            <a:pPr marL="0" indent="0" algn="l">
              <a:lnSpc>
                <a:spcPts val="1500"/>
              </a:lnSpc>
              <a:spcAft>
                <a:spcPts val="1500"/>
              </a:spcAft>
              <a:buNone/>
            </a:pPr>
            <a:r>
              <a:rPr lang="en-US" sz="1200" b="1" dirty="0">
                <a:solidFill>
                  <a:srgbClr val="010716"/>
                </a:solidFill>
                <a:latin typeface="Equip Extended Bold" pitchFamily="34" charset="0"/>
                <a:ea typeface="Equip Extended Bold" pitchFamily="34" charset="-122"/>
                <a:cs typeface="Equip Extended Bold" pitchFamily="34" charset="-120"/>
              </a:rPr>
              <a:t>Components</a:t>
            </a:r>
            <a:endParaRPr lang="en-US" sz="1200" dirty="0"/>
          </a:p>
        </p:txBody>
      </p:sp>
      <p:sp>
        <p:nvSpPr>
          <p:cNvPr id="17" name="label"/>
          <p:cNvSpPr/>
          <p:nvPr/>
        </p:nvSpPr>
        <p:spPr>
          <a:xfrm>
            <a:off x="14392275" y="5048250"/>
            <a:ext cx="3114675" cy="200025"/>
          </a:xfrm>
          <a:prstGeom prst="rect">
            <a:avLst/>
          </a:prstGeom>
          <a:noFill/>
          <a:ln/>
        </p:spPr>
        <p:txBody>
          <a:bodyPr wrap="square" lIns="0" tIns="0" rIns="0" bIns="0" rtlCol="0" anchor="t"/>
          <a:lstStyle/>
          <a:p>
            <a:pPr marL="0" indent="0" algn="l">
              <a:lnSpc>
                <a:spcPts val="1500"/>
              </a:lnSpc>
              <a:spcAft>
                <a:spcPts val="1200"/>
              </a:spcAft>
              <a:buNone/>
            </a:pPr>
            <a:r>
              <a:rPr lang="en-US" sz="1200" dirty="0">
                <a:solidFill>
                  <a:srgbClr val="4E5E78"/>
                </a:solidFill>
                <a:latin typeface="Equip Regular" pitchFamily="34" charset="0"/>
                <a:ea typeface="Equip Regular" pitchFamily="34" charset="-122"/>
                <a:cs typeface="Equip Regular" pitchFamily="34" charset="-120"/>
              </a:rPr>
              <a:t>Rules manifested as UI Modules</a:t>
            </a:r>
            <a:endParaRPr lang="en-US" sz="1200" dirty="0"/>
          </a:p>
        </p:txBody>
      </p:sp>
      <p:sp>
        <p:nvSpPr>
          <p:cNvPr id="18" name="Motion"/>
          <p:cNvSpPr/>
          <p:nvPr/>
        </p:nvSpPr>
        <p:spPr>
          <a:xfrm>
            <a:off x="14392275" y="5762625"/>
            <a:ext cx="2600325" cy="190500"/>
          </a:xfrm>
          <a:prstGeom prst="rect">
            <a:avLst/>
          </a:prstGeom>
          <a:noFill/>
          <a:ln/>
        </p:spPr>
        <p:txBody>
          <a:bodyPr wrap="square" lIns="0" tIns="0" rIns="0" bIns="0" rtlCol="0" anchor="t"/>
          <a:lstStyle/>
          <a:p>
            <a:pPr marL="0" indent="0" algn="l">
              <a:lnSpc>
                <a:spcPts val="1500"/>
              </a:lnSpc>
              <a:spcAft>
                <a:spcPts val="1500"/>
              </a:spcAft>
              <a:buNone/>
            </a:pPr>
            <a:r>
              <a:rPr lang="en-US" sz="1200" b="1" dirty="0">
                <a:solidFill>
                  <a:srgbClr val="010716"/>
                </a:solidFill>
                <a:latin typeface="Equip Extended Bold" pitchFamily="34" charset="0"/>
                <a:ea typeface="Equip Extended Bold" pitchFamily="34" charset="-122"/>
                <a:cs typeface="Equip Extended Bold" pitchFamily="34" charset="-120"/>
              </a:rPr>
              <a:t>Motion</a:t>
            </a:r>
            <a:endParaRPr lang="en-US" sz="1200" dirty="0"/>
          </a:p>
        </p:txBody>
      </p:sp>
      <p:sp>
        <p:nvSpPr>
          <p:cNvPr id="19" name="label"/>
          <p:cNvSpPr/>
          <p:nvPr/>
        </p:nvSpPr>
        <p:spPr>
          <a:xfrm>
            <a:off x="14392275" y="5953125"/>
            <a:ext cx="3114675" cy="400050"/>
          </a:xfrm>
          <a:prstGeom prst="rect">
            <a:avLst/>
          </a:prstGeom>
          <a:noFill/>
          <a:ln/>
        </p:spPr>
        <p:txBody>
          <a:bodyPr wrap="square" lIns="0" tIns="0" rIns="0" bIns="0" rtlCol="0" anchor="t"/>
          <a:lstStyle/>
          <a:p>
            <a:pPr marL="0" indent="0" algn="l">
              <a:lnSpc>
                <a:spcPts val="1500"/>
              </a:lnSpc>
              <a:spcAft>
                <a:spcPts val="1200"/>
              </a:spcAft>
              <a:buNone/>
            </a:pPr>
            <a:r>
              <a:rPr lang="en-US" sz="1200" dirty="0">
                <a:solidFill>
                  <a:srgbClr val="4E5E78"/>
                </a:solidFill>
                <a:latin typeface="Equip Regular" pitchFamily="34" charset="0"/>
                <a:ea typeface="Equip Regular" pitchFamily="34" charset="-122"/>
                <a:cs typeface="Equip Regular" pitchFamily="34" charset="-120"/>
              </a:rPr>
              <a:t>Rules expressed through interaction and Transition</a:t>
            </a:r>
            <a:endParaRPr lang="en-US" sz="1200" dirty="0"/>
          </a:p>
        </p:txBody>
      </p:sp>
      <p:sp>
        <p:nvSpPr>
          <p:cNvPr id="20" name="Tokens"/>
          <p:cNvSpPr/>
          <p:nvPr/>
        </p:nvSpPr>
        <p:spPr>
          <a:xfrm>
            <a:off x="14392275" y="6677025"/>
            <a:ext cx="2600325" cy="190500"/>
          </a:xfrm>
          <a:prstGeom prst="rect">
            <a:avLst/>
          </a:prstGeom>
          <a:noFill/>
          <a:ln/>
        </p:spPr>
        <p:txBody>
          <a:bodyPr wrap="square" lIns="0" tIns="0" rIns="0" bIns="0" rtlCol="0" anchor="t"/>
          <a:lstStyle/>
          <a:p>
            <a:pPr marL="0" indent="0" algn="l">
              <a:lnSpc>
                <a:spcPts val="1500"/>
              </a:lnSpc>
              <a:spcAft>
                <a:spcPts val="1500"/>
              </a:spcAft>
              <a:buNone/>
            </a:pPr>
            <a:r>
              <a:rPr lang="en-US" sz="1200" b="1" dirty="0">
                <a:solidFill>
                  <a:srgbClr val="010716"/>
                </a:solidFill>
                <a:latin typeface="Equip Extended Bold" pitchFamily="34" charset="0"/>
                <a:ea typeface="Equip Extended Bold" pitchFamily="34" charset="-122"/>
                <a:cs typeface="Equip Extended Bold" pitchFamily="34" charset="-120"/>
              </a:rPr>
              <a:t>Tokens</a:t>
            </a:r>
            <a:endParaRPr lang="en-US" sz="1200" dirty="0"/>
          </a:p>
        </p:txBody>
      </p:sp>
      <p:sp>
        <p:nvSpPr>
          <p:cNvPr id="21" name="label"/>
          <p:cNvSpPr/>
          <p:nvPr/>
        </p:nvSpPr>
        <p:spPr>
          <a:xfrm>
            <a:off x="14392275" y="6867525"/>
            <a:ext cx="3114675" cy="400050"/>
          </a:xfrm>
          <a:prstGeom prst="rect">
            <a:avLst/>
          </a:prstGeom>
          <a:noFill/>
          <a:ln/>
        </p:spPr>
        <p:txBody>
          <a:bodyPr wrap="square" lIns="0" tIns="0" rIns="0" bIns="0" rtlCol="0" anchor="t"/>
          <a:lstStyle/>
          <a:p>
            <a:pPr marL="0" indent="0" algn="l">
              <a:lnSpc>
                <a:spcPts val="1500"/>
              </a:lnSpc>
              <a:spcAft>
                <a:spcPts val="1200"/>
              </a:spcAft>
              <a:buNone/>
            </a:pPr>
            <a:r>
              <a:rPr lang="en-US" sz="1200" dirty="0">
                <a:solidFill>
                  <a:srgbClr val="4E5E78"/>
                </a:solidFill>
                <a:latin typeface="Equip Regular" pitchFamily="34" charset="0"/>
                <a:ea typeface="Equip Regular" pitchFamily="34" charset="-122"/>
                <a:cs typeface="Equip Regular" pitchFamily="34" charset="-120"/>
              </a:rPr>
              <a:t>Design Decisions per Brand, Store and Device that translate into rules</a:t>
            </a:r>
            <a:endParaRPr lang="en-US" sz="1200" dirty="0"/>
          </a:p>
        </p:txBody>
      </p:sp>
      <p:pic>
        <p:nvPicPr>
          <p:cNvPr id="2" name="Graphic 1">
            <a:extLst>
              <a:ext uri="{FF2B5EF4-FFF2-40B4-BE49-F238E27FC236}">
                <a16:creationId xmlns:a16="http://schemas.microsoft.com/office/drawing/2014/main" id="{DA6ACE3A-D962-624E-ADFE-41B36C85FE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730" y="101077"/>
            <a:ext cx="2198820" cy="1649115"/>
          </a:xfrm>
          <a:prstGeom prst="rect">
            <a:avLst/>
          </a:prstGeom>
        </p:spPr>
      </p:pic>
      <p:sp>
        <p:nvSpPr>
          <p:cNvPr id="4" name="Digital Design Strategy">
            <a:extLst>
              <a:ext uri="{FF2B5EF4-FFF2-40B4-BE49-F238E27FC236}">
                <a16:creationId xmlns:a16="http://schemas.microsoft.com/office/drawing/2014/main" id="{408A7E68-4247-98D7-C3BB-0BAD4F9CE14E}"/>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5" name="Project Name">
            <a:extLst>
              <a:ext uri="{FF2B5EF4-FFF2-40B4-BE49-F238E27FC236}">
                <a16:creationId xmlns:a16="http://schemas.microsoft.com/office/drawing/2014/main" id="{8C3853C1-9F71-6CC5-6D00-9DC26F42B67F}"/>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6" name="Month Year">
            <a:extLst>
              <a:ext uri="{FF2B5EF4-FFF2-40B4-BE49-F238E27FC236}">
                <a16:creationId xmlns:a16="http://schemas.microsoft.com/office/drawing/2014/main" id="{4B00A3E2-4B29-2744-8E53-2FE256996F41}"/>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7" name="2026">
            <a:extLst>
              <a:ext uri="{FF2B5EF4-FFF2-40B4-BE49-F238E27FC236}">
                <a16:creationId xmlns:a16="http://schemas.microsoft.com/office/drawing/2014/main" id="{33E3EF26-0B8B-189C-C822-D246C38335F6}"/>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cxnSp>
        <p:nvCxnSpPr>
          <p:cNvPr id="30" name="Straight Connector 29">
            <a:extLst>
              <a:ext uri="{FF2B5EF4-FFF2-40B4-BE49-F238E27FC236}">
                <a16:creationId xmlns:a16="http://schemas.microsoft.com/office/drawing/2014/main" id="{56334E7C-5B8F-8DC2-45EB-8789B2418CCB}"/>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CB76E77-047A-EC98-E0D5-89AD91FC6118}"/>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77A1F16-4C05-B64D-995C-C68E17A11729}"/>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graph" descr="preencoded.png"/>
          <p:cNvPicPr>
            <a:picLocks noChangeAspect="1"/>
          </p:cNvPicPr>
          <p:nvPr/>
        </p:nvPicPr>
        <p:blipFill>
          <a:blip>
            <a:extLst>
              <a:ext uri="{96DAC541-7B7A-43D3-8B79-37D633B846F1}">
                <asvg:svgBlip xmlns:asvg="http://schemas.microsoft.com/office/drawing/2016/SVG/main" r:embed="rId2"/>
              </a:ext>
            </a:extLst>
          </a:blip>
          <a:srcRect/>
          <a:stretch/>
        </p:blipFill>
        <p:spPr>
          <a:xfrm>
            <a:off x="9958388" y="1495425"/>
            <a:ext cx="7610475" cy="6877050"/>
          </a:xfrm>
          <a:prstGeom prst="rect">
            <a:avLst/>
          </a:prstGeom>
        </p:spPr>
      </p:pic>
      <p:sp>
        <p:nvSpPr>
          <p:cNvPr id="8" name="chart-title"/>
          <p:cNvSpPr/>
          <p:nvPr/>
        </p:nvSpPr>
        <p:spPr>
          <a:xfrm>
            <a:off x="796610" y="2571750"/>
            <a:ext cx="6838950" cy="2286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Lorem ipsum dolor sit amet, consectetur adipiscing elit. </a:t>
            </a:r>
            <a:endParaRPr lang="en-US" sz="4800" dirty="0"/>
          </a:p>
        </p:txBody>
      </p:sp>
      <p:sp>
        <p:nvSpPr>
          <p:cNvPr id="9" name="chart-body"/>
          <p:cNvSpPr/>
          <p:nvPr/>
        </p:nvSpPr>
        <p:spPr>
          <a:xfrm>
            <a:off x="796610" y="5238750"/>
            <a:ext cx="6838950" cy="2066925"/>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Lorem ipsum dolor sit amet, consectetur adipiscing elit.  Etiam eget ligula eu lectus lobortis condimentum. Aliquam nonummy auctor massa. Pellentesque habitant morbi tristique senectus et netus et  malesuada fames ac turpis egestas. Nulla at risus. Quisque purus magna,  auctor et, sagittis ac, posuere eu, lectus. Nam mattis, felis ut  adipiscing.Lorem ipsum dolor sit amet, consectetur adipiscing elit.  Etiam eget ligula eu lectus lobortis condimentum. </a:t>
            </a:r>
            <a:endParaRPr lang="en-US" sz="1800" dirty="0"/>
          </a:p>
        </p:txBody>
      </p:sp>
      <p:sp>
        <p:nvSpPr>
          <p:cNvPr id="10" name="venn-1-label"/>
          <p:cNvSpPr/>
          <p:nvPr/>
        </p:nvSpPr>
        <p:spPr>
          <a:xfrm>
            <a:off x="13463588" y="4305587"/>
            <a:ext cx="647838" cy="304831"/>
          </a:xfrm>
          <a:prstGeom prst="rect">
            <a:avLst/>
          </a:prstGeom>
          <a:noFill/>
          <a:ln/>
        </p:spPr>
        <p:txBody>
          <a:bodyPr wrap="square" lIns="0" tIns="0" rIns="0" bIns="0" rtlCol="0" anchor="t"/>
          <a:lstStyle/>
          <a:p>
            <a:pPr marL="0" indent="0" algn="ctr">
              <a:lnSpc>
                <a:spcPts val="2400"/>
              </a:lnSpc>
              <a:buNone/>
            </a:pPr>
            <a:r>
              <a:rPr lang="en-US" sz="1800" b="1" kern="0" spc="-75" dirty="0">
                <a:solidFill>
                  <a:srgbClr val="010716"/>
                </a:solidFill>
                <a:latin typeface="Equip Extended Bold" pitchFamily="34" charset="0"/>
                <a:ea typeface="Equip Extended Bold" pitchFamily="34" charset="-122"/>
                <a:cs typeface="Equip Extended Bold" pitchFamily="34" charset="-120"/>
              </a:rPr>
              <a:t>Topic</a:t>
            </a:r>
            <a:endParaRPr lang="en-US" sz="1800" dirty="0"/>
          </a:p>
        </p:txBody>
      </p:sp>
      <p:sp>
        <p:nvSpPr>
          <p:cNvPr id="11" name="venn-2-label"/>
          <p:cNvSpPr/>
          <p:nvPr/>
        </p:nvSpPr>
        <p:spPr>
          <a:xfrm>
            <a:off x="13339763" y="6154766"/>
            <a:ext cx="933649" cy="304800"/>
          </a:xfrm>
          <a:prstGeom prst="rect">
            <a:avLst/>
          </a:prstGeom>
          <a:noFill/>
          <a:ln/>
        </p:spPr>
        <p:txBody>
          <a:bodyPr wrap="square" lIns="0" tIns="0" rIns="0" bIns="0" rtlCol="0" anchor="t"/>
          <a:lstStyle/>
          <a:p>
            <a:pPr marL="0" indent="0" algn="ctr">
              <a:lnSpc>
                <a:spcPts val="2400"/>
              </a:lnSpc>
              <a:buNone/>
            </a:pPr>
            <a:r>
              <a:rPr lang="en-US" sz="1800" b="1" kern="0" spc="-75" dirty="0">
                <a:solidFill>
                  <a:srgbClr val="010716"/>
                </a:solidFill>
                <a:latin typeface="Equip Extended Bold" pitchFamily="34" charset="0"/>
                <a:ea typeface="Equip Extended Bold" pitchFamily="34" charset="-122"/>
                <a:cs typeface="Equip Extended Bold" pitchFamily="34" charset="-120"/>
              </a:rPr>
              <a:t>Topic</a:t>
            </a:r>
            <a:endParaRPr lang="en-US" sz="1800" dirty="0"/>
          </a:p>
        </p:txBody>
      </p:sp>
      <p:sp>
        <p:nvSpPr>
          <p:cNvPr id="12" name="venn-1-desc"/>
          <p:cNvSpPr/>
          <p:nvPr/>
        </p:nvSpPr>
        <p:spPr>
          <a:xfrm>
            <a:off x="13339763" y="6507191"/>
            <a:ext cx="933649" cy="190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Description</a:t>
            </a:r>
            <a:endParaRPr lang="en-US" sz="1200" dirty="0"/>
          </a:p>
        </p:txBody>
      </p:sp>
      <p:sp>
        <p:nvSpPr>
          <p:cNvPr id="13" name="venn-3-label"/>
          <p:cNvSpPr/>
          <p:nvPr/>
        </p:nvSpPr>
        <p:spPr>
          <a:xfrm>
            <a:off x="11606213" y="3400620"/>
            <a:ext cx="933649" cy="304800"/>
          </a:xfrm>
          <a:prstGeom prst="rect">
            <a:avLst/>
          </a:prstGeom>
          <a:noFill/>
          <a:ln/>
        </p:spPr>
        <p:txBody>
          <a:bodyPr wrap="square" lIns="0" tIns="0" rIns="0" bIns="0" rtlCol="0" anchor="t"/>
          <a:lstStyle/>
          <a:p>
            <a:pPr marL="0" indent="0" algn="ctr">
              <a:lnSpc>
                <a:spcPts val="2400"/>
              </a:lnSpc>
              <a:buNone/>
            </a:pPr>
            <a:r>
              <a:rPr lang="en-US" sz="1800" b="1" kern="0" spc="-75" dirty="0">
                <a:solidFill>
                  <a:srgbClr val="010716"/>
                </a:solidFill>
                <a:latin typeface="Equip Extended Bold" pitchFamily="34" charset="0"/>
                <a:ea typeface="Equip Extended Bold" pitchFamily="34" charset="-122"/>
                <a:cs typeface="Equip Extended Bold" pitchFamily="34" charset="-120"/>
              </a:rPr>
              <a:t>Topic</a:t>
            </a:r>
            <a:endParaRPr lang="en-US" sz="1800" dirty="0"/>
          </a:p>
        </p:txBody>
      </p:sp>
      <p:sp>
        <p:nvSpPr>
          <p:cNvPr id="14" name="venn-2-desc"/>
          <p:cNvSpPr/>
          <p:nvPr/>
        </p:nvSpPr>
        <p:spPr>
          <a:xfrm>
            <a:off x="11606213" y="3753045"/>
            <a:ext cx="933649" cy="190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Description</a:t>
            </a:r>
            <a:endParaRPr lang="en-US" sz="1200" dirty="0"/>
          </a:p>
        </p:txBody>
      </p:sp>
      <p:sp>
        <p:nvSpPr>
          <p:cNvPr id="15" name="venn-4-label"/>
          <p:cNvSpPr/>
          <p:nvPr/>
        </p:nvSpPr>
        <p:spPr>
          <a:xfrm>
            <a:off x="15073313" y="3400620"/>
            <a:ext cx="933649" cy="304800"/>
          </a:xfrm>
          <a:prstGeom prst="rect">
            <a:avLst/>
          </a:prstGeom>
          <a:noFill/>
          <a:ln/>
        </p:spPr>
        <p:txBody>
          <a:bodyPr wrap="square" lIns="0" tIns="0" rIns="0" bIns="0" rtlCol="0" anchor="t"/>
          <a:lstStyle/>
          <a:p>
            <a:pPr marL="0" indent="0" algn="ctr">
              <a:lnSpc>
                <a:spcPts val="2400"/>
              </a:lnSpc>
              <a:buNone/>
            </a:pPr>
            <a:r>
              <a:rPr lang="en-US" sz="1800" b="1" kern="0" spc="-75" dirty="0">
                <a:solidFill>
                  <a:srgbClr val="010716"/>
                </a:solidFill>
                <a:latin typeface="Equip Extended Bold" pitchFamily="34" charset="0"/>
                <a:ea typeface="Equip Extended Bold" pitchFamily="34" charset="-122"/>
                <a:cs typeface="Equip Extended Bold" pitchFamily="34" charset="-120"/>
              </a:rPr>
              <a:t>Topic</a:t>
            </a:r>
            <a:endParaRPr lang="en-US" sz="1800" dirty="0"/>
          </a:p>
        </p:txBody>
      </p:sp>
      <p:sp>
        <p:nvSpPr>
          <p:cNvPr id="16" name="venn-3-desc"/>
          <p:cNvSpPr/>
          <p:nvPr/>
        </p:nvSpPr>
        <p:spPr>
          <a:xfrm>
            <a:off x="15073313" y="3753045"/>
            <a:ext cx="933649" cy="190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Description</a:t>
            </a:r>
            <a:endParaRPr lang="en-US" sz="1200" dirty="0"/>
          </a:p>
        </p:txBody>
      </p:sp>
      <p:pic>
        <p:nvPicPr>
          <p:cNvPr id="2" name="Graphic 1">
            <a:extLst>
              <a:ext uri="{FF2B5EF4-FFF2-40B4-BE49-F238E27FC236}">
                <a16:creationId xmlns:a16="http://schemas.microsoft.com/office/drawing/2014/main" id="{A5DC9086-7FD7-A81B-59A3-BBF043CDA5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730" y="101077"/>
            <a:ext cx="2198820" cy="1649115"/>
          </a:xfrm>
          <a:prstGeom prst="rect">
            <a:avLst/>
          </a:prstGeom>
        </p:spPr>
      </p:pic>
      <p:sp>
        <p:nvSpPr>
          <p:cNvPr id="4" name="Digital Design Strategy">
            <a:extLst>
              <a:ext uri="{FF2B5EF4-FFF2-40B4-BE49-F238E27FC236}">
                <a16:creationId xmlns:a16="http://schemas.microsoft.com/office/drawing/2014/main" id="{00153A5A-A5CB-3D33-D12F-D1C7E69ECA5C}"/>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5" name="Project Name">
            <a:extLst>
              <a:ext uri="{FF2B5EF4-FFF2-40B4-BE49-F238E27FC236}">
                <a16:creationId xmlns:a16="http://schemas.microsoft.com/office/drawing/2014/main" id="{096C76DB-2FDC-0970-0C08-3397D6B2C178}"/>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6" name="Month Year">
            <a:extLst>
              <a:ext uri="{FF2B5EF4-FFF2-40B4-BE49-F238E27FC236}">
                <a16:creationId xmlns:a16="http://schemas.microsoft.com/office/drawing/2014/main" id="{68766D18-FB53-16C1-BB52-63B6414C96EA}"/>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7" name="2026">
            <a:extLst>
              <a:ext uri="{FF2B5EF4-FFF2-40B4-BE49-F238E27FC236}">
                <a16:creationId xmlns:a16="http://schemas.microsoft.com/office/drawing/2014/main" id="{E44A4C64-AE3F-3ED6-AC90-477CBC4D3AE7}"/>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cxnSp>
        <p:nvCxnSpPr>
          <p:cNvPr id="25" name="Straight Connector 24">
            <a:extLst>
              <a:ext uri="{FF2B5EF4-FFF2-40B4-BE49-F238E27FC236}">
                <a16:creationId xmlns:a16="http://schemas.microsoft.com/office/drawing/2014/main" id="{8675E664-0525-D8BA-1934-421F54E6DD85}"/>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663290B-7E78-2246-D9E2-AD373421D87E}"/>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2690740-B324-7E8C-DDA5-DD0B2F7FB9A9}"/>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graph" descr="preencoded.png"/>
          <p:cNvPicPr>
            <a:picLocks noChangeAspect="1"/>
          </p:cNvPicPr>
          <p:nvPr/>
        </p:nvPicPr>
        <p:blipFill>
          <a:blip>
            <a:extLst>
              <a:ext uri="{96DAC541-7B7A-43D3-8B79-37D633B846F1}">
                <asvg:svgBlip xmlns:asvg="http://schemas.microsoft.com/office/drawing/2016/SVG/main" r:embed="rId2"/>
              </a:ext>
            </a:extLst>
          </a:blip>
          <a:srcRect/>
          <a:stretch/>
        </p:blipFill>
        <p:spPr>
          <a:xfrm>
            <a:off x="1362075" y="5514975"/>
            <a:ext cx="15411450" cy="4772025"/>
          </a:xfrm>
          <a:prstGeom prst="rect">
            <a:avLst/>
          </a:prstGeom>
        </p:spPr>
      </p:pic>
      <p:sp>
        <p:nvSpPr>
          <p:cNvPr id="4" name="chart-title"/>
          <p:cNvSpPr/>
          <p:nvPr/>
        </p:nvSpPr>
        <p:spPr>
          <a:xfrm>
            <a:off x="796018" y="1800225"/>
            <a:ext cx="13887450" cy="1524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Lorem ipsum dolor sit amet, consectetur adipiscing elit. </a:t>
            </a:r>
            <a:endParaRPr lang="en-US" sz="4800" dirty="0"/>
          </a:p>
        </p:txBody>
      </p:sp>
      <p:sp>
        <p:nvSpPr>
          <p:cNvPr id="5" name="chart-body"/>
          <p:cNvSpPr/>
          <p:nvPr/>
        </p:nvSpPr>
        <p:spPr>
          <a:xfrm>
            <a:off x="796018" y="3705225"/>
            <a:ext cx="13887450" cy="1181100"/>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Lorem ipsum dolor sit amet, consectetur adipiscing elit.  Etiam eget ligula eu lectus lobortis condimentum. Aliquam nonummy auctor massa. Pellentesque habitant morbi tristique senectus et netus et  malesuada fames ac turpis egestas. Nulla at risus. Quisque purus magna,  auctor et, sagittis ac, posuere eu, lectus. Nam mattis, felis ut  adipiscing.Lorem ipsum dolor sit amet, consectetur adipiscing elit.  Etiam eget ligula eu lectus lobortis condimentum. </a:t>
            </a:r>
            <a:endParaRPr lang="en-US" sz="1800" dirty="0"/>
          </a:p>
        </p:txBody>
      </p:sp>
      <p:sp>
        <p:nvSpPr>
          <p:cNvPr id="6" name="venn-1-label"/>
          <p:cNvSpPr/>
          <p:nvPr/>
        </p:nvSpPr>
        <p:spPr>
          <a:xfrm>
            <a:off x="4352925" y="8782050"/>
            <a:ext cx="2003643" cy="457200"/>
          </a:xfrm>
          <a:prstGeom prst="rect">
            <a:avLst/>
          </a:prstGeom>
          <a:noFill/>
          <a:ln/>
        </p:spPr>
        <p:txBody>
          <a:bodyPr wrap="square" lIns="0" tIns="0" rIns="0" bIns="0" rtlCol="0" anchor="t"/>
          <a:lstStyle/>
          <a:p>
            <a:pPr marL="0" indent="0" algn="ctr">
              <a:lnSpc>
                <a:spcPts val="3600"/>
              </a:lnSpc>
              <a:buNone/>
            </a:pPr>
            <a:r>
              <a:rPr lang="en-US" sz="3000" kern="0" spc="-112" dirty="0">
                <a:solidFill>
                  <a:srgbClr val="010716"/>
                </a:solidFill>
                <a:latin typeface="Equip Extended Medium" pitchFamily="34" charset="0"/>
                <a:ea typeface="Equip Extended Medium" pitchFamily="34" charset="-122"/>
                <a:cs typeface="Equip Extended Medium" pitchFamily="34" charset="-120"/>
              </a:rPr>
              <a:t>Topic</a:t>
            </a:r>
            <a:endParaRPr lang="en-US" sz="3000" dirty="0"/>
          </a:p>
        </p:txBody>
      </p:sp>
      <p:sp>
        <p:nvSpPr>
          <p:cNvPr id="7" name="venn-2-label"/>
          <p:cNvSpPr/>
          <p:nvPr/>
        </p:nvSpPr>
        <p:spPr>
          <a:xfrm>
            <a:off x="8029575" y="8782050"/>
            <a:ext cx="2003643" cy="457200"/>
          </a:xfrm>
          <a:prstGeom prst="rect">
            <a:avLst/>
          </a:prstGeom>
          <a:noFill/>
          <a:ln/>
        </p:spPr>
        <p:txBody>
          <a:bodyPr wrap="square" lIns="0" tIns="0" rIns="0" bIns="0" rtlCol="0" anchor="t"/>
          <a:lstStyle/>
          <a:p>
            <a:pPr marL="0" indent="0" algn="ctr">
              <a:lnSpc>
                <a:spcPts val="3600"/>
              </a:lnSpc>
              <a:buNone/>
            </a:pPr>
            <a:r>
              <a:rPr lang="en-US" sz="3000" kern="0" spc="-112" dirty="0">
                <a:solidFill>
                  <a:srgbClr val="010716"/>
                </a:solidFill>
                <a:latin typeface="Equip Extended Medium" pitchFamily="34" charset="0"/>
                <a:ea typeface="Equip Extended Medium" pitchFamily="34" charset="-122"/>
                <a:cs typeface="Equip Extended Medium" pitchFamily="34" charset="-120"/>
              </a:rPr>
              <a:t>Topic</a:t>
            </a:r>
            <a:endParaRPr lang="en-US" sz="3000" dirty="0"/>
          </a:p>
        </p:txBody>
      </p:sp>
      <p:sp>
        <p:nvSpPr>
          <p:cNvPr id="8" name="venn-3-label"/>
          <p:cNvSpPr/>
          <p:nvPr/>
        </p:nvSpPr>
        <p:spPr>
          <a:xfrm>
            <a:off x="11782425" y="8782050"/>
            <a:ext cx="2003643" cy="457200"/>
          </a:xfrm>
          <a:prstGeom prst="rect">
            <a:avLst/>
          </a:prstGeom>
          <a:noFill/>
          <a:ln/>
        </p:spPr>
        <p:txBody>
          <a:bodyPr wrap="square" lIns="0" tIns="0" rIns="0" bIns="0" rtlCol="0" anchor="t"/>
          <a:lstStyle/>
          <a:p>
            <a:pPr marL="0" indent="0" algn="ctr">
              <a:lnSpc>
                <a:spcPts val="3600"/>
              </a:lnSpc>
              <a:buNone/>
            </a:pPr>
            <a:r>
              <a:rPr lang="en-US" sz="3000" kern="0" spc="-112" dirty="0">
                <a:solidFill>
                  <a:srgbClr val="010716"/>
                </a:solidFill>
                <a:latin typeface="Equip Extended Medium" pitchFamily="34" charset="0"/>
                <a:ea typeface="Equip Extended Medium" pitchFamily="34" charset="-122"/>
                <a:cs typeface="Equip Extended Medium" pitchFamily="34" charset="-120"/>
              </a:rPr>
              <a:t>Topic</a:t>
            </a:r>
            <a:endParaRPr lang="en-US" sz="3000" dirty="0"/>
          </a:p>
        </p:txBody>
      </p:sp>
      <p:pic>
        <p:nvPicPr>
          <p:cNvPr id="2" name="Graphic 1">
            <a:extLst>
              <a:ext uri="{FF2B5EF4-FFF2-40B4-BE49-F238E27FC236}">
                <a16:creationId xmlns:a16="http://schemas.microsoft.com/office/drawing/2014/main" id="{39380063-80E4-9305-62F2-42DC55B901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730" y="101077"/>
            <a:ext cx="2198820" cy="16491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oup 1597880646" descr="preencoded.png"/>
          <p:cNvPicPr>
            <a:picLocks noChangeAspect="1"/>
          </p:cNvPicPr>
          <p:nvPr/>
        </p:nvPicPr>
        <p:blipFill>
          <a:blip>
            <a:extLst>
              <a:ext uri="{96DAC541-7B7A-43D3-8B79-37D633B846F1}">
                <asvg:svgBlip xmlns:asvg="http://schemas.microsoft.com/office/drawing/2016/SVG/main" r:embed="rId3"/>
              </a:ext>
            </a:extLst>
          </a:blip>
          <a:srcRect/>
          <a:stretch/>
        </p:blipFill>
        <p:spPr>
          <a:xfrm>
            <a:off x="800098" y="5229225"/>
            <a:ext cx="1438275" cy="1447800"/>
          </a:xfrm>
          <a:prstGeom prst="rect">
            <a:avLst/>
          </a:prstGeom>
        </p:spPr>
      </p:pic>
      <p:pic>
        <p:nvPicPr>
          <p:cNvPr id="4" name="Group 1597880647" descr="preencoded.png"/>
          <p:cNvPicPr>
            <a:picLocks noChangeAspect="1"/>
          </p:cNvPicPr>
          <p:nvPr/>
        </p:nvPicPr>
        <p:blipFill>
          <a:blip>
            <a:extLst>
              <a:ext uri="{96DAC541-7B7A-43D3-8B79-37D633B846F1}">
                <asvg:svgBlip xmlns:asvg="http://schemas.microsoft.com/office/drawing/2016/SVG/main" r:embed="rId4"/>
              </a:ext>
            </a:extLst>
          </a:blip>
          <a:srcRect/>
          <a:stretch/>
        </p:blipFill>
        <p:spPr>
          <a:xfrm>
            <a:off x="6438898" y="5229225"/>
            <a:ext cx="2028825" cy="1447800"/>
          </a:xfrm>
          <a:prstGeom prst="rect">
            <a:avLst/>
          </a:prstGeom>
        </p:spPr>
      </p:pic>
      <p:pic>
        <p:nvPicPr>
          <p:cNvPr id="5" name="Group 1597880648" descr="preencoded.png"/>
          <p:cNvPicPr>
            <a:picLocks noChangeAspect="1"/>
          </p:cNvPicPr>
          <p:nvPr/>
        </p:nvPicPr>
        <p:blipFill>
          <a:blip>
            <a:extLst>
              <a:ext uri="{96DAC541-7B7A-43D3-8B79-37D633B846F1}">
                <asvg:svgBlip xmlns:asvg="http://schemas.microsoft.com/office/drawing/2016/SVG/main" r:embed="rId5"/>
              </a:ext>
            </a:extLst>
          </a:blip>
          <a:srcRect/>
          <a:stretch/>
        </p:blipFill>
        <p:spPr>
          <a:xfrm>
            <a:off x="12115800" y="5214937"/>
            <a:ext cx="1581150" cy="1476375"/>
          </a:xfrm>
          <a:prstGeom prst="rect">
            <a:avLst/>
          </a:prstGeom>
        </p:spPr>
      </p:pic>
      <p:sp>
        <p:nvSpPr>
          <p:cNvPr id="6" name="Digital Design Strategy"/>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8893A5"/>
                </a:solidFill>
                <a:latin typeface="Equip Extended Regular" pitchFamily="34" charset="0"/>
                <a:ea typeface="Equip Extended Regular" pitchFamily="34" charset="-122"/>
                <a:cs typeface="Equip Extended Regular" pitchFamily="34" charset="-120"/>
              </a:rPr>
              <a:t>Digital Design Strategy</a:t>
            </a:r>
            <a:endParaRPr lang="en-US" sz="1200" dirty="0"/>
          </a:p>
        </p:txBody>
      </p:sp>
      <p:sp>
        <p:nvSpPr>
          <p:cNvPr id="7" name="Project Name"/>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8893A5"/>
                </a:solidFill>
                <a:latin typeface="Equip Extended Regular" pitchFamily="34" charset="0"/>
                <a:ea typeface="Equip Extended Regular" pitchFamily="34" charset="-122"/>
                <a:cs typeface="Equip Extended Regular" pitchFamily="34" charset="-120"/>
              </a:rPr>
              <a:t>Project Name</a:t>
            </a:r>
            <a:endParaRPr lang="en-US" sz="1200" dirty="0"/>
          </a:p>
        </p:txBody>
      </p:sp>
      <p:sp>
        <p:nvSpPr>
          <p:cNvPr id="8" name="Month Yea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8893A5"/>
                </a:solidFill>
                <a:latin typeface="Equip Extended Regular" pitchFamily="34" charset="0"/>
                <a:ea typeface="Equip Extended Regular" pitchFamily="34" charset="-122"/>
                <a:cs typeface="Equip Extended Regular" pitchFamily="34" charset="-120"/>
              </a:rPr>
              <a:t>Month Year</a:t>
            </a:r>
            <a:endParaRPr lang="en-US" sz="1200" dirty="0"/>
          </a:p>
        </p:txBody>
      </p:sp>
      <p:sp>
        <p:nvSpPr>
          <p:cNvPr id="9" name="2026"/>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8893A5"/>
                </a:solidFill>
                <a:latin typeface="Equip Extended Regular" pitchFamily="34" charset="0"/>
                <a:ea typeface="Equip Extended Regular" pitchFamily="34" charset="-122"/>
                <a:cs typeface="Equip Extended Regular" pitchFamily="34" charset="-120"/>
              </a:rPr>
              <a:t>© 2026</a:t>
            </a:r>
            <a:endParaRPr lang="en-US" sz="1200" dirty="0"/>
          </a:p>
        </p:txBody>
      </p:sp>
      <p:sp>
        <p:nvSpPr>
          <p:cNvPr id="10" name="label"/>
          <p:cNvSpPr/>
          <p:nvPr/>
        </p:nvSpPr>
        <p:spPr>
          <a:xfrm>
            <a:off x="800098" y="6991350"/>
            <a:ext cx="5400000" cy="381000"/>
          </a:xfrm>
          <a:prstGeom prst="rect">
            <a:avLst/>
          </a:prstGeom>
          <a:noFill/>
          <a:ln/>
        </p:spPr>
        <p:txBody>
          <a:bodyPr wrap="square" lIns="0" tIns="0" rIns="0" bIns="0" rtlCol="0" anchor="t"/>
          <a:lstStyle/>
          <a:p>
            <a:pPr marL="0" indent="0" algn="l">
              <a:lnSpc>
                <a:spcPts val="3000"/>
              </a:lnSpc>
              <a:spcAft>
                <a:spcPts val="2100"/>
              </a:spcAft>
              <a:buNone/>
            </a:pPr>
            <a:r>
              <a:rPr lang="en-US" sz="2400" dirty="0">
                <a:solidFill>
                  <a:srgbClr val="06041F"/>
                </a:solidFill>
                <a:latin typeface="Equip Extended Medium" pitchFamily="34" charset="0"/>
                <a:ea typeface="Equip Extended Medium" pitchFamily="34" charset="-122"/>
                <a:cs typeface="Equip Extended Medium" pitchFamily="34" charset="-120"/>
              </a:rPr>
              <a:t>Multi-brand</a:t>
            </a:r>
            <a:endParaRPr lang="en-US" sz="2400" dirty="0"/>
          </a:p>
        </p:txBody>
      </p:sp>
      <p:sp>
        <p:nvSpPr>
          <p:cNvPr id="11" name="body"/>
          <p:cNvSpPr/>
          <p:nvPr/>
        </p:nvSpPr>
        <p:spPr>
          <a:xfrm>
            <a:off x="800098" y="7677150"/>
            <a:ext cx="5400000" cy="885825"/>
          </a:xfrm>
          <a:prstGeom prst="rect">
            <a:avLst/>
          </a:prstGeom>
          <a:noFill/>
          <a:ln/>
        </p:spPr>
        <p:txBody>
          <a:bodyPr wrap="square" lIns="0" tIns="0" rIns="0" bIns="0" rtlCol="0" anchor="t"/>
          <a:lstStyle/>
          <a:p>
            <a:pPr marL="0" indent="0" algn="l">
              <a:lnSpc>
                <a:spcPts val="2250"/>
              </a:lnSpc>
              <a:buNone/>
            </a:pPr>
            <a:r>
              <a:rPr lang="en-US" sz="1800" kern="0" spc="-75" dirty="0">
                <a:solidFill>
                  <a:srgbClr val="4E5E78"/>
                </a:solidFill>
                <a:latin typeface="Equip Regular" pitchFamily="34" charset="0"/>
                <a:ea typeface="Equip Regular" pitchFamily="34" charset="-122"/>
                <a:cs typeface="Equip Regular" pitchFamily="34" charset="-120"/>
              </a:rPr>
              <a:t>Supports multiple brands on the same platform while allowing each to maintain its own visual identity.</a:t>
            </a:r>
            <a:endParaRPr lang="en-US" sz="1800" dirty="0"/>
          </a:p>
        </p:txBody>
      </p:sp>
      <p:sp>
        <p:nvSpPr>
          <p:cNvPr id="12" name="label"/>
          <p:cNvSpPr/>
          <p:nvPr/>
        </p:nvSpPr>
        <p:spPr>
          <a:xfrm>
            <a:off x="6457949" y="6991350"/>
            <a:ext cx="5400000" cy="381000"/>
          </a:xfrm>
          <a:prstGeom prst="rect">
            <a:avLst/>
          </a:prstGeom>
          <a:noFill/>
          <a:ln/>
        </p:spPr>
        <p:txBody>
          <a:bodyPr wrap="square" lIns="0" tIns="0" rIns="0" bIns="0" rtlCol="0" anchor="t"/>
          <a:lstStyle/>
          <a:p>
            <a:pPr marL="0" indent="0" algn="l">
              <a:lnSpc>
                <a:spcPts val="3000"/>
              </a:lnSpc>
              <a:spcAft>
                <a:spcPts val="2100"/>
              </a:spcAft>
              <a:buNone/>
            </a:pPr>
            <a:r>
              <a:rPr lang="en-US" sz="2400" dirty="0">
                <a:solidFill>
                  <a:srgbClr val="06041F"/>
                </a:solidFill>
                <a:latin typeface="Equip Extended Medium" pitchFamily="34" charset="0"/>
                <a:ea typeface="Equip Extended Medium" pitchFamily="34" charset="-122"/>
                <a:cs typeface="Equip Extended Medium" pitchFamily="34" charset="-120"/>
              </a:rPr>
              <a:t>Multi-device</a:t>
            </a:r>
            <a:endParaRPr lang="en-US" sz="2400" dirty="0"/>
          </a:p>
        </p:txBody>
      </p:sp>
      <p:sp>
        <p:nvSpPr>
          <p:cNvPr id="13" name="body"/>
          <p:cNvSpPr/>
          <p:nvPr/>
        </p:nvSpPr>
        <p:spPr>
          <a:xfrm>
            <a:off x="6457949" y="7677150"/>
            <a:ext cx="5400000" cy="885825"/>
          </a:xfrm>
          <a:prstGeom prst="rect">
            <a:avLst/>
          </a:prstGeom>
          <a:noFill/>
          <a:ln/>
        </p:spPr>
        <p:txBody>
          <a:bodyPr wrap="square" lIns="0" tIns="0" rIns="0" bIns="0" rtlCol="0" anchor="t"/>
          <a:lstStyle/>
          <a:p>
            <a:pPr marL="0" indent="0" algn="l">
              <a:lnSpc>
                <a:spcPts val="2250"/>
              </a:lnSpc>
              <a:buNone/>
            </a:pPr>
            <a:r>
              <a:rPr lang="en-US" sz="1800" kern="0" spc="-75" dirty="0">
                <a:solidFill>
                  <a:srgbClr val="4E5E78"/>
                </a:solidFill>
                <a:latin typeface="Equip Regular" pitchFamily="34" charset="0"/>
                <a:ea typeface="Equip Regular" pitchFamily="34" charset="-122"/>
                <a:cs typeface="Equip Regular" pitchFamily="34" charset="-120"/>
              </a:rPr>
              <a:t>Ensures consistent experiences across web, mobile, and native platforms through share components and responsive patterns.</a:t>
            </a:r>
            <a:endParaRPr lang="en-US" sz="1800" dirty="0"/>
          </a:p>
        </p:txBody>
      </p:sp>
      <p:sp>
        <p:nvSpPr>
          <p:cNvPr id="14" name="label"/>
          <p:cNvSpPr/>
          <p:nvPr/>
        </p:nvSpPr>
        <p:spPr>
          <a:xfrm>
            <a:off x="12115800" y="6991350"/>
            <a:ext cx="5400675" cy="381000"/>
          </a:xfrm>
          <a:prstGeom prst="rect">
            <a:avLst/>
          </a:prstGeom>
          <a:noFill/>
          <a:ln/>
        </p:spPr>
        <p:txBody>
          <a:bodyPr wrap="square" lIns="0" tIns="0" rIns="0" bIns="0" rtlCol="0" anchor="t"/>
          <a:lstStyle/>
          <a:p>
            <a:pPr marL="0" indent="0" algn="l">
              <a:lnSpc>
                <a:spcPts val="3000"/>
              </a:lnSpc>
              <a:spcAft>
                <a:spcPts val="2100"/>
              </a:spcAft>
              <a:buNone/>
            </a:pPr>
            <a:r>
              <a:rPr lang="en-US" sz="2400" dirty="0">
                <a:solidFill>
                  <a:srgbClr val="06041F"/>
                </a:solidFill>
                <a:latin typeface="Equip Extended Medium" pitchFamily="34" charset="0"/>
                <a:ea typeface="Equip Extended Medium" pitchFamily="34" charset="-122"/>
                <a:cs typeface="Equip Extended Medium" pitchFamily="34" charset="-120"/>
              </a:rPr>
              <a:t>Multi-store</a:t>
            </a:r>
            <a:endParaRPr lang="en-US" sz="2400" dirty="0"/>
          </a:p>
        </p:txBody>
      </p:sp>
      <p:sp>
        <p:nvSpPr>
          <p:cNvPr id="15" name="body"/>
          <p:cNvSpPr/>
          <p:nvPr/>
        </p:nvSpPr>
        <p:spPr>
          <a:xfrm>
            <a:off x="12115800" y="7677150"/>
            <a:ext cx="5400000" cy="885825"/>
          </a:xfrm>
          <a:prstGeom prst="rect">
            <a:avLst/>
          </a:prstGeom>
          <a:noFill/>
          <a:ln/>
        </p:spPr>
        <p:txBody>
          <a:bodyPr wrap="square" lIns="0" tIns="0" rIns="0" bIns="0" rtlCol="0" anchor="t"/>
          <a:lstStyle/>
          <a:p>
            <a:pPr marL="0" indent="0" algn="l">
              <a:lnSpc>
                <a:spcPts val="2250"/>
              </a:lnSpc>
              <a:buNone/>
            </a:pPr>
            <a:r>
              <a:rPr lang="en-US" sz="1800" kern="0" spc="-75" dirty="0">
                <a:solidFill>
                  <a:srgbClr val="4E5E78"/>
                </a:solidFill>
                <a:latin typeface="Equip Regular" pitchFamily="34" charset="0"/>
                <a:ea typeface="Equip Regular" pitchFamily="34" charset="-122"/>
                <a:cs typeface="Equip Regular" pitchFamily="34" charset="-120"/>
              </a:rPr>
              <a:t>Enables brands to operate multiple store experiences from a single design foundation with configurable store-level varitions.</a:t>
            </a:r>
            <a:endParaRPr lang="en-US" sz="1800" dirty="0"/>
          </a:p>
        </p:txBody>
      </p:sp>
      <p:sp>
        <p:nvSpPr>
          <p:cNvPr id="16" name="chart-title"/>
          <p:cNvSpPr/>
          <p:nvPr/>
        </p:nvSpPr>
        <p:spPr>
          <a:xfrm>
            <a:off x="800098" y="1885950"/>
            <a:ext cx="15211425" cy="762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The Design System as a Business Asset</a:t>
            </a:r>
            <a:endParaRPr lang="en-US" sz="4800" dirty="0"/>
          </a:p>
        </p:txBody>
      </p:sp>
      <p:sp>
        <p:nvSpPr>
          <p:cNvPr id="17" name="body"/>
          <p:cNvSpPr/>
          <p:nvPr/>
        </p:nvSpPr>
        <p:spPr>
          <a:xfrm>
            <a:off x="800098" y="3048000"/>
            <a:ext cx="15240000" cy="1181100"/>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Lorem ipsum dolor sit amet, consectetur adipiscing elit.  Etiam eget ligula eu lectus lobortis condimentum. Aliquam nonummy auctor massa. Pellentesque habitant morbi tristique senectus et netus et  malesuada fames ac turpis egestas. Nulla at risus. Quisque purus magna,  auctor et, sagittis ac, posuere eu, lectus. Nam mattis, felis ut  adipiscing.Lorem ipsum dolor sit amet, consectetur adipiscing elit.  Etiam eget ligula eu lectus lobortis condimentum. Aliquam nonummy auctor massa. Pellentesque habitant morbi tristique senectus et netus et  malesuada fames ac turpis egestas. </a:t>
            </a:r>
            <a:endParaRPr lang="en-US" sz="1800" dirty="0"/>
          </a:p>
        </p:txBody>
      </p:sp>
      <p:pic>
        <p:nvPicPr>
          <p:cNvPr id="18" name="Graphic 17">
            <a:extLst>
              <a:ext uri="{FF2B5EF4-FFF2-40B4-BE49-F238E27FC236}">
                <a16:creationId xmlns:a16="http://schemas.microsoft.com/office/drawing/2014/main" id="{02DB080D-BA34-8BE8-92D7-8B2F2B5BFFE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92730" y="101077"/>
            <a:ext cx="2198820" cy="1649115"/>
          </a:xfrm>
          <a:prstGeom prst="rect">
            <a:avLst/>
          </a:prstGeom>
        </p:spPr>
      </p:pic>
      <p:cxnSp>
        <p:nvCxnSpPr>
          <p:cNvPr id="19" name="Straight Connector 18">
            <a:extLst>
              <a:ext uri="{FF2B5EF4-FFF2-40B4-BE49-F238E27FC236}">
                <a16:creationId xmlns:a16="http://schemas.microsoft.com/office/drawing/2014/main" id="{FB1541B7-D1BA-FAEC-7396-78A1E89DF18B}"/>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405C2C8-0F12-8346-BFD0-71F06612DCDA}"/>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944F8B6-D920-C960-E80E-FD4FD4CAB13C}"/>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815</Words>
  <Application>Microsoft Macintosh PowerPoint</Application>
  <PresentationFormat>Custom</PresentationFormat>
  <Paragraphs>149</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Equip Extended Medium</vt:lpstr>
      <vt:lpstr>Equip Extended Bold</vt:lpstr>
      <vt:lpstr>Arial</vt:lpstr>
      <vt:lpstr>Equip Extended Regular</vt:lpstr>
      <vt:lpstr>Equip 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Carolina Baptista</cp:lastModifiedBy>
  <cp:revision>7</cp:revision>
  <dcterms:created xsi:type="dcterms:W3CDTF">2026-05-27T18:03:55Z</dcterms:created>
  <dcterms:modified xsi:type="dcterms:W3CDTF">2026-06-02T12:08:18Z</dcterms:modified>
</cp:coreProperties>
</file>