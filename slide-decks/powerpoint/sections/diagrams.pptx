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7"/>
  </p:notesMasterIdLst>
  <p:sldIdLst>
    <p:sldId id="330" r:id="rId2"/>
    <p:sldId id="331" r:id="rId3"/>
    <p:sldId id="332" r:id="rId4"/>
    <p:sldId id="333" r:id="rId5"/>
    <p:sldId id="334" r:id="rId6"/>
  </p:sldIdLst>
  <p:sldSz cx="18288000" cy="10287000"/>
  <p:notesSz cx="10287000" cy="18288000"/>
  <p:embeddedFontLst>
    <p:embeddedFont>
      <p:font typeface="Equip Bold" panose="02000503030000020004" pitchFamily="2" charset="77"/>
      <p:bold r:id="rId8"/>
      <p:italic r:id="rId9"/>
      <p:boldItalic r:id="rId10"/>
    </p:embeddedFont>
    <p:embeddedFont>
      <p:font typeface="Equip Extended Black" panose="02000603000000020004" pitchFamily="2" charset="77"/>
      <p:bold r:id="rId11"/>
      <p:italic r:id="rId12"/>
      <p:boldItalic r:id="rId13"/>
    </p:embeddedFont>
    <p:embeddedFont>
      <p:font typeface="Equip Extended Medium" panose="02000603000000020004" pitchFamily="2" charset="77"/>
      <p:regular r:id="rId14"/>
      <p:italic r:id="rId15"/>
    </p:embeddedFont>
    <p:embeddedFont>
      <p:font typeface="Equip Extended Regular" panose="02000503030000020004" pitchFamily="2" charset="77"/>
      <p:regular r:id="rId16"/>
      <p:bold r:id="rId17"/>
      <p:italic r:id="rId18"/>
      <p:boldItalic r:id="rId19"/>
    </p:embeddedFont>
    <p:embeddedFont>
      <p:font typeface="Equip Regular" panose="02000503030000020004" pitchFamily="2" charset="77"/>
      <p:regular r:id="rId20"/>
      <p:bold r:id="rId21"/>
      <p:italic r:id="rId22"/>
      <p:boldItalic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98" userDrawn="1">
          <p15:clr>
            <a:srgbClr val="A4A3A4"/>
          </p15:clr>
        </p15:guide>
        <p15:guide id="2" pos="11022" userDrawn="1">
          <p15:clr>
            <a:srgbClr val="A4A3A4"/>
          </p15:clr>
        </p15:guide>
        <p15:guide id="3" orient="horz" pos="32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0"/>
    <p:restoredTop sz="94610"/>
  </p:normalViewPr>
  <p:slideViewPr>
    <p:cSldViewPr snapToGrid="0" snapToObjects="1">
      <p:cViewPr varScale="1">
        <p:scale>
          <a:sx n="80" d="100"/>
          <a:sy n="80" d="100"/>
        </p:scale>
        <p:origin x="312" y="192"/>
      </p:cViewPr>
      <p:guideLst>
        <p:guide pos="498"/>
        <p:guide pos="11022"/>
        <p:guide orient="horz" pos="32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font" Target="fonts/font1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4.fntdata"/><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font" Target="fonts/font10.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9.fntdata"/><Relationship Id="rId20"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8.fntdata"/><Relationship Id="rId23" Type="http://schemas.openxmlformats.org/officeDocument/2006/relationships/font" Target="fonts/font16.fntdata"/><Relationship Id="rId10" Type="http://schemas.openxmlformats.org/officeDocument/2006/relationships/font" Target="fonts/font3.fntdata"/><Relationship Id="rId19"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 Id="rId22" Type="http://schemas.openxmlformats.org/officeDocument/2006/relationships/font" Target="fonts/font15.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0411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pic>
        <p:nvPicPr>
          <p:cNvPr id="3" name="Group 1437253217" descr="preencoded.png"/>
          <p:cNvPicPr>
            <a:picLocks noChangeAspect="1"/>
          </p:cNvPicPr>
          <p:nvPr/>
        </p:nvPicPr>
        <p:blipFill>
          <a:blip r:embed="rId3"/>
          <a:srcRect/>
          <a:stretch/>
        </p:blipFill>
        <p:spPr>
          <a:xfrm>
            <a:off x="809625" y="2500312"/>
            <a:ext cx="16687800" cy="5095875"/>
          </a:xfrm>
          <a:prstGeom prst="rect">
            <a:avLst/>
          </a:prstGeom>
        </p:spPr>
      </p:pic>
      <p:pic>
        <p:nvPicPr>
          <p:cNvPr id="4" name="Frame 2018778558" descr="preencoded.png"/>
          <p:cNvPicPr>
            <a:picLocks noChangeAspect="1"/>
          </p:cNvPicPr>
          <p:nvPr/>
        </p:nvPicPr>
        <p:blipFill>
          <a:blip>
            <a:extLst>
              <a:ext uri="{96DAC541-7B7A-43D3-8B79-37D633B846F1}">
                <asvg:svgBlip xmlns:asvg="http://schemas.microsoft.com/office/drawing/2016/SVG/main" r:embed="rId4"/>
              </a:ext>
            </a:extLst>
          </a:blip>
          <a:srcRect/>
          <a:stretch/>
        </p:blipFill>
        <p:spPr>
          <a:xfrm>
            <a:off x="857250" y="6610350"/>
            <a:ext cx="2667000" cy="381000"/>
          </a:xfrm>
          <a:prstGeom prst="rect">
            <a:avLst/>
          </a:prstGeom>
        </p:spPr>
      </p:pic>
      <p:pic>
        <p:nvPicPr>
          <p:cNvPr id="5" name="Frame 2018778559" descr="preencoded.png"/>
          <p:cNvPicPr>
            <a:picLocks noChangeAspect="1"/>
          </p:cNvPicPr>
          <p:nvPr/>
        </p:nvPicPr>
        <p:blipFill>
          <a:blip>
            <a:extLst>
              <a:ext uri="{96DAC541-7B7A-43D3-8B79-37D633B846F1}">
                <asvg:svgBlip xmlns:asvg="http://schemas.microsoft.com/office/drawing/2016/SVG/main" r:embed="rId5"/>
              </a:ext>
            </a:extLst>
          </a:blip>
          <a:srcRect/>
          <a:stretch/>
        </p:blipFill>
        <p:spPr>
          <a:xfrm>
            <a:off x="857250" y="7124700"/>
            <a:ext cx="695325" cy="695325"/>
          </a:xfrm>
          <a:prstGeom prst="rect">
            <a:avLst/>
          </a:prstGeom>
        </p:spPr>
      </p:pic>
      <p:pic>
        <p:nvPicPr>
          <p:cNvPr id="6" name="Frame 2018778560" descr="preencoded.png"/>
          <p:cNvPicPr>
            <a:picLocks noChangeAspect="1"/>
          </p:cNvPicPr>
          <p:nvPr/>
        </p:nvPicPr>
        <p:blipFill>
          <a:blip>
            <a:extLst>
              <a:ext uri="{96DAC541-7B7A-43D3-8B79-37D633B846F1}">
                <asvg:svgBlip xmlns:asvg="http://schemas.microsoft.com/office/drawing/2016/SVG/main" r:embed="rId6"/>
              </a:ext>
            </a:extLst>
          </a:blip>
          <a:srcRect/>
          <a:stretch/>
        </p:blipFill>
        <p:spPr>
          <a:xfrm>
            <a:off x="1838325" y="7124700"/>
            <a:ext cx="695325" cy="695325"/>
          </a:xfrm>
          <a:prstGeom prst="rect">
            <a:avLst/>
          </a:prstGeom>
        </p:spPr>
      </p:pic>
      <p:pic>
        <p:nvPicPr>
          <p:cNvPr id="7" name="Frame 2018778561" descr="preencoded.png"/>
          <p:cNvPicPr>
            <a:picLocks noChangeAspect="1"/>
          </p:cNvPicPr>
          <p:nvPr/>
        </p:nvPicPr>
        <p:blipFill>
          <a:blip>
            <a:extLst>
              <a:ext uri="{96DAC541-7B7A-43D3-8B79-37D633B846F1}">
                <asvg:svgBlip xmlns:asvg="http://schemas.microsoft.com/office/drawing/2016/SVG/main" r:embed="rId7"/>
              </a:ext>
            </a:extLst>
          </a:blip>
          <a:srcRect/>
          <a:stretch/>
        </p:blipFill>
        <p:spPr>
          <a:xfrm>
            <a:off x="2828925" y="7124700"/>
            <a:ext cx="695325" cy="695325"/>
          </a:xfrm>
          <a:prstGeom prst="rect">
            <a:avLst/>
          </a:prstGeom>
        </p:spPr>
      </p:pic>
      <p:sp>
        <p:nvSpPr>
          <p:cNvPr id="8" name="Digital Design Strategy"/>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8893A5"/>
                </a:solidFill>
                <a:latin typeface="Equip Extended Regular" pitchFamily="34" charset="0"/>
                <a:ea typeface="Equip Extended Regular" pitchFamily="34" charset="-122"/>
                <a:cs typeface="Equip Extended Regular" pitchFamily="34" charset="-120"/>
              </a:rPr>
              <a:t>Digital Design Strategy</a:t>
            </a:r>
            <a:endParaRPr lang="en-US" sz="1200" dirty="0"/>
          </a:p>
        </p:txBody>
      </p:sp>
      <p:sp>
        <p:nvSpPr>
          <p:cNvPr id="9" name="Project Name"/>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8893A5"/>
                </a:solidFill>
                <a:latin typeface="Equip Extended Regular" pitchFamily="34" charset="0"/>
                <a:ea typeface="Equip Extended Regular" pitchFamily="34" charset="-122"/>
                <a:cs typeface="Equip Extended Regular" pitchFamily="34" charset="-120"/>
              </a:rPr>
              <a:t>Project Name</a:t>
            </a:r>
            <a:endParaRPr lang="en-US" sz="1200" dirty="0"/>
          </a:p>
        </p:txBody>
      </p:sp>
      <p:sp>
        <p:nvSpPr>
          <p:cNvPr id="10" name="Month Yea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8893A5"/>
                </a:solidFill>
                <a:latin typeface="Equip Extended Regular" pitchFamily="34" charset="0"/>
                <a:ea typeface="Equip Extended Regular" pitchFamily="34" charset="-122"/>
                <a:cs typeface="Equip Extended Regular" pitchFamily="34" charset="-120"/>
              </a:rPr>
              <a:t>Month Year</a:t>
            </a:r>
            <a:endParaRPr lang="en-US" sz="1200" dirty="0"/>
          </a:p>
        </p:txBody>
      </p:sp>
      <p:sp>
        <p:nvSpPr>
          <p:cNvPr id="11" name="2026"/>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8893A5"/>
                </a:solidFill>
                <a:latin typeface="Equip Extended Regular" pitchFamily="34" charset="0"/>
                <a:ea typeface="Equip Extended Regular" pitchFamily="34" charset="-122"/>
                <a:cs typeface="Equip Extended Regular" pitchFamily="34" charset="-120"/>
              </a:rPr>
              <a:t>© 2026</a:t>
            </a:r>
            <a:endParaRPr lang="en-US" sz="1200" dirty="0"/>
          </a:p>
        </p:txBody>
      </p:sp>
      <p:sp>
        <p:nvSpPr>
          <p:cNvPr id="12" name="Title"/>
          <p:cNvSpPr/>
          <p:nvPr/>
        </p:nvSpPr>
        <p:spPr>
          <a:xfrm>
            <a:off x="942975" y="2714625"/>
            <a:ext cx="1466850"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4E5E78"/>
                </a:solidFill>
                <a:latin typeface="Equip Extended Regular" pitchFamily="34" charset="0"/>
                <a:ea typeface="Equip Extended Regular" pitchFamily="34" charset="-122"/>
                <a:cs typeface="Equip Extended Regular" pitchFamily="34" charset="-120"/>
              </a:rPr>
              <a:t>Title</a:t>
            </a:r>
            <a:endParaRPr lang="en-US" sz="1800" dirty="0"/>
          </a:p>
        </p:txBody>
      </p:sp>
      <p:sp>
        <p:nvSpPr>
          <p:cNvPr id="13" name="This is a paragraph"/>
          <p:cNvSpPr/>
          <p:nvPr/>
        </p:nvSpPr>
        <p:spPr>
          <a:xfrm>
            <a:off x="942975" y="3133725"/>
            <a:ext cx="14668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This is a paragraph</a:t>
            </a:r>
            <a:endParaRPr lang="en-US" sz="1200" dirty="0"/>
          </a:p>
        </p:txBody>
      </p:sp>
      <p:sp>
        <p:nvSpPr>
          <p:cNvPr id="14" name="small note"/>
          <p:cNvSpPr/>
          <p:nvPr/>
        </p:nvSpPr>
        <p:spPr>
          <a:xfrm>
            <a:off x="2276475" y="4610100"/>
            <a:ext cx="628650" cy="152400"/>
          </a:xfrm>
          <a:prstGeom prst="rect">
            <a:avLst/>
          </a:prstGeom>
          <a:noFill/>
          <a:ln/>
        </p:spPr>
        <p:txBody>
          <a:bodyPr wrap="square" lIns="0" tIns="0" rIns="0" bIns="0" rtlCol="0" anchor="t"/>
          <a:lstStyle/>
          <a:p>
            <a:pPr marL="0" indent="0" algn="l">
              <a:lnSpc>
                <a:spcPts val="1200"/>
              </a:lnSpc>
              <a:spcAft>
                <a:spcPts val="1500"/>
              </a:spcAft>
              <a:buNone/>
            </a:pPr>
            <a:r>
              <a:rPr lang="en-US" sz="900" dirty="0">
                <a:solidFill>
                  <a:srgbClr val="4E5E78"/>
                </a:solidFill>
                <a:latin typeface="Equip Extended Regular" pitchFamily="34" charset="0"/>
                <a:ea typeface="Equip Extended Regular" pitchFamily="34" charset="-122"/>
                <a:cs typeface="Equip Extended Regular" pitchFamily="34" charset="-120"/>
              </a:rPr>
              <a:t>small note</a:t>
            </a:r>
            <a:endParaRPr lang="en-US" sz="900" dirty="0"/>
          </a:p>
        </p:txBody>
      </p:sp>
      <p:sp>
        <p:nvSpPr>
          <p:cNvPr id="15" name="This is a very longand extensive paragraphthat ends here"/>
          <p:cNvSpPr/>
          <p:nvPr/>
        </p:nvSpPr>
        <p:spPr>
          <a:xfrm>
            <a:off x="3629025" y="2733675"/>
            <a:ext cx="1962150" cy="571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This is a very long</a:t>
            </a:r>
            <a:br>
              <a:rPr dirty="0"/>
            </a:br>
            <a:r>
              <a:rPr lang="en-US" sz="1200" dirty="0">
                <a:solidFill>
                  <a:srgbClr val="4E5E78"/>
                </a:solidFill>
                <a:latin typeface="Equip Extended Regular" pitchFamily="34" charset="0"/>
                <a:ea typeface="Equip Extended Regular" pitchFamily="34" charset="-122"/>
                <a:cs typeface="Equip Extended Regular" pitchFamily="34" charset="-120"/>
              </a:rPr>
              <a:t>and extensive paragraph</a:t>
            </a:r>
            <a:br>
              <a:rPr dirty="0"/>
            </a:br>
            <a:r>
              <a:rPr lang="en-US" sz="1200" dirty="0">
                <a:solidFill>
                  <a:srgbClr val="4E5E78"/>
                </a:solidFill>
                <a:latin typeface="Equip Extended Regular" pitchFamily="34" charset="0"/>
                <a:ea typeface="Equip Extended Regular" pitchFamily="34" charset="-122"/>
                <a:cs typeface="Equip Extended Regular" pitchFamily="34" charset="-120"/>
              </a:rPr>
              <a:t>that ends here.</a:t>
            </a:r>
            <a:endParaRPr lang="en-US" sz="1200" dirty="0"/>
          </a:p>
        </p:txBody>
      </p:sp>
      <p:sp>
        <p:nvSpPr>
          <p:cNvPr id="16" name="Title"/>
          <p:cNvSpPr/>
          <p:nvPr/>
        </p:nvSpPr>
        <p:spPr>
          <a:xfrm>
            <a:off x="6915150" y="2686050"/>
            <a:ext cx="2409825" cy="304800"/>
          </a:xfrm>
          <a:prstGeom prst="rect">
            <a:avLst/>
          </a:prstGeom>
          <a:noFill/>
          <a:ln/>
        </p:spPr>
        <p:txBody>
          <a:bodyPr wrap="square" lIns="0" tIns="0" rIns="0" bIns="0" rtlCol="0" anchor="t"/>
          <a:lstStyle/>
          <a:p>
            <a:pPr marL="0" indent="0" algn="l">
              <a:lnSpc>
                <a:spcPts val="2400"/>
              </a:lnSpc>
              <a:buNone/>
            </a:pPr>
            <a:r>
              <a:rPr lang="en-US" sz="1800" kern="0" spc="-75" dirty="0">
                <a:solidFill>
                  <a:srgbClr val="4E5E78"/>
                </a:solidFill>
                <a:latin typeface="Equip Extended Regular" pitchFamily="34" charset="0"/>
                <a:ea typeface="Equip Extended Regular" pitchFamily="34" charset="-122"/>
                <a:cs typeface="Equip Extended Regular" pitchFamily="34" charset="-120"/>
              </a:rPr>
              <a:t>Title</a:t>
            </a:r>
            <a:endParaRPr lang="en-US" sz="1800" dirty="0"/>
          </a:p>
        </p:txBody>
      </p:sp>
      <p:sp>
        <p:nvSpPr>
          <p:cNvPr id="17" name="This is a very longand extensive paragraphthat ends here"/>
          <p:cNvSpPr/>
          <p:nvPr/>
        </p:nvSpPr>
        <p:spPr>
          <a:xfrm>
            <a:off x="7062470" y="3374390"/>
            <a:ext cx="1962150" cy="571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This is a very long</a:t>
            </a:r>
            <a:br>
              <a:rPr dirty="0"/>
            </a:br>
            <a:r>
              <a:rPr lang="en-US" sz="1200" dirty="0">
                <a:solidFill>
                  <a:srgbClr val="4E5E78"/>
                </a:solidFill>
                <a:latin typeface="Equip Extended Regular" pitchFamily="34" charset="0"/>
                <a:ea typeface="Equip Extended Regular" pitchFamily="34" charset="-122"/>
                <a:cs typeface="Equip Extended Regular" pitchFamily="34" charset="-120"/>
              </a:rPr>
              <a:t>and extensive paragraph</a:t>
            </a:r>
            <a:br>
              <a:rPr dirty="0"/>
            </a:br>
            <a:r>
              <a:rPr lang="en-US" sz="1200" dirty="0">
                <a:solidFill>
                  <a:srgbClr val="4E5E78"/>
                </a:solidFill>
                <a:latin typeface="Equip Extended Regular" pitchFamily="34" charset="0"/>
                <a:ea typeface="Equip Extended Regular" pitchFamily="34" charset="-122"/>
                <a:cs typeface="Equip Extended Regular" pitchFamily="34" charset="-120"/>
              </a:rPr>
              <a:t>that ends here.</a:t>
            </a:r>
            <a:endParaRPr lang="en-US" sz="1200" dirty="0"/>
          </a:p>
        </p:txBody>
      </p:sp>
      <p:sp>
        <p:nvSpPr>
          <p:cNvPr id="18" name="This is a very longand extensive paragraphthat ends here"/>
          <p:cNvSpPr/>
          <p:nvPr/>
        </p:nvSpPr>
        <p:spPr>
          <a:xfrm>
            <a:off x="7062470" y="4493259"/>
            <a:ext cx="1962150" cy="571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This is a very long</a:t>
            </a:r>
            <a:br>
              <a:rPr dirty="0"/>
            </a:br>
            <a:r>
              <a:rPr lang="en-US" sz="1200" dirty="0">
                <a:solidFill>
                  <a:srgbClr val="4E5E78"/>
                </a:solidFill>
                <a:latin typeface="Equip Extended Regular" pitchFamily="34" charset="0"/>
                <a:ea typeface="Equip Extended Regular" pitchFamily="34" charset="-122"/>
                <a:cs typeface="Equip Extended Regular" pitchFamily="34" charset="-120"/>
              </a:rPr>
              <a:t>and extensive paragraph</a:t>
            </a:r>
            <a:br>
              <a:rPr dirty="0"/>
            </a:br>
            <a:r>
              <a:rPr lang="en-US" sz="1200" dirty="0">
                <a:solidFill>
                  <a:srgbClr val="4E5E78"/>
                </a:solidFill>
                <a:latin typeface="Equip Extended Regular" pitchFamily="34" charset="0"/>
                <a:ea typeface="Equip Extended Regular" pitchFamily="34" charset="-122"/>
                <a:cs typeface="Equip Extended Regular" pitchFamily="34" charset="-120"/>
              </a:rPr>
              <a:t>that ends here.</a:t>
            </a:r>
            <a:endParaRPr lang="en-US" sz="1200" dirty="0"/>
          </a:p>
        </p:txBody>
      </p:sp>
      <p:sp>
        <p:nvSpPr>
          <p:cNvPr id="19" name="small note"/>
          <p:cNvSpPr/>
          <p:nvPr/>
        </p:nvSpPr>
        <p:spPr>
          <a:xfrm>
            <a:off x="7729220" y="5562600"/>
            <a:ext cx="628650" cy="152400"/>
          </a:xfrm>
          <a:prstGeom prst="rect">
            <a:avLst/>
          </a:prstGeom>
          <a:noFill/>
          <a:ln/>
        </p:spPr>
        <p:txBody>
          <a:bodyPr wrap="square" lIns="0" tIns="0" rIns="0" bIns="0" rtlCol="0" anchor="t"/>
          <a:lstStyle/>
          <a:p>
            <a:pPr marL="0" indent="0" algn="l">
              <a:lnSpc>
                <a:spcPts val="1200"/>
              </a:lnSpc>
              <a:spcAft>
                <a:spcPts val="1500"/>
              </a:spcAft>
              <a:buNone/>
            </a:pPr>
            <a:r>
              <a:rPr lang="en-US" sz="900" dirty="0">
                <a:solidFill>
                  <a:srgbClr val="4E5E78"/>
                </a:solidFill>
                <a:latin typeface="Equip Extended Regular" pitchFamily="34" charset="0"/>
                <a:ea typeface="Equip Extended Regular" pitchFamily="34" charset="-122"/>
                <a:cs typeface="Equip Extended Regular" pitchFamily="34" charset="-120"/>
              </a:rPr>
              <a:t>small note</a:t>
            </a:r>
            <a:endParaRPr lang="en-US" sz="900" dirty="0"/>
          </a:p>
        </p:txBody>
      </p:sp>
      <p:sp>
        <p:nvSpPr>
          <p:cNvPr id="20" name="This is a very longand extensive paragraphthat ends here"/>
          <p:cNvSpPr/>
          <p:nvPr/>
        </p:nvSpPr>
        <p:spPr>
          <a:xfrm>
            <a:off x="15067872" y="2650331"/>
            <a:ext cx="2277153" cy="571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This is a very long</a:t>
            </a:r>
            <a:br>
              <a:rPr dirty="0"/>
            </a:br>
            <a:r>
              <a:rPr lang="en-US" sz="1200" dirty="0">
                <a:solidFill>
                  <a:srgbClr val="4E5E78"/>
                </a:solidFill>
                <a:latin typeface="Equip Extended Regular" pitchFamily="34" charset="0"/>
                <a:ea typeface="Equip Extended Regular" pitchFamily="34" charset="-122"/>
                <a:cs typeface="Equip Extended Regular" pitchFamily="34" charset="-120"/>
              </a:rPr>
              <a:t>and extensive paragraph</a:t>
            </a:r>
            <a:br>
              <a:rPr dirty="0"/>
            </a:br>
            <a:r>
              <a:rPr lang="en-US" sz="1200" dirty="0">
                <a:solidFill>
                  <a:srgbClr val="4E5E78"/>
                </a:solidFill>
                <a:latin typeface="Equip Extended Regular" pitchFamily="34" charset="0"/>
                <a:ea typeface="Equip Extended Regular" pitchFamily="34" charset="-122"/>
                <a:cs typeface="Equip Extended Regular" pitchFamily="34" charset="-120"/>
              </a:rPr>
              <a:t>that ends here.</a:t>
            </a:r>
            <a:endParaRPr lang="en-US" sz="1200" dirty="0"/>
          </a:p>
        </p:txBody>
      </p:sp>
      <p:sp>
        <p:nvSpPr>
          <p:cNvPr id="21" name="This is a very longand extensive paragraphthat ends here"/>
          <p:cNvSpPr/>
          <p:nvPr/>
        </p:nvSpPr>
        <p:spPr>
          <a:xfrm>
            <a:off x="14886576" y="3324226"/>
            <a:ext cx="2591122" cy="2228850"/>
          </a:xfrm>
          <a:prstGeom prst="rect">
            <a:avLst/>
          </a:prstGeom>
          <a:noFill/>
          <a:ln/>
        </p:spPr>
        <p:txBody>
          <a:bodyPr wrap="square" lIns="190500" tIns="190500" rIns="190500" bIns="190500" rtlCol="0" anchor="t"/>
          <a:lstStyle/>
          <a:p>
            <a:pPr marL="152400" indent="-152400" algn="l">
              <a:lnSpc>
                <a:spcPts val="1500"/>
              </a:lnSpc>
              <a:buSzPct val="100000"/>
              <a:buChar char="•"/>
            </a:pPr>
            <a:r>
              <a:rPr lang="en-US" sz="1200" dirty="0">
                <a:solidFill>
                  <a:srgbClr val="4E5E78"/>
                </a:solidFill>
                <a:latin typeface="Equip Extended Regular" pitchFamily="34" charset="0"/>
                <a:ea typeface="Equip Extended Regular" pitchFamily="34" charset="-122"/>
                <a:cs typeface="Equip Extended Regular" pitchFamily="34" charset="-120"/>
              </a:rPr>
              <a:t>This is a very long</a:t>
            </a:r>
            <a:br>
              <a:rPr dirty="0"/>
            </a:br>
            <a:r>
              <a:rPr lang="en-US" sz="1200" dirty="0">
                <a:solidFill>
                  <a:srgbClr val="4E5E78"/>
                </a:solidFill>
                <a:latin typeface="Equip Extended Regular" pitchFamily="34" charset="0"/>
                <a:ea typeface="Equip Extended Regular" pitchFamily="34" charset="-122"/>
                <a:cs typeface="Equip Extended Regular" pitchFamily="34" charset="-120"/>
              </a:rPr>
              <a:t>and extensive paragraph</a:t>
            </a:r>
            <a:br>
              <a:rPr dirty="0"/>
            </a:br>
            <a:r>
              <a:rPr lang="en-US" sz="1200" dirty="0">
                <a:solidFill>
                  <a:srgbClr val="4E5E78"/>
                </a:solidFill>
                <a:latin typeface="Equip Extended Regular" pitchFamily="34" charset="0"/>
                <a:ea typeface="Equip Extended Regular" pitchFamily="34" charset="-122"/>
                <a:cs typeface="Equip Extended Regular" pitchFamily="34" charset="-120"/>
              </a:rPr>
              <a:t>that ends here.</a:t>
            </a:r>
          </a:p>
          <a:p>
            <a:pPr marL="152400" indent="-152400">
              <a:lnSpc>
                <a:spcPts val="1500"/>
              </a:lnSpc>
              <a:buSzPct val="100000"/>
              <a:buFontTx/>
              <a:buChar char="•"/>
            </a:pPr>
            <a:r>
              <a:rPr lang="en-US" sz="1200" dirty="0">
                <a:solidFill>
                  <a:srgbClr val="4E5E78"/>
                </a:solidFill>
                <a:latin typeface="Equip Extended Regular" pitchFamily="34" charset="0"/>
                <a:ea typeface="Equip Extended Regular" pitchFamily="34" charset="-122"/>
                <a:cs typeface="Equip Extended Regular" pitchFamily="34" charset="-120"/>
              </a:rPr>
              <a:t>This is a very long</a:t>
            </a:r>
            <a:br>
              <a:rPr lang="en-US" sz="1200" dirty="0"/>
            </a:br>
            <a:r>
              <a:rPr lang="en-US" sz="1200" dirty="0">
                <a:solidFill>
                  <a:srgbClr val="4E5E78"/>
                </a:solidFill>
                <a:latin typeface="Equip Extended Regular" pitchFamily="34" charset="0"/>
                <a:ea typeface="Equip Extended Regular" pitchFamily="34" charset="-122"/>
                <a:cs typeface="Equip Extended Regular" pitchFamily="34" charset="-120"/>
              </a:rPr>
              <a:t>and extensive paragraph</a:t>
            </a:r>
            <a:br>
              <a:rPr lang="en-US" sz="1200" dirty="0"/>
            </a:br>
            <a:r>
              <a:rPr lang="en-US" sz="1200" dirty="0">
                <a:solidFill>
                  <a:srgbClr val="4E5E78"/>
                </a:solidFill>
                <a:latin typeface="Equip Extended Regular" pitchFamily="34" charset="0"/>
                <a:ea typeface="Equip Extended Regular" pitchFamily="34" charset="-122"/>
                <a:cs typeface="Equip Extended Regular" pitchFamily="34" charset="-120"/>
              </a:rPr>
              <a:t>that ends here.</a:t>
            </a:r>
            <a:endParaRPr lang="en-US" sz="1200" dirty="0"/>
          </a:p>
          <a:p>
            <a:pPr marL="152400" indent="-152400">
              <a:lnSpc>
                <a:spcPts val="1500"/>
              </a:lnSpc>
              <a:buSzPct val="100000"/>
              <a:buFontTx/>
              <a:buChar char="•"/>
            </a:pPr>
            <a:r>
              <a:rPr lang="en-US" sz="1200" dirty="0">
                <a:solidFill>
                  <a:srgbClr val="4E5E78"/>
                </a:solidFill>
                <a:latin typeface="Equip Extended Regular" pitchFamily="34" charset="0"/>
                <a:ea typeface="Equip Extended Regular" pitchFamily="34" charset="-122"/>
                <a:cs typeface="Equip Extended Regular" pitchFamily="34" charset="-120"/>
              </a:rPr>
              <a:t>This is a very long</a:t>
            </a:r>
            <a:br>
              <a:rPr lang="en-US" sz="1200" dirty="0"/>
            </a:br>
            <a:r>
              <a:rPr lang="en-US" sz="1200" dirty="0">
                <a:solidFill>
                  <a:srgbClr val="4E5E78"/>
                </a:solidFill>
                <a:latin typeface="Equip Extended Regular" pitchFamily="34" charset="0"/>
                <a:ea typeface="Equip Extended Regular" pitchFamily="34" charset="-122"/>
                <a:cs typeface="Equip Extended Regular" pitchFamily="34" charset="-120"/>
              </a:rPr>
              <a:t>and extensive paragraph</a:t>
            </a:r>
            <a:br>
              <a:rPr lang="en-US" sz="1200" dirty="0"/>
            </a:br>
            <a:r>
              <a:rPr lang="en-US" sz="1200" dirty="0">
                <a:solidFill>
                  <a:srgbClr val="4E5E78"/>
                </a:solidFill>
                <a:latin typeface="Equip Extended Regular" pitchFamily="34" charset="0"/>
                <a:ea typeface="Equip Extended Regular" pitchFamily="34" charset="-122"/>
                <a:cs typeface="Equip Extended Regular" pitchFamily="34" charset="-120"/>
              </a:rPr>
              <a:t>that ends here.</a:t>
            </a:r>
            <a:endParaRPr lang="en-US" sz="1200" dirty="0"/>
          </a:p>
        </p:txBody>
      </p:sp>
      <p:sp>
        <p:nvSpPr>
          <p:cNvPr id="24" name="Bullet Point 1"/>
          <p:cNvSpPr/>
          <p:nvPr/>
        </p:nvSpPr>
        <p:spPr>
          <a:xfrm>
            <a:off x="10010774" y="2758665"/>
            <a:ext cx="1038225" cy="209550"/>
          </a:xfrm>
          <a:prstGeom prst="rect">
            <a:avLst/>
          </a:prstGeom>
          <a:noFill/>
          <a:ln/>
        </p:spPr>
        <p:txBody>
          <a:bodyPr wrap="square" lIns="0" tIns="0" rIns="0" bIns="0" rtlCol="0" anchor="t"/>
          <a:lstStyle/>
          <a:p>
            <a:pPr marL="0" indent="0" algn="l">
              <a:lnSpc>
                <a:spcPct val="116667"/>
              </a:lnSpc>
              <a:buNone/>
            </a:pPr>
            <a:r>
              <a:rPr lang="en-US" sz="1200" dirty="0">
                <a:solidFill>
                  <a:srgbClr val="4E5E78"/>
                </a:solidFill>
                <a:latin typeface="Equip Extended Regular" pitchFamily="34" charset="0"/>
                <a:ea typeface="Equip Extended Regular" pitchFamily="34" charset="-122"/>
                <a:cs typeface="Equip Extended Regular" pitchFamily="34" charset="-120"/>
              </a:rPr>
              <a:t>Bullet Point 1</a:t>
            </a:r>
            <a:endParaRPr lang="en-US" sz="1200" dirty="0"/>
          </a:p>
        </p:txBody>
      </p:sp>
      <p:sp>
        <p:nvSpPr>
          <p:cNvPr id="25" name="Bullet Point 2"/>
          <p:cNvSpPr/>
          <p:nvPr/>
        </p:nvSpPr>
        <p:spPr>
          <a:xfrm>
            <a:off x="10010774" y="3273015"/>
            <a:ext cx="1038225" cy="209550"/>
          </a:xfrm>
          <a:prstGeom prst="rect">
            <a:avLst/>
          </a:prstGeom>
          <a:noFill/>
          <a:ln/>
        </p:spPr>
        <p:txBody>
          <a:bodyPr wrap="square" lIns="0" tIns="0" rIns="0" bIns="0" rtlCol="0" anchor="t"/>
          <a:lstStyle/>
          <a:p>
            <a:pPr marL="0" indent="0" algn="l">
              <a:lnSpc>
                <a:spcPct val="116667"/>
              </a:lnSpc>
              <a:buNone/>
            </a:pPr>
            <a:r>
              <a:rPr lang="en-US" sz="1200" dirty="0">
                <a:solidFill>
                  <a:srgbClr val="4E5E78"/>
                </a:solidFill>
                <a:latin typeface="Equip Extended Regular" pitchFamily="34" charset="0"/>
                <a:ea typeface="Equip Extended Regular" pitchFamily="34" charset="-122"/>
                <a:cs typeface="Equip Extended Regular" pitchFamily="34" charset="-120"/>
              </a:rPr>
              <a:t>Bullet Point 2</a:t>
            </a:r>
            <a:endParaRPr lang="en-US" sz="1200" dirty="0"/>
          </a:p>
        </p:txBody>
      </p:sp>
      <p:sp>
        <p:nvSpPr>
          <p:cNvPr id="26" name="Bullet Point 3"/>
          <p:cNvSpPr/>
          <p:nvPr/>
        </p:nvSpPr>
        <p:spPr>
          <a:xfrm>
            <a:off x="10010774" y="3787365"/>
            <a:ext cx="1038225" cy="209550"/>
          </a:xfrm>
          <a:prstGeom prst="rect">
            <a:avLst/>
          </a:prstGeom>
          <a:noFill/>
          <a:ln/>
        </p:spPr>
        <p:txBody>
          <a:bodyPr wrap="square" lIns="0" tIns="0" rIns="0" bIns="0" rtlCol="0" anchor="t"/>
          <a:lstStyle/>
          <a:p>
            <a:pPr marL="0" indent="0" algn="l">
              <a:lnSpc>
                <a:spcPct val="116667"/>
              </a:lnSpc>
              <a:buNone/>
            </a:pPr>
            <a:r>
              <a:rPr lang="en-US" sz="1200" dirty="0">
                <a:solidFill>
                  <a:srgbClr val="4E5E78"/>
                </a:solidFill>
                <a:latin typeface="Equip Extended Regular" pitchFamily="34" charset="0"/>
                <a:ea typeface="Equip Extended Regular" pitchFamily="34" charset="-122"/>
                <a:cs typeface="Equip Extended Regular" pitchFamily="34" charset="-120"/>
              </a:rPr>
              <a:t>Bullet Point 3</a:t>
            </a:r>
            <a:endParaRPr lang="en-US" sz="1200" dirty="0"/>
          </a:p>
        </p:txBody>
      </p:sp>
      <p:sp>
        <p:nvSpPr>
          <p:cNvPr id="27" name="Bullet Point 1"/>
          <p:cNvSpPr/>
          <p:nvPr/>
        </p:nvSpPr>
        <p:spPr>
          <a:xfrm>
            <a:off x="10010774" y="4524375"/>
            <a:ext cx="1038225" cy="209550"/>
          </a:xfrm>
          <a:prstGeom prst="rect">
            <a:avLst/>
          </a:prstGeom>
          <a:noFill/>
          <a:ln/>
        </p:spPr>
        <p:txBody>
          <a:bodyPr wrap="square" lIns="0" tIns="0" rIns="0" bIns="0" rtlCol="0" anchor="t"/>
          <a:lstStyle/>
          <a:p>
            <a:pPr marL="0" indent="0" algn="l">
              <a:lnSpc>
                <a:spcPct val="116667"/>
              </a:lnSpc>
              <a:buNone/>
            </a:pPr>
            <a:r>
              <a:rPr lang="en-US" sz="1200" dirty="0">
                <a:solidFill>
                  <a:srgbClr val="4E5E78"/>
                </a:solidFill>
                <a:latin typeface="Equip Extended Regular" pitchFamily="34" charset="0"/>
                <a:ea typeface="Equip Extended Regular" pitchFamily="34" charset="-122"/>
                <a:cs typeface="Equip Extended Regular" pitchFamily="34" charset="-120"/>
              </a:rPr>
              <a:t>Bullet Point 1</a:t>
            </a:r>
            <a:endParaRPr lang="en-US" sz="1200" dirty="0"/>
          </a:p>
        </p:txBody>
      </p:sp>
      <p:sp>
        <p:nvSpPr>
          <p:cNvPr id="28" name="Bullet Point 2"/>
          <p:cNvSpPr/>
          <p:nvPr/>
        </p:nvSpPr>
        <p:spPr>
          <a:xfrm>
            <a:off x="10010774" y="5038725"/>
            <a:ext cx="1038225" cy="209550"/>
          </a:xfrm>
          <a:prstGeom prst="rect">
            <a:avLst/>
          </a:prstGeom>
          <a:noFill/>
          <a:ln/>
        </p:spPr>
        <p:txBody>
          <a:bodyPr wrap="square" lIns="0" tIns="0" rIns="0" bIns="0" rtlCol="0" anchor="t"/>
          <a:lstStyle/>
          <a:p>
            <a:pPr marL="0" indent="0" algn="l">
              <a:lnSpc>
                <a:spcPct val="116667"/>
              </a:lnSpc>
              <a:buNone/>
            </a:pPr>
            <a:r>
              <a:rPr lang="en-US" sz="1200" dirty="0">
                <a:solidFill>
                  <a:srgbClr val="4E5E78"/>
                </a:solidFill>
                <a:latin typeface="Equip Extended Regular" pitchFamily="34" charset="0"/>
                <a:ea typeface="Equip Extended Regular" pitchFamily="34" charset="-122"/>
                <a:cs typeface="Equip Extended Regular" pitchFamily="34" charset="-120"/>
              </a:rPr>
              <a:t>Bullet Point 2</a:t>
            </a:r>
            <a:endParaRPr lang="en-US" sz="1200" dirty="0"/>
          </a:p>
        </p:txBody>
      </p:sp>
      <p:sp>
        <p:nvSpPr>
          <p:cNvPr id="29" name="Bullet Point 3"/>
          <p:cNvSpPr/>
          <p:nvPr/>
        </p:nvSpPr>
        <p:spPr>
          <a:xfrm>
            <a:off x="10010774" y="5553075"/>
            <a:ext cx="1038225" cy="209550"/>
          </a:xfrm>
          <a:prstGeom prst="rect">
            <a:avLst/>
          </a:prstGeom>
          <a:noFill/>
          <a:ln/>
        </p:spPr>
        <p:txBody>
          <a:bodyPr wrap="square" lIns="0" tIns="0" rIns="0" bIns="0" rtlCol="0" anchor="t"/>
          <a:lstStyle/>
          <a:p>
            <a:pPr marL="0" indent="0" algn="l">
              <a:lnSpc>
                <a:spcPct val="116667"/>
              </a:lnSpc>
              <a:buNone/>
            </a:pPr>
            <a:r>
              <a:rPr lang="en-US" sz="1200" dirty="0">
                <a:solidFill>
                  <a:srgbClr val="4E5E78"/>
                </a:solidFill>
                <a:latin typeface="Equip Extended Regular" pitchFamily="34" charset="0"/>
                <a:ea typeface="Equip Extended Regular" pitchFamily="34" charset="-122"/>
                <a:cs typeface="Equip Extended Regular" pitchFamily="34" charset="-120"/>
              </a:rPr>
              <a:t>Bullet Point 3</a:t>
            </a:r>
            <a:endParaRPr lang="en-US" sz="1200" dirty="0"/>
          </a:p>
        </p:txBody>
      </p:sp>
      <p:sp>
        <p:nvSpPr>
          <p:cNvPr id="30" name="small note"/>
          <p:cNvSpPr/>
          <p:nvPr/>
        </p:nvSpPr>
        <p:spPr>
          <a:xfrm>
            <a:off x="1890713" y="6724650"/>
            <a:ext cx="628650" cy="152400"/>
          </a:xfrm>
          <a:prstGeom prst="rect">
            <a:avLst/>
          </a:prstGeom>
          <a:noFill/>
          <a:ln/>
        </p:spPr>
        <p:txBody>
          <a:bodyPr wrap="square" lIns="0" tIns="0" rIns="0" bIns="0" rtlCol="0" anchor="t"/>
          <a:lstStyle/>
          <a:p>
            <a:pPr marL="0" indent="0" algn="l">
              <a:lnSpc>
                <a:spcPts val="1200"/>
              </a:lnSpc>
              <a:spcAft>
                <a:spcPts val="1500"/>
              </a:spcAft>
              <a:buNone/>
            </a:pPr>
            <a:r>
              <a:rPr lang="en-US" sz="900" dirty="0">
                <a:solidFill>
                  <a:srgbClr val="4E5E78"/>
                </a:solidFill>
                <a:latin typeface="Equip Extended Regular" pitchFamily="34" charset="0"/>
                <a:ea typeface="Equip Extended Regular" pitchFamily="34" charset="-122"/>
                <a:cs typeface="Equip Extended Regular" pitchFamily="34" charset="-120"/>
              </a:rPr>
              <a:t>small note</a:t>
            </a:r>
            <a:endParaRPr lang="en-US" sz="900" dirty="0"/>
          </a:p>
        </p:txBody>
      </p:sp>
      <p:sp>
        <p:nvSpPr>
          <p:cNvPr id="31" name="Server"/>
          <p:cNvSpPr/>
          <p:nvPr/>
        </p:nvSpPr>
        <p:spPr>
          <a:xfrm>
            <a:off x="1009650" y="7396162"/>
            <a:ext cx="419100" cy="152400"/>
          </a:xfrm>
          <a:prstGeom prst="rect">
            <a:avLst/>
          </a:prstGeom>
          <a:noFill/>
          <a:ln/>
        </p:spPr>
        <p:txBody>
          <a:bodyPr wrap="square" lIns="0" tIns="0" rIns="0" bIns="0" rtlCol="0" anchor="t"/>
          <a:lstStyle/>
          <a:p>
            <a:pPr marL="0" indent="0" algn="l">
              <a:lnSpc>
                <a:spcPts val="1200"/>
              </a:lnSpc>
              <a:spcAft>
                <a:spcPts val="1500"/>
              </a:spcAft>
              <a:buNone/>
            </a:pPr>
            <a:r>
              <a:rPr lang="en-US" sz="900" dirty="0">
                <a:solidFill>
                  <a:srgbClr val="EFF1F4"/>
                </a:solidFill>
                <a:latin typeface="Equip Extended Regular" pitchFamily="34" charset="0"/>
                <a:ea typeface="Equip Extended Regular" pitchFamily="34" charset="-122"/>
                <a:cs typeface="Equip Extended Regular" pitchFamily="34" charset="-120"/>
              </a:rPr>
              <a:t>Server</a:t>
            </a:r>
            <a:endParaRPr lang="en-US" sz="900" dirty="0"/>
          </a:p>
        </p:txBody>
      </p:sp>
      <p:sp>
        <p:nvSpPr>
          <p:cNvPr id="32" name="Server"/>
          <p:cNvSpPr/>
          <p:nvPr/>
        </p:nvSpPr>
        <p:spPr>
          <a:xfrm>
            <a:off x="1990725" y="7396162"/>
            <a:ext cx="419100" cy="152400"/>
          </a:xfrm>
          <a:prstGeom prst="rect">
            <a:avLst/>
          </a:prstGeom>
          <a:noFill/>
          <a:ln/>
        </p:spPr>
        <p:txBody>
          <a:bodyPr wrap="square" lIns="0" tIns="0" rIns="0" bIns="0" rtlCol="0" anchor="t"/>
          <a:lstStyle/>
          <a:p>
            <a:pPr marL="0" indent="0" algn="l">
              <a:lnSpc>
                <a:spcPts val="1200"/>
              </a:lnSpc>
              <a:spcAft>
                <a:spcPts val="1500"/>
              </a:spcAft>
              <a:buNone/>
            </a:pPr>
            <a:r>
              <a:rPr lang="en-US" sz="900" dirty="0">
                <a:solidFill>
                  <a:srgbClr val="4E5E78"/>
                </a:solidFill>
                <a:latin typeface="Equip Extended Regular" pitchFamily="34" charset="0"/>
                <a:ea typeface="Equip Extended Regular" pitchFamily="34" charset="-122"/>
                <a:cs typeface="Equip Extended Regular" pitchFamily="34" charset="-120"/>
              </a:rPr>
              <a:t>Server</a:t>
            </a:r>
            <a:endParaRPr lang="en-US" sz="900" dirty="0"/>
          </a:p>
        </p:txBody>
      </p:sp>
      <p:sp>
        <p:nvSpPr>
          <p:cNvPr id="33" name="Server"/>
          <p:cNvSpPr/>
          <p:nvPr/>
        </p:nvSpPr>
        <p:spPr>
          <a:xfrm>
            <a:off x="2981325" y="7396162"/>
            <a:ext cx="419100" cy="152400"/>
          </a:xfrm>
          <a:prstGeom prst="rect">
            <a:avLst/>
          </a:prstGeom>
          <a:noFill/>
          <a:ln/>
        </p:spPr>
        <p:txBody>
          <a:bodyPr wrap="square" lIns="0" tIns="0" rIns="0" bIns="0" rtlCol="0" anchor="t"/>
          <a:lstStyle/>
          <a:p>
            <a:pPr marL="0" indent="0" algn="l">
              <a:lnSpc>
                <a:spcPts val="1200"/>
              </a:lnSpc>
              <a:spcAft>
                <a:spcPts val="1500"/>
              </a:spcAft>
              <a:buNone/>
            </a:pPr>
            <a:r>
              <a:rPr lang="en-US" sz="900" dirty="0">
                <a:solidFill>
                  <a:srgbClr val="4E5E78"/>
                </a:solidFill>
                <a:latin typeface="Equip Extended Regular" pitchFamily="34" charset="0"/>
                <a:ea typeface="Equip Extended Regular" pitchFamily="34" charset="-122"/>
                <a:cs typeface="Equip Extended Regular" pitchFamily="34" charset="-120"/>
              </a:rPr>
              <a:t>Server</a:t>
            </a:r>
            <a:endParaRPr lang="en-US" sz="900" dirty="0"/>
          </a:p>
        </p:txBody>
      </p:sp>
      <p:pic>
        <p:nvPicPr>
          <p:cNvPr id="34" name="Graphic 33">
            <a:extLst>
              <a:ext uri="{FF2B5EF4-FFF2-40B4-BE49-F238E27FC236}">
                <a16:creationId xmlns:a16="http://schemas.microsoft.com/office/drawing/2014/main" id="{53412EA6-BAD1-B329-483B-3EE3C5872D0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92730" y="101077"/>
            <a:ext cx="2198820" cy="1649115"/>
          </a:xfrm>
          <a:prstGeom prst="rect">
            <a:avLst/>
          </a:prstGeom>
        </p:spPr>
      </p:pic>
      <p:cxnSp>
        <p:nvCxnSpPr>
          <p:cNvPr id="35" name="Straight Connector 34">
            <a:extLst>
              <a:ext uri="{FF2B5EF4-FFF2-40B4-BE49-F238E27FC236}">
                <a16:creationId xmlns:a16="http://schemas.microsoft.com/office/drawing/2014/main" id="{3CC7933A-5687-5FA3-4E87-92C659D8EA33}"/>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E0E0822-6E17-8987-5EA1-089EDA8240F9}"/>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6B605A8-91D9-CE70-0C7E-E5C90FCF9795}"/>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pic>
        <p:nvPicPr>
          <p:cNvPr id="3" name="Group 1597880682" descr="preencoded.png"/>
          <p:cNvPicPr>
            <a:picLocks noChangeAspect="1"/>
          </p:cNvPicPr>
          <p:nvPr/>
        </p:nvPicPr>
        <p:blipFill>
          <a:blip>
            <a:extLst>
              <a:ext uri="{96DAC541-7B7A-43D3-8B79-37D633B846F1}">
                <asvg:svgBlip xmlns:asvg="http://schemas.microsoft.com/office/drawing/2016/SVG/main" r:embed="rId3"/>
              </a:ext>
            </a:extLst>
          </a:blip>
          <a:srcRect/>
          <a:stretch/>
        </p:blipFill>
        <p:spPr>
          <a:xfrm>
            <a:off x="800100" y="1714500"/>
            <a:ext cx="16725905" cy="7048500"/>
          </a:xfrm>
          <a:prstGeom prst="rect">
            <a:avLst/>
          </a:prstGeom>
        </p:spPr>
      </p:pic>
      <p:sp>
        <p:nvSpPr>
          <p:cNvPr id="4" name="Digital Design Strategy"/>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8893A5"/>
                </a:solidFill>
                <a:latin typeface="Equip Extended Regular" pitchFamily="34" charset="0"/>
                <a:ea typeface="Equip Extended Regular" pitchFamily="34" charset="-122"/>
                <a:cs typeface="Equip Extended Regular" pitchFamily="34" charset="-120"/>
              </a:rPr>
              <a:t>Digital Design Strategy</a:t>
            </a:r>
            <a:endParaRPr lang="en-US" sz="1200" dirty="0"/>
          </a:p>
        </p:txBody>
      </p:sp>
      <p:sp>
        <p:nvSpPr>
          <p:cNvPr id="5" name="Project Name"/>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8893A5"/>
                </a:solidFill>
                <a:latin typeface="Equip Extended Regular" pitchFamily="34" charset="0"/>
                <a:ea typeface="Equip Extended Regular" pitchFamily="34" charset="-122"/>
                <a:cs typeface="Equip Extended Regular" pitchFamily="34" charset="-120"/>
              </a:rPr>
              <a:t>Project Name</a:t>
            </a:r>
            <a:endParaRPr lang="en-US" sz="1200" dirty="0"/>
          </a:p>
        </p:txBody>
      </p:sp>
      <p:sp>
        <p:nvSpPr>
          <p:cNvPr id="6" name="Month Yea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8893A5"/>
                </a:solidFill>
                <a:latin typeface="Equip Extended Regular" pitchFamily="34" charset="0"/>
                <a:ea typeface="Equip Extended Regular" pitchFamily="34" charset="-122"/>
                <a:cs typeface="Equip Extended Regular" pitchFamily="34" charset="-120"/>
              </a:rPr>
              <a:t>Month Year</a:t>
            </a:r>
            <a:endParaRPr lang="en-US" sz="1200" dirty="0"/>
          </a:p>
        </p:txBody>
      </p:sp>
      <p:sp>
        <p:nvSpPr>
          <p:cNvPr id="7" name="2026"/>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8893A5"/>
                </a:solidFill>
                <a:latin typeface="Equip Extended Regular" pitchFamily="34" charset="0"/>
                <a:ea typeface="Equip Extended Regular" pitchFamily="34" charset="-122"/>
                <a:cs typeface="Equip Extended Regular" pitchFamily="34" charset="-120"/>
              </a:rPr>
              <a:t>© 2026</a:t>
            </a:r>
            <a:endParaRPr lang="en-US" sz="1200" dirty="0"/>
          </a:p>
        </p:txBody>
      </p:sp>
      <p:sp>
        <p:nvSpPr>
          <p:cNvPr id="8" name="Align with Business Strategy"/>
          <p:cNvSpPr/>
          <p:nvPr/>
        </p:nvSpPr>
        <p:spPr>
          <a:xfrm>
            <a:off x="800100" y="1714500"/>
            <a:ext cx="2625655" cy="609652"/>
          </a:xfrm>
          <a:prstGeom prst="rect">
            <a:avLst/>
          </a:prstGeom>
          <a:noFill/>
          <a:ln/>
        </p:spPr>
        <p:txBody>
          <a:bodyPr wrap="square" lIns="0" tIns="0" rIns="0" bIns="0" rtlCol="0" anchor="t"/>
          <a:lstStyle/>
          <a:p>
            <a:pPr marL="0" indent="0" algn="l">
              <a:lnSpc>
                <a:spcPts val="2400"/>
              </a:lnSpc>
              <a:buNone/>
            </a:pPr>
            <a:r>
              <a:rPr lang="en-US" sz="1800" kern="0" spc="-75" dirty="0">
                <a:solidFill>
                  <a:srgbClr val="4E5E78"/>
                </a:solidFill>
                <a:latin typeface="Equip Extended Regular" pitchFamily="34" charset="0"/>
                <a:ea typeface="Equip Extended Regular" pitchFamily="34" charset="-122"/>
                <a:cs typeface="Equip Extended Regular" pitchFamily="34" charset="-120"/>
              </a:rPr>
              <a:t>Align with 
Business Strategy</a:t>
            </a:r>
            <a:endParaRPr lang="en-US" sz="1800" dirty="0"/>
          </a:p>
        </p:txBody>
      </p:sp>
      <p:sp>
        <p:nvSpPr>
          <p:cNvPr id="9" name="Business Discovery"/>
          <p:cNvSpPr/>
          <p:nvPr/>
        </p:nvSpPr>
        <p:spPr>
          <a:xfrm>
            <a:off x="800100" y="3887870"/>
            <a:ext cx="790518" cy="381033"/>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Business </a:t>
            </a:r>
            <a:br/>
            <a:r>
              <a:rPr lang="en-US" sz="1200" dirty="0">
                <a:solidFill>
                  <a:srgbClr val="4E5E78"/>
                </a:solidFill>
                <a:latin typeface="Equip Extended Regular" pitchFamily="34" charset="0"/>
                <a:ea typeface="Equip Extended Regular" pitchFamily="34" charset="-122"/>
                <a:cs typeface="Equip Extended Regular" pitchFamily="34" charset="-120"/>
              </a:rPr>
              <a:t>Discovery</a:t>
            </a:r>
            <a:endParaRPr lang="en-US" sz="1200" dirty="0"/>
          </a:p>
        </p:txBody>
      </p:sp>
      <p:sp>
        <p:nvSpPr>
          <p:cNvPr id="10" name="Definition Ideation"/>
          <p:cNvSpPr/>
          <p:nvPr/>
        </p:nvSpPr>
        <p:spPr>
          <a:xfrm>
            <a:off x="3002700" y="3887870"/>
            <a:ext cx="2052202" cy="381033"/>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Definition &amp;</a:t>
            </a:r>
            <a:br/>
            <a:r>
              <a:rPr lang="en-US" sz="1200" dirty="0">
                <a:solidFill>
                  <a:srgbClr val="4E5E78"/>
                </a:solidFill>
                <a:latin typeface="Equip Extended Regular" pitchFamily="34" charset="0"/>
                <a:ea typeface="Equip Extended Regular" pitchFamily="34" charset="-122"/>
                <a:cs typeface="Equip Extended Regular" pitchFamily="34" charset="-120"/>
              </a:rPr>
              <a:t>Ideation</a:t>
            </a:r>
            <a:endParaRPr lang="en-US" sz="1200" dirty="0"/>
          </a:p>
        </p:txBody>
      </p:sp>
      <p:sp>
        <p:nvSpPr>
          <p:cNvPr id="11" name="Product Roadmap Release Plan"/>
          <p:cNvSpPr/>
          <p:nvPr/>
        </p:nvSpPr>
        <p:spPr>
          <a:xfrm>
            <a:off x="5413790" y="3887870"/>
            <a:ext cx="1609606" cy="381033"/>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Product Roadmap &amp;</a:t>
            </a:r>
            <a:br>
              <a:rPr dirty="0"/>
            </a:br>
            <a:r>
              <a:rPr lang="en-US" sz="1200" dirty="0">
                <a:solidFill>
                  <a:srgbClr val="4E5E78"/>
                </a:solidFill>
                <a:latin typeface="Equip Extended Regular" pitchFamily="34" charset="0"/>
                <a:ea typeface="Equip Extended Regular" pitchFamily="34" charset="-122"/>
                <a:cs typeface="Equip Extended Regular" pitchFamily="34" charset="-120"/>
              </a:rPr>
              <a:t>Release Plan</a:t>
            </a:r>
            <a:endParaRPr lang="en-US" sz="1200" dirty="0"/>
          </a:p>
        </p:txBody>
      </p:sp>
      <p:sp>
        <p:nvSpPr>
          <p:cNvPr id="12" name="Design Sprints"/>
          <p:cNvSpPr/>
          <p:nvPr/>
        </p:nvSpPr>
        <p:spPr>
          <a:xfrm>
            <a:off x="7772772" y="3887870"/>
            <a:ext cx="600032" cy="381033"/>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Design </a:t>
            </a:r>
            <a:br/>
            <a:r>
              <a:rPr lang="en-US" sz="1200" dirty="0">
                <a:solidFill>
                  <a:srgbClr val="4E5E78"/>
                </a:solidFill>
                <a:latin typeface="Equip Extended Regular" pitchFamily="34" charset="0"/>
                <a:ea typeface="Equip Extended Regular" pitchFamily="34" charset="-122"/>
                <a:cs typeface="Equip Extended Regular" pitchFamily="34" charset="-120"/>
              </a:rPr>
              <a:t>Sprints</a:t>
            </a:r>
            <a:endParaRPr lang="en-US" sz="1200" dirty="0"/>
          </a:p>
        </p:txBody>
      </p:sp>
      <p:sp>
        <p:nvSpPr>
          <p:cNvPr id="13" name="SprintBacklog"/>
          <p:cNvSpPr/>
          <p:nvPr/>
        </p:nvSpPr>
        <p:spPr>
          <a:xfrm>
            <a:off x="11982413" y="3887870"/>
            <a:ext cx="1257187" cy="381033"/>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Sprint</a:t>
            </a:r>
            <a:br/>
            <a:r>
              <a:rPr lang="en-US" sz="1200" dirty="0">
                <a:solidFill>
                  <a:srgbClr val="4E5E78"/>
                </a:solidFill>
                <a:latin typeface="Equip Extended Regular" pitchFamily="34" charset="0"/>
                <a:ea typeface="Equip Extended Regular" pitchFamily="34" charset="-122"/>
                <a:cs typeface="Equip Extended Regular" pitchFamily="34" charset="-120"/>
              </a:rPr>
              <a:t>Backlog</a:t>
            </a:r>
            <a:endParaRPr lang="en-US" sz="1200" dirty="0"/>
          </a:p>
        </p:txBody>
      </p:sp>
      <p:sp>
        <p:nvSpPr>
          <p:cNvPr id="14" name="Agile Development"/>
          <p:cNvSpPr/>
          <p:nvPr/>
        </p:nvSpPr>
        <p:spPr>
          <a:xfrm>
            <a:off x="13885273" y="3887870"/>
            <a:ext cx="1257187" cy="381033"/>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Agile Development</a:t>
            </a:r>
            <a:endParaRPr lang="en-US" sz="1200" dirty="0"/>
          </a:p>
        </p:txBody>
      </p:sp>
      <p:sp>
        <p:nvSpPr>
          <p:cNvPr id="15" name="Post-release KPI metrics"/>
          <p:cNvSpPr/>
          <p:nvPr/>
        </p:nvSpPr>
        <p:spPr>
          <a:xfrm>
            <a:off x="15840205" y="3887870"/>
            <a:ext cx="1257187" cy="381033"/>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Post-release KPI metrics</a:t>
            </a:r>
            <a:endParaRPr lang="en-US" sz="1200" dirty="0"/>
          </a:p>
        </p:txBody>
      </p:sp>
      <p:sp>
        <p:nvSpPr>
          <p:cNvPr id="16" name="Discovery Workshops"/>
          <p:cNvSpPr/>
          <p:nvPr/>
        </p:nvSpPr>
        <p:spPr>
          <a:xfrm>
            <a:off x="800100" y="6964159"/>
            <a:ext cx="914333" cy="381033"/>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Discovery </a:t>
            </a:r>
            <a:br/>
            <a:r>
              <a:rPr lang="en-US" sz="1200" dirty="0">
                <a:solidFill>
                  <a:srgbClr val="4E5E78"/>
                </a:solidFill>
                <a:latin typeface="Equip Extended Regular" pitchFamily="34" charset="0"/>
                <a:ea typeface="Equip Extended Regular" pitchFamily="34" charset="-122"/>
                <a:cs typeface="Equip Extended Regular" pitchFamily="34" charset="-120"/>
              </a:rPr>
              <a:t>Workshops</a:t>
            </a:r>
            <a:endParaRPr lang="en-US" sz="1200" dirty="0"/>
          </a:p>
        </p:txBody>
      </p:sp>
      <p:sp>
        <p:nvSpPr>
          <p:cNvPr id="17" name="Business objectives"/>
          <p:cNvSpPr/>
          <p:nvPr/>
        </p:nvSpPr>
        <p:spPr>
          <a:xfrm>
            <a:off x="800100" y="7459492"/>
            <a:ext cx="1342926" cy="133361"/>
          </a:xfrm>
          <a:prstGeom prst="rect">
            <a:avLst/>
          </a:prstGeom>
          <a:noFill/>
          <a:ln/>
        </p:spPr>
        <p:txBody>
          <a:bodyPr wrap="square" lIns="0" tIns="0" rIns="0" bIns="0" rtlCol="0" anchor="t"/>
          <a:lstStyle/>
          <a:p>
            <a:pPr marL="0" indent="0" algn="l">
              <a:lnSpc>
                <a:spcPct val="83333"/>
              </a:lnSpc>
              <a:spcAft>
                <a:spcPts val="1026"/>
              </a:spcAft>
              <a:buNone/>
            </a:pPr>
            <a:r>
              <a:rPr lang="en-US" sz="1050" dirty="0">
                <a:solidFill>
                  <a:srgbClr val="4E5E78"/>
                </a:solidFill>
                <a:latin typeface="Equip Extended Regular" pitchFamily="34" charset="0"/>
                <a:ea typeface="Equip Extended Regular" pitchFamily="34" charset="-122"/>
                <a:cs typeface="Equip Extended Regular" pitchFamily="34" charset="-120"/>
              </a:rPr>
              <a:t>Business objectives</a:t>
            </a:r>
            <a:endParaRPr lang="en-US" sz="1050" dirty="0"/>
          </a:p>
        </p:txBody>
      </p:sp>
      <p:sp>
        <p:nvSpPr>
          <p:cNvPr id="18" name="Initial Analysis  Foundational Workshops"/>
          <p:cNvSpPr/>
          <p:nvPr/>
        </p:nvSpPr>
        <p:spPr>
          <a:xfrm>
            <a:off x="800100" y="7720196"/>
            <a:ext cx="1723898" cy="266723"/>
          </a:xfrm>
          <a:prstGeom prst="rect">
            <a:avLst/>
          </a:prstGeom>
          <a:noFill/>
          <a:ln/>
        </p:spPr>
        <p:txBody>
          <a:bodyPr wrap="square" lIns="0" tIns="0" rIns="0" bIns="0" rtlCol="0" anchor="t"/>
          <a:lstStyle/>
          <a:p>
            <a:pPr marL="0" indent="0" algn="l">
              <a:lnSpc>
                <a:spcPct val="83333"/>
              </a:lnSpc>
              <a:spcAft>
                <a:spcPts val="1026"/>
              </a:spcAft>
              <a:buNone/>
            </a:pPr>
            <a:r>
              <a:rPr lang="en-US" sz="1050" dirty="0">
                <a:solidFill>
                  <a:srgbClr val="4E5E78"/>
                </a:solidFill>
                <a:latin typeface="Equip Extended Regular" pitchFamily="34" charset="0"/>
                <a:ea typeface="Equip Extended Regular" pitchFamily="34" charset="-122"/>
                <a:cs typeface="Equip Extended Regular" pitchFamily="34" charset="-120"/>
              </a:rPr>
              <a:t>Initial Analysis &amp; </a:t>
            </a:r>
            <a:br/>
            <a:r>
              <a:rPr lang="en-US" sz="1050" dirty="0">
                <a:solidFill>
                  <a:srgbClr val="4E5E78"/>
                </a:solidFill>
                <a:latin typeface="Equip Extended Regular" pitchFamily="34" charset="0"/>
                <a:ea typeface="Equip Extended Regular" pitchFamily="34" charset="-122"/>
                <a:cs typeface="Equip Extended Regular" pitchFamily="34" charset="-120"/>
              </a:rPr>
              <a:t>Foundational Workshops</a:t>
            </a:r>
            <a:endParaRPr lang="en-US" sz="1050" dirty="0"/>
          </a:p>
        </p:txBody>
      </p:sp>
      <p:sp>
        <p:nvSpPr>
          <p:cNvPr id="19" name="Opportunities mapping"/>
          <p:cNvSpPr/>
          <p:nvPr/>
        </p:nvSpPr>
        <p:spPr>
          <a:xfrm>
            <a:off x="3002700" y="6964159"/>
            <a:ext cx="1152441" cy="381033"/>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Opportunities </a:t>
            </a:r>
            <a:br/>
            <a:r>
              <a:rPr lang="en-US" sz="1200" dirty="0">
                <a:solidFill>
                  <a:srgbClr val="4E5E78"/>
                </a:solidFill>
                <a:latin typeface="Equip Extended Regular" pitchFamily="34" charset="0"/>
                <a:ea typeface="Equip Extended Regular" pitchFamily="34" charset="-122"/>
                <a:cs typeface="Equip Extended Regular" pitchFamily="34" charset="-120"/>
              </a:rPr>
              <a:t>mapping</a:t>
            </a:r>
            <a:endParaRPr lang="en-US" sz="1200" dirty="0"/>
          </a:p>
        </p:txBody>
      </p:sp>
      <p:sp>
        <p:nvSpPr>
          <p:cNvPr id="20" name="Market research Product analysis Service analysis"/>
          <p:cNvSpPr/>
          <p:nvPr/>
        </p:nvSpPr>
        <p:spPr>
          <a:xfrm>
            <a:off x="3002700" y="7459492"/>
            <a:ext cx="1123868" cy="666807"/>
          </a:xfrm>
          <a:prstGeom prst="rect">
            <a:avLst/>
          </a:prstGeom>
          <a:noFill/>
          <a:ln/>
        </p:spPr>
        <p:txBody>
          <a:bodyPr wrap="square" lIns="0" tIns="0" rIns="0" bIns="0" rtlCol="0" anchor="t"/>
          <a:lstStyle/>
          <a:p>
            <a:pPr marL="0" indent="0" algn="l">
              <a:lnSpc>
                <a:spcPct val="83333"/>
              </a:lnSpc>
              <a:spcAft>
                <a:spcPts val="1026"/>
              </a:spcAft>
              <a:buNone/>
            </a:pPr>
            <a:r>
              <a:rPr lang="en-US" sz="1050" dirty="0">
                <a:solidFill>
                  <a:srgbClr val="4E5E78"/>
                </a:solidFill>
                <a:latin typeface="Equip Extended Regular" pitchFamily="34" charset="0"/>
                <a:ea typeface="Equip Extended Regular" pitchFamily="34" charset="-122"/>
                <a:cs typeface="Equip Extended Regular" pitchFamily="34" charset="-120"/>
              </a:rPr>
              <a:t>Market research
Product analysis
Service analysis</a:t>
            </a:r>
            <a:endParaRPr lang="en-US" sz="1050" dirty="0"/>
          </a:p>
        </p:txBody>
      </p:sp>
      <p:sp>
        <p:nvSpPr>
          <p:cNvPr id="21" name="Product strategy"/>
          <p:cNvSpPr/>
          <p:nvPr/>
        </p:nvSpPr>
        <p:spPr>
          <a:xfrm>
            <a:off x="5413790" y="6964159"/>
            <a:ext cx="676226" cy="381033"/>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Product </a:t>
            </a:r>
            <a:br/>
            <a:r>
              <a:rPr lang="en-US" sz="1200" dirty="0">
                <a:solidFill>
                  <a:srgbClr val="4E5E78"/>
                </a:solidFill>
                <a:latin typeface="Equip Extended Regular" pitchFamily="34" charset="0"/>
                <a:ea typeface="Equip Extended Regular" pitchFamily="34" charset="-122"/>
                <a:cs typeface="Equip Extended Regular" pitchFamily="34" charset="-120"/>
              </a:rPr>
              <a:t>strategy</a:t>
            </a:r>
            <a:endParaRPr lang="en-US" sz="1200" dirty="0"/>
          </a:p>
        </p:txBody>
      </p:sp>
      <p:sp>
        <p:nvSpPr>
          <p:cNvPr id="22" name="Product lean canvas Story mapping Product teams sync Client alignment Product backlog"/>
          <p:cNvSpPr/>
          <p:nvPr/>
        </p:nvSpPr>
        <p:spPr>
          <a:xfrm>
            <a:off x="5413790" y="7459492"/>
            <a:ext cx="1381024" cy="1190727"/>
          </a:xfrm>
          <a:prstGeom prst="rect">
            <a:avLst/>
          </a:prstGeom>
          <a:noFill/>
          <a:ln/>
        </p:spPr>
        <p:txBody>
          <a:bodyPr wrap="square" lIns="0" tIns="0" rIns="0" bIns="0" rtlCol="0" anchor="t"/>
          <a:lstStyle/>
          <a:p>
            <a:pPr marL="0" indent="0" algn="l">
              <a:lnSpc>
                <a:spcPct val="83333"/>
              </a:lnSpc>
              <a:spcAft>
                <a:spcPts val="1026"/>
              </a:spcAft>
              <a:buNone/>
            </a:pPr>
            <a:r>
              <a:rPr lang="en-US" sz="1050" dirty="0">
                <a:solidFill>
                  <a:srgbClr val="4E5E78"/>
                </a:solidFill>
                <a:latin typeface="Equip Extended Regular" pitchFamily="34" charset="0"/>
                <a:ea typeface="Equip Extended Regular" pitchFamily="34" charset="-122"/>
                <a:cs typeface="Equip Extended Regular" pitchFamily="34" charset="-120"/>
              </a:rPr>
              <a:t>Product lean canvas
Story mapping
Product teams sync
Client alignment
Product backlog</a:t>
            </a:r>
            <a:endParaRPr lang="en-US" sz="1050" dirty="0"/>
          </a:p>
        </p:txBody>
      </p:sp>
      <p:sp>
        <p:nvSpPr>
          <p:cNvPr id="23" name="Usability  Viability"/>
          <p:cNvSpPr/>
          <p:nvPr/>
        </p:nvSpPr>
        <p:spPr>
          <a:xfrm>
            <a:off x="7681540" y="6964159"/>
            <a:ext cx="790518" cy="381033"/>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Usability </a:t>
            </a:r>
            <a:br/>
            <a:r>
              <a:rPr lang="en-US" sz="1200" dirty="0">
                <a:solidFill>
                  <a:srgbClr val="4E5E78"/>
                </a:solidFill>
                <a:latin typeface="Equip Extended Regular" pitchFamily="34" charset="0"/>
                <a:ea typeface="Equip Extended Regular" pitchFamily="34" charset="-122"/>
                <a:cs typeface="Equip Extended Regular" pitchFamily="34" charset="-120"/>
              </a:rPr>
              <a:t>&amp; Viability</a:t>
            </a:r>
            <a:endParaRPr lang="en-US" sz="1200" dirty="0"/>
          </a:p>
        </p:txBody>
      </p:sp>
      <p:sp>
        <p:nvSpPr>
          <p:cNvPr id="24" name="UI concepts User flow mapping Customer journeys Client alignment"/>
          <p:cNvSpPr/>
          <p:nvPr/>
        </p:nvSpPr>
        <p:spPr>
          <a:xfrm>
            <a:off x="7681540" y="7459492"/>
            <a:ext cx="1314353" cy="933530"/>
          </a:xfrm>
          <a:prstGeom prst="rect">
            <a:avLst/>
          </a:prstGeom>
          <a:noFill/>
          <a:ln/>
        </p:spPr>
        <p:txBody>
          <a:bodyPr wrap="square" lIns="0" tIns="0" rIns="0" bIns="0" rtlCol="0" anchor="t"/>
          <a:lstStyle/>
          <a:p>
            <a:pPr marL="0" indent="0" algn="l">
              <a:lnSpc>
                <a:spcPct val="83333"/>
              </a:lnSpc>
              <a:spcAft>
                <a:spcPts val="1026"/>
              </a:spcAft>
              <a:buNone/>
            </a:pPr>
            <a:r>
              <a:rPr lang="en-US" sz="1050" dirty="0">
                <a:solidFill>
                  <a:srgbClr val="4E5E78"/>
                </a:solidFill>
                <a:latin typeface="Equip Extended Regular" pitchFamily="34" charset="0"/>
                <a:ea typeface="Equip Extended Regular" pitchFamily="34" charset="-122"/>
                <a:cs typeface="Equip Extended Regular" pitchFamily="34" charset="-120"/>
              </a:rPr>
              <a:t>UI concepts
User flow mapping
Customer journeys
Client alignment</a:t>
            </a:r>
            <a:endParaRPr lang="en-US" sz="1050" dirty="0"/>
          </a:p>
        </p:txBody>
      </p:sp>
      <p:sp>
        <p:nvSpPr>
          <p:cNvPr id="25" name="Prototyping Validation"/>
          <p:cNvSpPr/>
          <p:nvPr/>
        </p:nvSpPr>
        <p:spPr>
          <a:xfrm>
            <a:off x="9923208" y="6964159"/>
            <a:ext cx="1114343" cy="381033"/>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Prototyping &amp;</a:t>
            </a:r>
            <a:br/>
            <a:r>
              <a:rPr lang="en-US" sz="1200" dirty="0">
                <a:solidFill>
                  <a:srgbClr val="4E5E78"/>
                </a:solidFill>
                <a:latin typeface="Equip Extended Regular" pitchFamily="34" charset="0"/>
                <a:ea typeface="Equip Extended Regular" pitchFamily="34" charset="-122"/>
                <a:cs typeface="Equip Extended Regular" pitchFamily="34" charset="-120"/>
              </a:rPr>
              <a:t>Validation</a:t>
            </a:r>
            <a:endParaRPr lang="en-US" sz="1200" dirty="0"/>
          </a:p>
        </p:txBody>
      </p:sp>
      <p:sp>
        <p:nvSpPr>
          <p:cNvPr id="26" name="Usability testing User testing Risk mitigation Validated user stories"/>
          <p:cNvSpPr/>
          <p:nvPr/>
        </p:nvSpPr>
        <p:spPr>
          <a:xfrm>
            <a:off x="9923208" y="7459492"/>
            <a:ext cx="1485791" cy="933530"/>
          </a:xfrm>
          <a:prstGeom prst="rect">
            <a:avLst/>
          </a:prstGeom>
          <a:noFill/>
          <a:ln/>
        </p:spPr>
        <p:txBody>
          <a:bodyPr wrap="square" lIns="0" tIns="0" rIns="0" bIns="0" rtlCol="0" anchor="t"/>
          <a:lstStyle/>
          <a:p>
            <a:pPr marL="0" indent="0" algn="l">
              <a:lnSpc>
                <a:spcPct val="83333"/>
              </a:lnSpc>
              <a:spcAft>
                <a:spcPts val="1026"/>
              </a:spcAft>
              <a:buNone/>
            </a:pPr>
            <a:r>
              <a:rPr lang="en-US" sz="1050" dirty="0">
                <a:solidFill>
                  <a:srgbClr val="4E5E78"/>
                </a:solidFill>
                <a:latin typeface="Equip Extended Regular" pitchFamily="34" charset="0"/>
                <a:ea typeface="Equip Extended Regular" pitchFamily="34" charset="-122"/>
                <a:cs typeface="Equip Extended Regular" pitchFamily="34" charset="-120"/>
              </a:rPr>
              <a:t>Usability testing
User testing
Risk mitigation
Validated user stories</a:t>
            </a:r>
            <a:endParaRPr lang="en-US" sz="1050" dirty="0"/>
          </a:p>
        </p:txBody>
      </p:sp>
      <p:sp>
        <p:nvSpPr>
          <p:cNvPr id="27" name="Feature Priorities"/>
          <p:cNvSpPr/>
          <p:nvPr/>
        </p:nvSpPr>
        <p:spPr>
          <a:xfrm>
            <a:off x="11891200" y="6964159"/>
            <a:ext cx="714323" cy="381033"/>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Feature </a:t>
            </a:r>
            <a:br/>
            <a:r>
              <a:rPr lang="en-US" sz="1200" dirty="0">
                <a:solidFill>
                  <a:srgbClr val="4E5E78"/>
                </a:solidFill>
                <a:latin typeface="Equip Extended Regular" pitchFamily="34" charset="0"/>
                <a:ea typeface="Equip Extended Regular" pitchFamily="34" charset="-122"/>
                <a:cs typeface="Equip Extended Regular" pitchFamily="34" charset="-120"/>
              </a:rPr>
              <a:t>Priorities</a:t>
            </a:r>
            <a:endParaRPr lang="en-US" sz="1200" dirty="0"/>
          </a:p>
        </p:txBody>
      </p:sp>
      <p:sp>
        <p:nvSpPr>
          <p:cNvPr id="28" name="Product strategy prioritization Definition of ready and done"/>
          <p:cNvSpPr/>
          <p:nvPr/>
        </p:nvSpPr>
        <p:spPr>
          <a:xfrm>
            <a:off x="11891200" y="7459492"/>
            <a:ext cx="1478749" cy="666807"/>
          </a:xfrm>
          <a:prstGeom prst="rect">
            <a:avLst/>
          </a:prstGeom>
          <a:noFill/>
          <a:ln/>
        </p:spPr>
        <p:txBody>
          <a:bodyPr wrap="square" lIns="0" tIns="0" rIns="0" bIns="0" rtlCol="0" anchor="t"/>
          <a:lstStyle/>
          <a:p>
            <a:pPr marL="0" indent="0" algn="l">
              <a:lnSpc>
                <a:spcPct val="83333"/>
              </a:lnSpc>
              <a:spcAft>
                <a:spcPts val="1026"/>
              </a:spcAft>
              <a:buNone/>
            </a:pPr>
            <a:r>
              <a:rPr lang="en-US" sz="1050" dirty="0">
                <a:solidFill>
                  <a:srgbClr val="4E5E78"/>
                </a:solidFill>
                <a:latin typeface="Equip Extended Regular" pitchFamily="34" charset="0"/>
                <a:ea typeface="Equip Extended Regular" pitchFamily="34" charset="-122"/>
                <a:cs typeface="Equip Extended Regular" pitchFamily="34" charset="-120"/>
              </a:rPr>
              <a:t>Product strategy prioritization
Definition of ready and done </a:t>
            </a:r>
            <a:endParaRPr lang="en-US" sz="1050" dirty="0"/>
          </a:p>
        </p:txBody>
      </p:sp>
      <p:sp>
        <p:nvSpPr>
          <p:cNvPr id="29" name="Design  Development"/>
          <p:cNvSpPr/>
          <p:nvPr/>
        </p:nvSpPr>
        <p:spPr>
          <a:xfrm>
            <a:off x="13885273" y="6964159"/>
            <a:ext cx="1778508" cy="381033"/>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Design </a:t>
            </a:r>
            <a:br/>
            <a:r>
              <a:rPr lang="en-US" sz="1200" dirty="0">
                <a:solidFill>
                  <a:srgbClr val="4E5E78"/>
                </a:solidFill>
                <a:latin typeface="Equip Extended Regular" pitchFamily="34" charset="0"/>
                <a:ea typeface="Equip Extended Regular" pitchFamily="34" charset="-122"/>
                <a:cs typeface="Equip Extended Regular" pitchFamily="34" charset="-120"/>
              </a:rPr>
              <a:t>&amp; Development</a:t>
            </a:r>
            <a:endParaRPr lang="en-US" sz="1200" dirty="0"/>
          </a:p>
        </p:txBody>
      </p:sp>
      <p:sp>
        <p:nvSpPr>
          <p:cNvPr id="30" name="Development ready design Coding and Testing"/>
          <p:cNvSpPr/>
          <p:nvPr/>
        </p:nvSpPr>
        <p:spPr>
          <a:xfrm>
            <a:off x="13885273" y="7459492"/>
            <a:ext cx="1778508" cy="533446"/>
          </a:xfrm>
          <a:prstGeom prst="rect">
            <a:avLst/>
          </a:prstGeom>
          <a:noFill/>
          <a:ln/>
        </p:spPr>
        <p:txBody>
          <a:bodyPr wrap="square" lIns="0" tIns="0" rIns="0" bIns="0" rtlCol="0" anchor="t"/>
          <a:lstStyle/>
          <a:p>
            <a:pPr marL="0" indent="0" algn="l">
              <a:lnSpc>
                <a:spcPct val="83333"/>
              </a:lnSpc>
              <a:spcAft>
                <a:spcPts val="1026"/>
              </a:spcAft>
              <a:buNone/>
            </a:pPr>
            <a:r>
              <a:rPr lang="en-US" sz="1050" dirty="0">
                <a:solidFill>
                  <a:srgbClr val="4E5E78"/>
                </a:solidFill>
                <a:latin typeface="Equip Extended Regular" pitchFamily="34" charset="0"/>
                <a:ea typeface="Equip Extended Regular" pitchFamily="34" charset="-122"/>
                <a:cs typeface="Equip Extended Regular" pitchFamily="34" charset="-120"/>
              </a:rPr>
              <a:t>Development ready design
Coding and Testing</a:t>
            </a:r>
            <a:endParaRPr lang="en-US" sz="1050" dirty="0"/>
          </a:p>
        </p:txBody>
      </p:sp>
      <p:sp>
        <p:nvSpPr>
          <p:cNvPr id="31" name="Release measurelearn iterate"/>
          <p:cNvSpPr/>
          <p:nvPr/>
        </p:nvSpPr>
        <p:spPr>
          <a:xfrm>
            <a:off x="15840205" y="6964159"/>
            <a:ext cx="1419121" cy="381033"/>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4E5E78"/>
                </a:solidFill>
                <a:latin typeface="Equip Extended Regular" pitchFamily="34" charset="0"/>
                <a:ea typeface="Equip Extended Regular" pitchFamily="34" charset="-122"/>
                <a:cs typeface="Equip Extended Regular" pitchFamily="34" charset="-120"/>
              </a:rPr>
              <a:t>Release, measure,</a:t>
            </a:r>
            <a:br/>
            <a:r>
              <a:rPr lang="en-US" sz="1200" dirty="0">
                <a:solidFill>
                  <a:srgbClr val="4E5E78"/>
                </a:solidFill>
                <a:latin typeface="Equip Extended Regular" pitchFamily="34" charset="0"/>
                <a:ea typeface="Equip Extended Regular" pitchFamily="34" charset="-122"/>
                <a:cs typeface="Equip Extended Regular" pitchFamily="34" charset="-120"/>
              </a:rPr>
              <a:t>learn, iterate</a:t>
            </a:r>
            <a:endParaRPr lang="en-US" sz="1200" dirty="0"/>
          </a:p>
        </p:txBody>
      </p:sp>
      <p:sp>
        <p:nvSpPr>
          <p:cNvPr id="32" name="Feature release Customer feedback loop New insights"/>
          <p:cNvSpPr/>
          <p:nvPr/>
        </p:nvSpPr>
        <p:spPr>
          <a:xfrm>
            <a:off x="15840205" y="7459492"/>
            <a:ext cx="1704849" cy="666807"/>
          </a:xfrm>
          <a:prstGeom prst="rect">
            <a:avLst/>
          </a:prstGeom>
          <a:noFill/>
          <a:ln/>
        </p:spPr>
        <p:txBody>
          <a:bodyPr wrap="square" lIns="0" tIns="0" rIns="0" bIns="0" rtlCol="0" anchor="t"/>
          <a:lstStyle/>
          <a:p>
            <a:pPr marL="0" indent="0" algn="l">
              <a:lnSpc>
                <a:spcPct val="83333"/>
              </a:lnSpc>
              <a:spcAft>
                <a:spcPts val="1026"/>
              </a:spcAft>
              <a:buNone/>
            </a:pPr>
            <a:r>
              <a:rPr lang="en-US" sz="1050" dirty="0">
                <a:solidFill>
                  <a:srgbClr val="4E5E78"/>
                </a:solidFill>
                <a:latin typeface="Equip Extended Regular" pitchFamily="34" charset="0"/>
                <a:ea typeface="Equip Extended Regular" pitchFamily="34" charset="-122"/>
                <a:cs typeface="Equip Extended Regular" pitchFamily="34" charset="-120"/>
              </a:rPr>
              <a:t>Feature release
Customer feedback loop
New insights</a:t>
            </a:r>
            <a:endParaRPr lang="en-US" sz="1050" dirty="0"/>
          </a:p>
        </p:txBody>
      </p:sp>
      <p:sp>
        <p:nvSpPr>
          <p:cNvPr id="33" name="Product Discovery"/>
          <p:cNvSpPr/>
          <p:nvPr/>
        </p:nvSpPr>
        <p:spPr>
          <a:xfrm>
            <a:off x="5478977" y="1714500"/>
            <a:ext cx="2755985" cy="609652"/>
          </a:xfrm>
          <a:prstGeom prst="rect">
            <a:avLst/>
          </a:prstGeom>
          <a:noFill/>
          <a:ln/>
        </p:spPr>
        <p:txBody>
          <a:bodyPr wrap="square" lIns="0" tIns="0" rIns="0" bIns="0" rtlCol="0" anchor="t"/>
          <a:lstStyle/>
          <a:p>
            <a:pPr marL="0" indent="0" algn="l">
              <a:lnSpc>
                <a:spcPts val="2400"/>
              </a:lnSpc>
              <a:buNone/>
            </a:pPr>
            <a:r>
              <a:rPr lang="en-US" sz="1800" kern="0" spc="-75" dirty="0">
                <a:solidFill>
                  <a:srgbClr val="4E5E78"/>
                </a:solidFill>
                <a:latin typeface="Equip Extended Regular" pitchFamily="34" charset="0"/>
                <a:ea typeface="Equip Extended Regular" pitchFamily="34" charset="-122"/>
                <a:cs typeface="Equip Extended Regular" pitchFamily="34" charset="-120"/>
              </a:rPr>
              <a:t>Product 
Discovery</a:t>
            </a:r>
            <a:endParaRPr lang="en-US" sz="1800" dirty="0"/>
          </a:p>
        </p:txBody>
      </p:sp>
      <p:sp>
        <p:nvSpPr>
          <p:cNvPr id="34" name="Continuous business strategy validation"/>
          <p:cNvSpPr/>
          <p:nvPr/>
        </p:nvSpPr>
        <p:spPr>
          <a:xfrm>
            <a:off x="7603331" y="2910236"/>
            <a:ext cx="3504942" cy="171465"/>
          </a:xfrm>
          <a:prstGeom prst="rect">
            <a:avLst/>
          </a:prstGeom>
          <a:noFill/>
          <a:ln/>
        </p:spPr>
        <p:txBody>
          <a:bodyPr wrap="square" lIns="0" tIns="0" rIns="0" bIns="0" rtlCol="0" anchor="t"/>
          <a:lstStyle/>
          <a:p>
            <a:pPr marL="0" indent="0" algn="l">
              <a:lnSpc>
                <a:spcPct val="83333"/>
              </a:lnSpc>
              <a:buNone/>
            </a:pPr>
            <a:r>
              <a:rPr lang="en-US" sz="1350" dirty="0">
                <a:solidFill>
                  <a:srgbClr val="4E5E78"/>
                </a:solidFill>
                <a:latin typeface="Equip Extended Regular" pitchFamily="34" charset="0"/>
                <a:ea typeface="Equip Extended Regular" pitchFamily="34" charset="-122"/>
                <a:cs typeface="Equip Extended Regular" pitchFamily="34" charset="-120"/>
              </a:rPr>
              <a:t>Continuous business strategy validation</a:t>
            </a:r>
            <a:endParaRPr lang="en-US" sz="1350" dirty="0"/>
          </a:p>
        </p:txBody>
      </p:sp>
      <p:sp>
        <p:nvSpPr>
          <p:cNvPr id="35" name="Product Delivery"/>
          <p:cNvSpPr/>
          <p:nvPr/>
        </p:nvSpPr>
        <p:spPr>
          <a:xfrm>
            <a:off x="11956386" y="1714500"/>
            <a:ext cx="2755985" cy="609652"/>
          </a:xfrm>
          <a:prstGeom prst="rect">
            <a:avLst/>
          </a:prstGeom>
          <a:noFill/>
          <a:ln/>
        </p:spPr>
        <p:txBody>
          <a:bodyPr wrap="square" lIns="0" tIns="0" rIns="0" bIns="0" rtlCol="0" anchor="t"/>
          <a:lstStyle/>
          <a:p>
            <a:pPr marL="0" indent="0" algn="l">
              <a:lnSpc>
                <a:spcPts val="2400"/>
              </a:lnSpc>
              <a:buNone/>
            </a:pPr>
            <a:r>
              <a:rPr lang="en-US" sz="1800" kern="0" spc="-75" dirty="0">
                <a:solidFill>
                  <a:srgbClr val="4E5E78"/>
                </a:solidFill>
                <a:latin typeface="Equip Extended Regular" pitchFamily="34" charset="0"/>
                <a:ea typeface="Equip Extended Regular" pitchFamily="34" charset="-122"/>
                <a:cs typeface="Equip Extended Regular" pitchFamily="34" charset="-120"/>
              </a:rPr>
              <a:t>Product </a:t>
            </a:r>
            <a:br/>
            <a:r>
              <a:rPr lang="en-US" sz="1800" kern="0" spc="-75" dirty="0">
                <a:solidFill>
                  <a:srgbClr val="4E5E78"/>
                </a:solidFill>
                <a:latin typeface="Equip Extended Regular" pitchFamily="34" charset="0"/>
                <a:ea typeface="Equip Extended Regular" pitchFamily="34" charset="-122"/>
                <a:cs typeface="Equip Extended Regular" pitchFamily="34" charset="-120"/>
              </a:rPr>
              <a:t>Delivery</a:t>
            </a:r>
            <a:endParaRPr lang="en-US" sz="1800" dirty="0"/>
          </a:p>
        </p:txBody>
      </p:sp>
      <p:pic>
        <p:nvPicPr>
          <p:cNvPr id="36" name="Graphic 35">
            <a:extLst>
              <a:ext uri="{FF2B5EF4-FFF2-40B4-BE49-F238E27FC236}">
                <a16:creationId xmlns:a16="http://schemas.microsoft.com/office/drawing/2014/main" id="{4EE62F7B-6F59-4D29-C2D2-F898FA60C4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2730" y="101077"/>
            <a:ext cx="2198820" cy="1649115"/>
          </a:xfrm>
          <a:prstGeom prst="rect">
            <a:avLst/>
          </a:prstGeom>
        </p:spPr>
      </p:pic>
      <p:cxnSp>
        <p:nvCxnSpPr>
          <p:cNvPr id="37" name="Straight Connector 36">
            <a:extLst>
              <a:ext uri="{FF2B5EF4-FFF2-40B4-BE49-F238E27FC236}">
                <a16:creationId xmlns:a16="http://schemas.microsoft.com/office/drawing/2014/main" id="{6AB05CF1-DF84-9970-F45F-531DCB3E0D3E}"/>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E5B10E5-9B1B-5411-5DA1-1610CD009A78}"/>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2130F9A-D003-582F-E9C0-739798CC8078}"/>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pic>
        <p:nvPicPr>
          <p:cNvPr id="3" name="Group 1597880684" descr="preencoded.png"/>
          <p:cNvPicPr>
            <a:picLocks noChangeAspect="1"/>
          </p:cNvPicPr>
          <p:nvPr/>
        </p:nvPicPr>
        <p:blipFill>
          <a:blip>
            <a:extLst>
              <a:ext uri="{96DAC541-7B7A-43D3-8B79-37D633B846F1}">
                <asvg:svgBlip xmlns:asvg="http://schemas.microsoft.com/office/drawing/2016/SVG/main" r:embed="rId3"/>
              </a:ext>
            </a:extLst>
          </a:blip>
          <a:srcRect/>
          <a:stretch/>
        </p:blipFill>
        <p:spPr>
          <a:xfrm>
            <a:off x="9477375" y="2505075"/>
            <a:ext cx="7400925" cy="5495925"/>
          </a:xfrm>
          <a:prstGeom prst="rect">
            <a:avLst/>
          </a:prstGeom>
        </p:spPr>
      </p:pic>
      <p:sp>
        <p:nvSpPr>
          <p:cNvPr id="4" name="Digital Design Strategy"/>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8893A5"/>
                </a:solidFill>
                <a:latin typeface="Equip Extended Regular" pitchFamily="34" charset="0"/>
                <a:ea typeface="Equip Extended Regular" pitchFamily="34" charset="-122"/>
                <a:cs typeface="Equip Extended Regular" pitchFamily="34" charset="-120"/>
              </a:rPr>
              <a:t>Digital Design Strategy</a:t>
            </a:r>
            <a:endParaRPr lang="en-US" sz="1200" dirty="0"/>
          </a:p>
        </p:txBody>
      </p:sp>
      <p:sp>
        <p:nvSpPr>
          <p:cNvPr id="5" name="Project Name"/>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8893A5"/>
                </a:solidFill>
                <a:latin typeface="Equip Extended Regular" pitchFamily="34" charset="0"/>
                <a:ea typeface="Equip Extended Regular" pitchFamily="34" charset="-122"/>
                <a:cs typeface="Equip Extended Regular" pitchFamily="34" charset="-120"/>
              </a:rPr>
              <a:t>Project Name</a:t>
            </a:r>
            <a:endParaRPr lang="en-US" sz="1200" dirty="0"/>
          </a:p>
        </p:txBody>
      </p:sp>
      <p:sp>
        <p:nvSpPr>
          <p:cNvPr id="6" name="Month Yea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8893A5"/>
                </a:solidFill>
                <a:latin typeface="Equip Extended Regular" pitchFamily="34" charset="0"/>
                <a:ea typeface="Equip Extended Regular" pitchFamily="34" charset="-122"/>
                <a:cs typeface="Equip Extended Regular" pitchFamily="34" charset="-120"/>
              </a:rPr>
              <a:t>Month Year</a:t>
            </a:r>
            <a:endParaRPr lang="en-US" sz="1200" dirty="0"/>
          </a:p>
        </p:txBody>
      </p:sp>
      <p:sp>
        <p:nvSpPr>
          <p:cNvPr id="7" name="2026"/>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8893A5"/>
                </a:solidFill>
                <a:latin typeface="Equip Extended Regular" pitchFamily="34" charset="0"/>
                <a:ea typeface="Equip Extended Regular" pitchFamily="34" charset="-122"/>
                <a:cs typeface="Equip Extended Regular" pitchFamily="34" charset="-120"/>
              </a:rPr>
              <a:t>© 2026</a:t>
            </a:r>
            <a:endParaRPr lang="en-US" sz="1200" dirty="0"/>
          </a:p>
        </p:txBody>
      </p:sp>
      <p:sp>
        <p:nvSpPr>
          <p:cNvPr id="8" name="diagram-title"/>
          <p:cNvSpPr/>
          <p:nvPr/>
        </p:nvSpPr>
        <p:spPr>
          <a:xfrm>
            <a:off x="800100" y="2781300"/>
            <a:ext cx="6838950" cy="2286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Lorem ipsum dolor sit amet, consectetur adipiscing elit. </a:t>
            </a:r>
            <a:endParaRPr lang="en-US" sz="4800" dirty="0"/>
          </a:p>
        </p:txBody>
      </p:sp>
      <p:sp>
        <p:nvSpPr>
          <p:cNvPr id="9" name="diagram-body"/>
          <p:cNvSpPr/>
          <p:nvPr/>
        </p:nvSpPr>
        <p:spPr>
          <a:xfrm>
            <a:off x="800100" y="5448300"/>
            <a:ext cx="6838950" cy="2066925"/>
          </a:xfrm>
          <a:prstGeom prst="rect">
            <a:avLst/>
          </a:prstGeom>
          <a:noFill/>
          <a:ln/>
        </p:spPr>
        <p:txBody>
          <a:bodyPr wrap="square" lIns="0" tIns="0" rIns="0" bIns="0" rtlCol="0" anchor="t"/>
          <a:lstStyle/>
          <a:p>
            <a:pPr marL="0" indent="0" algn="l">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Lorem ipsum dolor sit amet, consectetur adipiscing elit.  Etiam eget ligula eu lectus lobortis condimentum. Aliquam nonummy auctor massa. Pellentesque habitant morbi tristique senectus et netus et  malesuada fames ac turpis egestas. Nulla at risus. Quisque purus magna,  auctor et, sagittis ac, posuere eu, lectus. Nam mattis, felis ut  adipiscing.Lorem ipsum dolor sit amet, consectetur adipiscing elit.  Etiam eget ligula eu lectus lobortis condimentum. </a:t>
            </a:r>
            <a:endParaRPr lang="en-US" sz="1800" dirty="0"/>
          </a:p>
        </p:txBody>
      </p:sp>
      <p:sp>
        <p:nvSpPr>
          <p:cNvPr id="10" name="Topic"/>
          <p:cNvSpPr/>
          <p:nvPr/>
        </p:nvSpPr>
        <p:spPr>
          <a:xfrm>
            <a:off x="12868275" y="7591425"/>
            <a:ext cx="590550" cy="295275"/>
          </a:xfrm>
          <a:prstGeom prst="rect">
            <a:avLst/>
          </a:prstGeom>
          <a:noFill/>
          <a:ln/>
        </p:spPr>
        <p:txBody>
          <a:bodyPr wrap="square" lIns="0" tIns="0" rIns="0" bIns="0" rtlCol="0" anchor="t"/>
          <a:lstStyle/>
          <a:p>
            <a:pPr marL="0" indent="0" algn="ctr">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Topic</a:t>
            </a:r>
            <a:endParaRPr lang="en-US" sz="1800" dirty="0"/>
          </a:p>
        </p:txBody>
      </p:sp>
      <p:sp>
        <p:nvSpPr>
          <p:cNvPr id="11" name="Topic"/>
          <p:cNvSpPr/>
          <p:nvPr/>
        </p:nvSpPr>
        <p:spPr>
          <a:xfrm>
            <a:off x="12868275" y="6572250"/>
            <a:ext cx="590550" cy="295275"/>
          </a:xfrm>
          <a:prstGeom prst="rect">
            <a:avLst/>
          </a:prstGeom>
          <a:noFill/>
          <a:ln/>
        </p:spPr>
        <p:txBody>
          <a:bodyPr wrap="square" lIns="0" tIns="0" rIns="0" bIns="0" rtlCol="0" anchor="t"/>
          <a:lstStyle/>
          <a:p>
            <a:pPr marL="0" indent="0" algn="ctr">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Topic</a:t>
            </a:r>
            <a:endParaRPr lang="en-US" sz="1800" dirty="0"/>
          </a:p>
        </p:txBody>
      </p:sp>
      <p:sp>
        <p:nvSpPr>
          <p:cNvPr id="12" name="Topic"/>
          <p:cNvSpPr/>
          <p:nvPr/>
        </p:nvSpPr>
        <p:spPr>
          <a:xfrm>
            <a:off x="12868275" y="5553075"/>
            <a:ext cx="590550" cy="295275"/>
          </a:xfrm>
          <a:prstGeom prst="rect">
            <a:avLst/>
          </a:prstGeom>
          <a:noFill/>
          <a:ln/>
        </p:spPr>
        <p:txBody>
          <a:bodyPr wrap="square" lIns="0" tIns="0" rIns="0" bIns="0" rtlCol="0" anchor="t"/>
          <a:lstStyle/>
          <a:p>
            <a:pPr marL="0" indent="0" algn="ctr">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Topic</a:t>
            </a:r>
            <a:endParaRPr lang="en-US" sz="1800" dirty="0"/>
          </a:p>
        </p:txBody>
      </p:sp>
      <p:sp>
        <p:nvSpPr>
          <p:cNvPr id="13" name="Topic"/>
          <p:cNvSpPr/>
          <p:nvPr/>
        </p:nvSpPr>
        <p:spPr>
          <a:xfrm>
            <a:off x="9620250" y="2619375"/>
            <a:ext cx="590550" cy="295275"/>
          </a:xfrm>
          <a:prstGeom prst="rect">
            <a:avLst/>
          </a:prstGeom>
          <a:noFill/>
          <a:ln/>
        </p:spPr>
        <p:txBody>
          <a:bodyPr wrap="square" lIns="0" tIns="0" rIns="0" bIns="0" rtlCol="0" anchor="t"/>
          <a:lstStyle/>
          <a:p>
            <a:pPr marL="0" indent="0" algn="ctr">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Topic</a:t>
            </a:r>
            <a:endParaRPr lang="en-US" sz="1800" dirty="0"/>
          </a:p>
        </p:txBody>
      </p:sp>
      <p:sp>
        <p:nvSpPr>
          <p:cNvPr id="14" name="Topic"/>
          <p:cNvSpPr/>
          <p:nvPr/>
        </p:nvSpPr>
        <p:spPr>
          <a:xfrm>
            <a:off x="13811250" y="2619375"/>
            <a:ext cx="590550" cy="295275"/>
          </a:xfrm>
          <a:prstGeom prst="rect">
            <a:avLst/>
          </a:prstGeom>
          <a:noFill/>
          <a:ln/>
        </p:spPr>
        <p:txBody>
          <a:bodyPr wrap="square" lIns="0" tIns="0" rIns="0" bIns="0" rtlCol="0" anchor="t"/>
          <a:lstStyle/>
          <a:p>
            <a:pPr marL="0" indent="0" algn="ctr">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Topic</a:t>
            </a:r>
            <a:endParaRPr lang="en-US" sz="1800" dirty="0"/>
          </a:p>
        </p:txBody>
      </p:sp>
      <p:sp>
        <p:nvSpPr>
          <p:cNvPr id="15" name="Topic"/>
          <p:cNvSpPr/>
          <p:nvPr/>
        </p:nvSpPr>
        <p:spPr>
          <a:xfrm>
            <a:off x="11963400" y="2619375"/>
            <a:ext cx="590550" cy="295275"/>
          </a:xfrm>
          <a:prstGeom prst="rect">
            <a:avLst/>
          </a:prstGeom>
          <a:noFill/>
          <a:ln/>
        </p:spPr>
        <p:txBody>
          <a:bodyPr wrap="square" lIns="0" tIns="0" rIns="0" bIns="0" rtlCol="0" anchor="t"/>
          <a:lstStyle/>
          <a:p>
            <a:pPr marL="0" indent="0" algn="ctr">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Topic</a:t>
            </a:r>
            <a:endParaRPr lang="en-US" sz="1800" dirty="0"/>
          </a:p>
        </p:txBody>
      </p:sp>
      <p:sp>
        <p:nvSpPr>
          <p:cNvPr id="16" name="Topic"/>
          <p:cNvSpPr/>
          <p:nvPr/>
        </p:nvSpPr>
        <p:spPr>
          <a:xfrm>
            <a:off x="16154400" y="2619375"/>
            <a:ext cx="590550" cy="295275"/>
          </a:xfrm>
          <a:prstGeom prst="rect">
            <a:avLst/>
          </a:prstGeom>
          <a:noFill/>
          <a:ln/>
        </p:spPr>
        <p:txBody>
          <a:bodyPr wrap="square" lIns="0" tIns="0" rIns="0" bIns="0" rtlCol="0" anchor="t"/>
          <a:lstStyle/>
          <a:p>
            <a:pPr marL="0" indent="0" algn="ctr">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Topic</a:t>
            </a:r>
            <a:endParaRPr lang="en-US" sz="1800" dirty="0"/>
          </a:p>
        </p:txBody>
      </p:sp>
      <p:sp>
        <p:nvSpPr>
          <p:cNvPr id="17" name="Topic"/>
          <p:cNvSpPr/>
          <p:nvPr/>
        </p:nvSpPr>
        <p:spPr>
          <a:xfrm>
            <a:off x="10810875" y="4095750"/>
            <a:ext cx="590550" cy="295275"/>
          </a:xfrm>
          <a:prstGeom prst="rect">
            <a:avLst/>
          </a:prstGeom>
          <a:noFill/>
          <a:ln/>
        </p:spPr>
        <p:txBody>
          <a:bodyPr wrap="square" lIns="0" tIns="0" rIns="0" bIns="0" rtlCol="0" anchor="t"/>
          <a:lstStyle/>
          <a:p>
            <a:pPr marL="0" indent="0" algn="ctr">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Topic</a:t>
            </a:r>
            <a:endParaRPr lang="en-US" sz="1800" dirty="0"/>
          </a:p>
        </p:txBody>
      </p:sp>
      <p:sp>
        <p:nvSpPr>
          <p:cNvPr id="18" name="Topic"/>
          <p:cNvSpPr/>
          <p:nvPr/>
        </p:nvSpPr>
        <p:spPr>
          <a:xfrm>
            <a:off x="14982825" y="4095750"/>
            <a:ext cx="590550" cy="295275"/>
          </a:xfrm>
          <a:prstGeom prst="rect">
            <a:avLst/>
          </a:prstGeom>
          <a:noFill/>
          <a:ln/>
        </p:spPr>
        <p:txBody>
          <a:bodyPr wrap="square" lIns="0" tIns="0" rIns="0" bIns="0" rtlCol="0" anchor="t"/>
          <a:lstStyle/>
          <a:p>
            <a:pPr marL="0" indent="0" algn="ctr">
              <a:lnSpc>
                <a:spcPts val="2250"/>
              </a:lnSpc>
              <a:buNone/>
            </a:pPr>
            <a:r>
              <a:rPr lang="en-US" sz="1800" kern="0" spc="-75" dirty="0">
                <a:solidFill>
                  <a:srgbClr val="010716"/>
                </a:solidFill>
                <a:latin typeface="Equip Regular" pitchFamily="34" charset="0"/>
                <a:ea typeface="Equip Regular" pitchFamily="34" charset="-122"/>
                <a:cs typeface="Equip Regular" pitchFamily="34" charset="-120"/>
              </a:rPr>
              <a:t>Topic</a:t>
            </a:r>
            <a:endParaRPr lang="en-US" sz="1800" dirty="0"/>
          </a:p>
        </p:txBody>
      </p:sp>
      <p:pic>
        <p:nvPicPr>
          <p:cNvPr id="19" name="Graphic 18">
            <a:extLst>
              <a:ext uri="{FF2B5EF4-FFF2-40B4-BE49-F238E27FC236}">
                <a16:creationId xmlns:a16="http://schemas.microsoft.com/office/drawing/2014/main" id="{14BD82FC-A48F-39FB-C132-7EBA64FEC4B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2730" y="101077"/>
            <a:ext cx="2198820" cy="1649115"/>
          </a:xfrm>
          <a:prstGeom prst="rect">
            <a:avLst/>
          </a:prstGeom>
        </p:spPr>
      </p:pic>
      <p:cxnSp>
        <p:nvCxnSpPr>
          <p:cNvPr id="20" name="Straight Connector 19">
            <a:extLst>
              <a:ext uri="{FF2B5EF4-FFF2-40B4-BE49-F238E27FC236}">
                <a16:creationId xmlns:a16="http://schemas.microsoft.com/office/drawing/2014/main" id="{EC6AA841-B810-F2BB-CF2F-1FDE0128648E}"/>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BFB3678-56EC-23A9-0345-6E4A8F800F42}"/>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30AC2C1-BD61-88D2-8739-35C8040A01C3}"/>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0" cy="0"/>
          <a:chOff x="0" y="0"/>
          <a:chExt cx="0" cy="0"/>
        </a:xfrm>
      </p:grpSpPr>
      <p:pic>
        <p:nvPicPr>
          <p:cNvPr id="3" name="graph" descr="preencoded.png"/>
          <p:cNvPicPr>
            <a:picLocks noChangeAspect="1"/>
          </p:cNvPicPr>
          <p:nvPr/>
        </p:nvPicPr>
        <p:blipFill>
          <a:blip r:embed="rId3"/>
          <a:srcRect/>
          <a:stretch/>
        </p:blipFill>
        <p:spPr>
          <a:xfrm>
            <a:off x="2095500" y="2771774"/>
            <a:ext cx="14097000" cy="6905626"/>
          </a:xfrm>
          <a:prstGeom prst="rect">
            <a:avLst/>
          </a:prstGeom>
        </p:spPr>
      </p:pic>
      <p:sp>
        <p:nvSpPr>
          <p:cNvPr id="4" name="diagram-title"/>
          <p:cNvSpPr/>
          <p:nvPr/>
        </p:nvSpPr>
        <p:spPr>
          <a:xfrm>
            <a:off x="800100" y="1419225"/>
            <a:ext cx="16697325" cy="762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Lorem ipsum dolor sit amet, consectetur adipiscing elit. </a:t>
            </a:r>
            <a:endParaRPr lang="en-US" sz="4800" dirty="0"/>
          </a:p>
        </p:txBody>
      </p:sp>
      <p:sp>
        <p:nvSpPr>
          <p:cNvPr id="5" name="FIFA team"/>
          <p:cNvSpPr/>
          <p:nvPr/>
        </p:nvSpPr>
        <p:spPr>
          <a:xfrm>
            <a:off x="3295650" y="3942333"/>
            <a:ext cx="969670" cy="161925"/>
          </a:xfrm>
          <a:prstGeom prst="rect">
            <a:avLst/>
          </a:prstGeom>
          <a:noFill/>
          <a:ln/>
        </p:spPr>
        <p:txBody>
          <a:bodyPr wrap="square" lIns="0" tIns="0" rIns="0" bIns="0" rtlCol="0" anchor="t"/>
          <a:lstStyle/>
          <a:p>
            <a:pPr marL="0" indent="0" algn="ctr">
              <a:lnSpc>
                <a:spcPct val="83333"/>
              </a:lnSpc>
              <a:buNone/>
            </a:pPr>
            <a:r>
              <a:rPr lang="en-US" sz="1278" dirty="0">
                <a:solidFill>
                  <a:srgbClr val="000000"/>
                </a:solidFill>
                <a:latin typeface="Equip Extended Medium" pitchFamily="34" charset="0"/>
                <a:ea typeface="Equip Extended Medium" pitchFamily="34" charset="-122"/>
                <a:cs typeface="Equip Extended Medium" pitchFamily="34" charset="-120"/>
              </a:rPr>
              <a:t>FIFA team</a:t>
            </a:r>
            <a:endParaRPr lang="en-US" sz="1278" dirty="0"/>
          </a:p>
        </p:txBody>
      </p:sp>
      <p:sp>
        <p:nvSpPr>
          <p:cNvPr id="6" name="MonitoringTools"/>
          <p:cNvSpPr/>
          <p:nvPr/>
        </p:nvSpPr>
        <p:spPr>
          <a:xfrm>
            <a:off x="3295650" y="5460205"/>
            <a:ext cx="962025" cy="323850"/>
          </a:xfrm>
          <a:prstGeom prst="rect">
            <a:avLst/>
          </a:prstGeom>
          <a:noFill/>
          <a:ln/>
        </p:spPr>
        <p:txBody>
          <a:bodyPr wrap="square" lIns="0" tIns="0" rIns="0" bIns="0" rtlCol="0" anchor="t"/>
          <a:lstStyle/>
          <a:p>
            <a:pPr marL="0" indent="0" algn="ctr">
              <a:lnSpc>
                <a:spcPct val="83333"/>
              </a:lnSpc>
              <a:buNone/>
            </a:pPr>
            <a:r>
              <a:rPr lang="en-US" sz="1278" dirty="0">
                <a:solidFill>
                  <a:srgbClr val="000000"/>
                </a:solidFill>
                <a:latin typeface="Equip Extended Medium" pitchFamily="34" charset="0"/>
                <a:ea typeface="Equip Extended Medium" pitchFamily="34" charset="-122"/>
                <a:cs typeface="Equip Extended Medium" pitchFamily="34" charset="-120"/>
              </a:rPr>
              <a:t>Monitoring</a:t>
            </a:r>
            <a:br/>
            <a:r>
              <a:rPr lang="en-US" sz="1278" dirty="0">
                <a:solidFill>
                  <a:srgbClr val="000000"/>
                </a:solidFill>
                <a:latin typeface="Equip Extended Medium" pitchFamily="34" charset="0"/>
                <a:ea typeface="Equip Extended Medium" pitchFamily="34" charset="-122"/>
                <a:cs typeface="Equip Extended Medium" pitchFamily="34" charset="-120"/>
              </a:rPr>
              <a:t>Tools</a:t>
            </a:r>
            <a:endParaRPr lang="en-US" sz="1278" dirty="0"/>
          </a:p>
        </p:txBody>
      </p:sp>
      <p:sp>
        <p:nvSpPr>
          <p:cNvPr id="7" name="Dashboardstatusmonitoring"/>
          <p:cNvSpPr/>
          <p:nvPr/>
        </p:nvSpPr>
        <p:spPr>
          <a:xfrm>
            <a:off x="2257425" y="6963831"/>
            <a:ext cx="590550" cy="285750"/>
          </a:xfrm>
          <a:prstGeom prst="rect">
            <a:avLst/>
          </a:prstGeom>
          <a:noFill/>
          <a:ln/>
        </p:spPr>
        <p:txBody>
          <a:bodyPr wrap="square" lIns="0" tIns="0" rIns="0" bIns="0" rtlCol="0" anchor="t"/>
          <a:lstStyle/>
          <a:p>
            <a:pPr marL="0" indent="0" algn="ctr">
              <a:lnSpc>
                <a:spcPct val="83333"/>
              </a:lnSpc>
              <a:buNone/>
            </a:pPr>
            <a:r>
              <a:rPr lang="en-US" sz="750" dirty="0">
                <a:solidFill>
                  <a:srgbClr val="000000"/>
                </a:solidFill>
                <a:latin typeface="Equip Extended Medium" pitchFamily="34" charset="0"/>
                <a:ea typeface="Equip Extended Medium" pitchFamily="34" charset="-122"/>
                <a:cs typeface="Equip Extended Medium" pitchFamily="34" charset="-120"/>
              </a:rPr>
              <a:t>Dashboard</a:t>
            </a:r>
            <a:br/>
            <a:r>
              <a:rPr lang="en-US" sz="750" dirty="0">
                <a:solidFill>
                  <a:srgbClr val="000000"/>
                </a:solidFill>
                <a:latin typeface="Equip Extended Medium" pitchFamily="34" charset="0"/>
                <a:ea typeface="Equip Extended Medium" pitchFamily="34" charset="-122"/>
                <a:cs typeface="Equip Extended Medium" pitchFamily="34" charset="-120"/>
              </a:rPr>
              <a:t>status</a:t>
            </a:r>
            <a:br/>
            <a:r>
              <a:rPr lang="en-US" sz="750" dirty="0">
                <a:solidFill>
                  <a:srgbClr val="000000"/>
                </a:solidFill>
                <a:latin typeface="Equip Extended Medium" pitchFamily="34" charset="0"/>
                <a:ea typeface="Equip Extended Medium" pitchFamily="34" charset="-122"/>
                <a:cs typeface="Equip Extended Medium" pitchFamily="34" charset="-120"/>
              </a:rPr>
              <a:t>monitoring</a:t>
            </a:r>
            <a:endParaRPr lang="en-US" sz="750" dirty="0"/>
          </a:p>
        </p:txBody>
      </p:sp>
      <p:sp>
        <p:nvSpPr>
          <p:cNvPr id="8" name="DashboardValidation"/>
          <p:cNvSpPr/>
          <p:nvPr/>
        </p:nvSpPr>
        <p:spPr>
          <a:xfrm>
            <a:off x="2971800" y="6963831"/>
            <a:ext cx="581025" cy="190500"/>
          </a:xfrm>
          <a:prstGeom prst="rect">
            <a:avLst/>
          </a:prstGeom>
          <a:noFill/>
          <a:ln/>
        </p:spPr>
        <p:txBody>
          <a:bodyPr wrap="square" lIns="0" tIns="0" rIns="0" bIns="0" rtlCol="0" anchor="t"/>
          <a:lstStyle/>
          <a:p>
            <a:pPr marL="0" indent="0" algn="ctr">
              <a:lnSpc>
                <a:spcPct val="83333"/>
              </a:lnSpc>
              <a:buNone/>
            </a:pPr>
            <a:r>
              <a:rPr lang="en-US" sz="750" dirty="0">
                <a:solidFill>
                  <a:srgbClr val="000000"/>
                </a:solidFill>
                <a:latin typeface="Equip Extended Medium" pitchFamily="34" charset="0"/>
                <a:ea typeface="Equip Extended Medium" pitchFamily="34" charset="-122"/>
                <a:cs typeface="Equip Extended Medium" pitchFamily="34" charset="-120"/>
              </a:rPr>
              <a:t>Dashboard</a:t>
            </a:r>
            <a:br/>
            <a:r>
              <a:rPr lang="en-US" sz="750" dirty="0">
                <a:solidFill>
                  <a:srgbClr val="000000"/>
                </a:solidFill>
                <a:latin typeface="Equip Extended Medium" pitchFamily="34" charset="0"/>
                <a:ea typeface="Equip Extended Medium" pitchFamily="34" charset="-122"/>
                <a:cs typeface="Equip Extended Medium" pitchFamily="34" charset="-120"/>
              </a:rPr>
              <a:t>Validation</a:t>
            </a:r>
            <a:endParaRPr lang="en-US" sz="750" dirty="0"/>
          </a:p>
        </p:txBody>
      </p:sp>
      <p:sp>
        <p:nvSpPr>
          <p:cNvPr id="9" name="Trouble- shooting"/>
          <p:cNvSpPr/>
          <p:nvPr/>
        </p:nvSpPr>
        <p:spPr>
          <a:xfrm>
            <a:off x="3743325" y="6963831"/>
            <a:ext cx="476250" cy="190500"/>
          </a:xfrm>
          <a:prstGeom prst="rect">
            <a:avLst/>
          </a:prstGeom>
          <a:noFill/>
          <a:ln/>
        </p:spPr>
        <p:txBody>
          <a:bodyPr wrap="square" lIns="0" tIns="0" rIns="0" bIns="0" rtlCol="0" anchor="t"/>
          <a:lstStyle/>
          <a:p>
            <a:pPr marL="0" indent="0" algn="ctr">
              <a:lnSpc>
                <a:spcPct val="83333"/>
              </a:lnSpc>
              <a:buNone/>
            </a:pPr>
            <a:r>
              <a:rPr lang="en-US" sz="750" dirty="0">
                <a:solidFill>
                  <a:srgbClr val="000000"/>
                </a:solidFill>
                <a:latin typeface="Equip Extended Medium" pitchFamily="34" charset="0"/>
                <a:ea typeface="Equip Extended Medium" pitchFamily="34" charset="-122"/>
                <a:cs typeface="Equip Extended Medium" pitchFamily="34" charset="-120"/>
              </a:rPr>
              <a:t>Trouble-
shooting</a:t>
            </a:r>
            <a:endParaRPr lang="en-US" sz="750" dirty="0"/>
          </a:p>
        </p:txBody>
      </p:sp>
      <p:sp>
        <p:nvSpPr>
          <p:cNvPr id="10" name="BugFixing"/>
          <p:cNvSpPr/>
          <p:nvPr/>
        </p:nvSpPr>
        <p:spPr>
          <a:xfrm>
            <a:off x="4524375" y="6963830"/>
            <a:ext cx="333375" cy="190500"/>
          </a:xfrm>
          <a:prstGeom prst="rect">
            <a:avLst/>
          </a:prstGeom>
          <a:noFill/>
          <a:ln/>
        </p:spPr>
        <p:txBody>
          <a:bodyPr wrap="square" lIns="0" tIns="0" rIns="0" bIns="0" rtlCol="0" anchor="t"/>
          <a:lstStyle/>
          <a:p>
            <a:pPr marL="0" indent="0" algn="ctr">
              <a:lnSpc>
                <a:spcPct val="83333"/>
              </a:lnSpc>
              <a:buNone/>
            </a:pPr>
            <a:r>
              <a:rPr lang="en-US" sz="750" dirty="0">
                <a:solidFill>
                  <a:srgbClr val="000000"/>
                </a:solidFill>
                <a:latin typeface="Equip Extended Medium" pitchFamily="34" charset="0"/>
                <a:ea typeface="Equip Extended Medium" pitchFamily="34" charset="-122"/>
                <a:cs typeface="Equip Extended Medium" pitchFamily="34" charset="-120"/>
              </a:rPr>
              <a:t>Bug</a:t>
            </a:r>
            <a:br/>
            <a:r>
              <a:rPr lang="en-US" sz="750" dirty="0">
                <a:solidFill>
                  <a:srgbClr val="000000"/>
                </a:solidFill>
                <a:latin typeface="Equip Extended Medium" pitchFamily="34" charset="0"/>
                <a:ea typeface="Equip Extended Medium" pitchFamily="34" charset="-122"/>
                <a:cs typeface="Equip Extended Medium" pitchFamily="34" charset="-120"/>
              </a:rPr>
              <a:t>Fixing</a:t>
            </a:r>
            <a:endParaRPr lang="en-US" sz="750" dirty="0"/>
          </a:p>
        </p:txBody>
      </p:sp>
      <p:sp>
        <p:nvSpPr>
          <p:cNvPr id="11" name="Third PartyVendor"/>
          <p:cNvSpPr/>
          <p:nvPr/>
        </p:nvSpPr>
        <p:spPr>
          <a:xfrm>
            <a:off x="5943600" y="3988723"/>
            <a:ext cx="1074006" cy="323850"/>
          </a:xfrm>
          <a:prstGeom prst="rect">
            <a:avLst/>
          </a:prstGeom>
          <a:noFill/>
          <a:ln/>
        </p:spPr>
        <p:txBody>
          <a:bodyPr wrap="square" lIns="0" tIns="0" rIns="0" bIns="0" rtlCol="0" anchor="t"/>
          <a:lstStyle/>
          <a:p>
            <a:pPr marL="0" indent="0" algn="ctr">
              <a:lnSpc>
                <a:spcPct val="83333"/>
              </a:lnSpc>
              <a:buNone/>
            </a:pPr>
            <a:r>
              <a:rPr lang="en-US" sz="1278" dirty="0">
                <a:solidFill>
                  <a:srgbClr val="000000"/>
                </a:solidFill>
                <a:latin typeface="Equip Extended Medium" pitchFamily="34" charset="0"/>
                <a:ea typeface="Equip Extended Medium" pitchFamily="34" charset="-122"/>
                <a:cs typeface="Equip Extended Medium" pitchFamily="34" charset="-120"/>
              </a:rPr>
              <a:t>Third Party</a:t>
            </a:r>
            <a:br/>
            <a:r>
              <a:rPr lang="en-US" sz="1278" dirty="0">
                <a:solidFill>
                  <a:srgbClr val="000000"/>
                </a:solidFill>
                <a:latin typeface="Equip Extended Medium" pitchFamily="34" charset="0"/>
                <a:ea typeface="Equip Extended Medium" pitchFamily="34" charset="-122"/>
                <a:cs typeface="Equip Extended Medium" pitchFamily="34" charset="-120"/>
              </a:rPr>
              <a:t>Vendor</a:t>
            </a:r>
            <a:endParaRPr lang="en-US" sz="1278" dirty="0"/>
          </a:p>
        </p:txBody>
      </p:sp>
      <p:sp>
        <p:nvSpPr>
          <p:cNvPr id="12" name="FIFA L1SupportTeam"/>
          <p:cNvSpPr/>
          <p:nvPr/>
        </p:nvSpPr>
        <p:spPr>
          <a:xfrm>
            <a:off x="6153150" y="5510132"/>
            <a:ext cx="676275" cy="571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FFFFFF"/>
                </a:solidFill>
                <a:latin typeface="Equip Extended Regular" pitchFamily="34" charset="0"/>
                <a:ea typeface="Equip Extended Regular" pitchFamily="34" charset="-122"/>
                <a:cs typeface="Equip Extended Regular" pitchFamily="34" charset="-120"/>
              </a:rPr>
              <a:t>FIFA L1</a:t>
            </a:r>
            <a:br/>
            <a:r>
              <a:rPr lang="en-US" sz="1200" dirty="0">
                <a:solidFill>
                  <a:srgbClr val="FFFFFF"/>
                </a:solidFill>
                <a:latin typeface="Equip Extended Regular" pitchFamily="34" charset="0"/>
                <a:ea typeface="Equip Extended Regular" pitchFamily="34" charset="-122"/>
                <a:cs typeface="Equip Extended Regular" pitchFamily="34" charset="-120"/>
              </a:rPr>
              <a:t>Support</a:t>
            </a:r>
            <a:br/>
            <a:r>
              <a:rPr lang="en-US" sz="1200" dirty="0">
                <a:solidFill>
                  <a:srgbClr val="FFFFFF"/>
                </a:solidFill>
                <a:latin typeface="Equip Extended Regular" pitchFamily="34" charset="0"/>
                <a:ea typeface="Equip Extended Regular" pitchFamily="34" charset="-122"/>
                <a:cs typeface="Equip Extended Regular" pitchFamily="34" charset="-120"/>
              </a:rPr>
              <a:t>Team</a:t>
            </a:r>
            <a:endParaRPr lang="en-US" sz="1200" dirty="0"/>
          </a:p>
        </p:txBody>
      </p:sp>
      <p:sp>
        <p:nvSpPr>
          <p:cNvPr id="13" name="FIFA L2SupportTeam"/>
          <p:cNvSpPr/>
          <p:nvPr/>
        </p:nvSpPr>
        <p:spPr>
          <a:xfrm>
            <a:off x="7724775" y="6587687"/>
            <a:ext cx="676275" cy="571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FFFFFF"/>
                </a:solidFill>
                <a:latin typeface="Equip Extended Regular" pitchFamily="34" charset="0"/>
                <a:ea typeface="Equip Extended Regular" pitchFamily="34" charset="-122"/>
                <a:cs typeface="Equip Extended Regular" pitchFamily="34" charset="-120"/>
              </a:rPr>
              <a:t>FIFA L2</a:t>
            </a:r>
            <a:br/>
            <a:r>
              <a:rPr lang="en-US" sz="1200" dirty="0">
                <a:solidFill>
                  <a:srgbClr val="FFFFFF"/>
                </a:solidFill>
                <a:latin typeface="Equip Extended Regular" pitchFamily="34" charset="0"/>
                <a:ea typeface="Equip Extended Regular" pitchFamily="34" charset="-122"/>
                <a:cs typeface="Equip Extended Regular" pitchFamily="34" charset="-120"/>
              </a:rPr>
              <a:t>Support</a:t>
            </a:r>
            <a:br/>
            <a:r>
              <a:rPr lang="en-US" sz="1200" dirty="0">
                <a:solidFill>
                  <a:srgbClr val="FFFFFF"/>
                </a:solidFill>
                <a:latin typeface="Equip Extended Regular" pitchFamily="34" charset="0"/>
                <a:ea typeface="Equip Extended Regular" pitchFamily="34" charset="-122"/>
                <a:cs typeface="Equip Extended Regular" pitchFamily="34" charset="-120"/>
              </a:rPr>
              <a:t>Team</a:t>
            </a:r>
            <a:endParaRPr lang="en-US" sz="1200" dirty="0"/>
          </a:p>
        </p:txBody>
      </p:sp>
      <p:sp>
        <p:nvSpPr>
          <p:cNvPr id="14" name="Nagarro L3SupportTeam"/>
          <p:cNvSpPr/>
          <p:nvPr/>
        </p:nvSpPr>
        <p:spPr>
          <a:xfrm>
            <a:off x="9191625" y="7584136"/>
            <a:ext cx="904875" cy="571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FFFFFF"/>
                </a:solidFill>
                <a:latin typeface="Equip Extended Regular" pitchFamily="34" charset="0"/>
                <a:ea typeface="Equip Extended Regular" pitchFamily="34" charset="-122"/>
                <a:cs typeface="Equip Extended Regular" pitchFamily="34" charset="-120"/>
              </a:rPr>
              <a:t>Nagarro L3</a:t>
            </a:r>
            <a:br/>
            <a:r>
              <a:rPr lang="en-US" sz="1200" dirty="0">
                <a:solidFill>
                  <a:srgbClr val="FFFFFF"/>
                </a:solidFill>
                <a:latin typeface="Equip Extended Regular" pitchFamily="34" charset="0"/>
                <a:ea typeface="Equip Extended Regular" pitchFamily="34" charset="-122"/>
                <a:cs typeface="Equip Extended Regular" pitchFamily="34" charset="-120"/>
              </a:rPr>
              <a:t>Support</a:t>
            </a:r>
            <a:br/>
            <a:r>
              <a:rPr lang="en-US" sz="1200" dirty="0">
                <a:solidFill>
                  <a:srgbClr val="FFFFFF"/>
                </a:solidFill>
                <a:latin typeface="Equip Extended Regular" pitchFamily="34" charset="0"/>
                <a:ea typeface="Equip Extended Regular" pitchFamily="34" charset="-122"/>
                <a:cs typeface="Equip Extended Regular" pitchFamily="34" charset="-120"/>
              </a:rPr>
              <a:t>Team</a:t>
            </a:r>
            <a:endParaRPr lang="en-US" sz="1200" dirty="0"/>
          </a:p>
        </p:txBody>
      </p:sp>
      <p:sp>
        <p:nvSpPr>
          <p:cNvPr id="15" name="ProblemManagement"/>
          <p:cNvSpPr/>
          <p:nvPr/>
        </p:nvSpPr>
        <p:spPr>
          <a:xfrm>
            <a:off x="11918305" y="5686488"/>
            <a:ext cx="1066800" cy="3810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FFFFFF"/>
                </a:solidFill>
                <a:latin typeface="Equip Extended Regular" pitchFamily="34" charset="0"/>
                <a:ea typeface="Equip Extended Regular" pitchFamily="34" charset="-122"/>
                <a:cs typeface="Equip Extended Regular" pitchFamily="34" charset="-120"/>
              </a:rPr>
              <a:t>Problem</a:t>
            </a:r>
            <a:br/>
            <a:r>
              <a:rPr lang="en-US" sz="1200" dirty="0">
                <a:solidFill>
                  <a:srgbClr val="FFFFFF"/>
                </a:solidFill>
                <a:latin typeface="Equip Extended Regular" pitchFamily="34" charset="0"/>
                <a:ea typeface="Equip Extended Regular" pitchFamily="34" charset="-122"/>
                <a:cs typeface="Equip Extended Regular" pitchFamily="34" charset="-120"/>
              </a:rPr>
              <a:t>Management</a:t>
            </a:r>
            <a:endParaRPr lang="en-US" sz="1200" dirty="0"/>
          </a:p>
        </p:txBody>
      </p:sp>
      <p:sp>
        <p:nvSpPr>
          <p:cNvPr id="16" name="IncidentRequest closed"/>
          <p:cNvSpPr/>
          <p:nvPr/>
        </p:nvSpPr>
        <p:spPr>
          <a:xfrm>
            <a:off x="2445004" y="7760493"/>
            <a:ext cx="1209675" cy="3810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205463"/>
                </a:solidFill>
                <a:latin typeface="Equip Extended Regular" pitchFamily="34" charset="0"/>
                <a:ea typeface="Equip Extended Regular" pitchFamily="34" charset="-122"/>
                <a:cs typeface="Equip Extended Regular" pitchFamily="34" charset="-120"/>
              </a:rPr>
              <a:t>Incident/</a:t>
            </a:r>
            <a:br/>
            <a:r>
              <a:rPr lang="en-US" sz="1200" dirty="0">
                <a:solidFill>
                  <a:srgbClr val="205463"/>
                </a:solidFill>
                <a:latin typeface="Equip Extended Regular" pitchFamily="34" charset="0"/>
                <a:ea typeface="Equip Extended Regular" pitchFamily="34" charset="-122"/>
                <a:cs typeface="Equip Extended Regular" pitchFamily="34" charset="-120"/>
              </a:rPr>
              <a:t>Request closed</a:t>
            </a:r>
            <a:endParaRPr lang="en-US" sz="1200" dirty="0"/>
          </a:p>
        </p:txBody>
      </p:sp>
      <p:sp>
        <p:nvSpPr>
          <p:cNvPr id="17" name="ProductionEnvironment"/>
          <p:cNvSpPr/>
          <p:nvPr/>
        </p:nvSpPr>
        <p:spPr>
          <a:xfrm>
            <a:off x="2540254" y="8953915"/>
            <a:ext cx="1019175" cy="3810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205463"/>
                </a:solidFill>
                <a:latin typeface="Equip Extended Regular" pitchFamily="34" charset="0"/>
                <a:ea typeface="Equip Extended Regular" pitchFamily="34" charset="-122"/>
                <a:cs typeface="Equip Extended Regular" pitchFamily="34" charset="-120"/>
              </a:rPr>
              <a:t>Production</a:t>
            </a:r>
            <a:br/>
            <a:r>
              <a:rPr lang="en-US" sz="1200" dirty="0">
                <a:solidFill>
                  <a:srgbClr val="205463"/>
                </a:solidFill>
                <a:latin typeface="Equip Extended Regular" pitchFamily="34" charset="0"/>
                <a:ea typeface="Equip Extended Regular" pitchFamily="34" charset="-122"/>
                <a:cs typeface="Equip Extended Regular" pitchFamily="34" charset="-120"/>
              </a:rPr>
              <a:t>Environment</a:t>
            </a:r>
            <a:endParaRPr lang="en-US" sz="1200" dirty="0"/>
          </a:p>
        </p:txBody>
      </p:sp>
      <p:sp>
        <p:nvSpPr>
          <p:cNvPr id="18" name="StagingPre-ProdEnvironment"/>
          <p:cNvSpPr/>
          <p:nvPr/>
        </p:nvSpPr>
        <p:spPr>
          <a:xfrm>
            <a:off x="8597094" y="8982490"/>
            <a:ext cx="1495425" cy="323850"/>
          </a:xfrm>
          <a:prstGeom prst="rect">
            <a:avLst/>
          </a:prstGeom>
          <a:noFill/>
          <a:ln/>
        </p:spPr>
        <p:txBody>
          <a:bodyPr wrap="square" lIns="0" tIns="0" rIns="0" bIns="0" rtlCol="0" anchor="t"/>
          <a:lstStyle/>
          <a:p>
            <a:pPr marL="0" indent="0" algn="l">
              <a:lnSpc>
                <a:spcPct val="83333"/>
              </a:lnSpc>
              <a:buNone/>
            </a:pPr>
            <a:r>
              <a:rPr lang="en-US" sz="1278" dirty="0">
                <a:solidFill>
                  <a:srgbClr val="205463"/>
                </a:solidFill>
                <a:latin typeface="Equip Extended Medium" pitchFamily="34" charset="0"/>
                <a:ea typeface="Equip Extended Medium" pitchFamily="34" charset="-122"/>
                <a:cs typeface="Equip Extended Medium" pitchFamily="34" charset="-120"/>
              </a:rPr>
              <a:t>Staging/Pre-Prod</a:t>
            </a:r>
            <a:br/>
            <a:r>
              <a:rPr lang="en-US" sz="1278" dirty="0">
                <a:solidFill>
                  <a:srgbClr val="205463"/>
                </a:solidFill>
                <a:latin typeface="Equip Extended Medium" pitchFamily="34" charset="0"/>
                <a:ea typeface="Equip Extended Medium" pitchFamily="34" charset="-122"/>
                <a:cs typeface="Equip Extended Medium" pitchFamily="34" charset="-120"/>
              </a:rPr>
              <a:t>Environment</a:t>
            </a:r>
            <a:endParaRPr lang="en-US" sz="1278" dirty="0"/>
          </a:p>
        </p:txBody>
      </p:sp>
      <p:sp>
        <p:nvSpPr>
          <p:cNvPr id="19" name="ServiceBacklog"/>
          <p:cNvSpPr/>
          <p:nvPr/>
        </p:nvSpPr>
        <p:spPr>
          <a:xfrm>
            <a:off x="10829925" y="6503344"/>
            <a:ext cx="657225" cy="3810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8893A5"/>
                </a:solidFill>
                <a:latin typeface="Equip Extended Regular" pitchFamily="34" charset="0"/>
                <a:ea typeface="Equip Extended Regular" pitchFamily="34" charset="-122"/>
                <a:cs typeface="Equip Extended Regular" pitchFamily="34" charset="-120"/>
              </a:rPr>
              <a:t>Service</a:t>
            </a:r>
            <a:br/>
            <a:r>
              <a:rPr lang="en-US" sz="1200" dirty="0">
                <a:solidFill>
                  <a:srgbClr val="8893A5"/>
                </a:solidFill>
                <a:latin typeface="Equip Extended Regular" pitchFamily="34" charset="0"/>
                <a:ea typeface="Equip Extended Regular" pitchFamily="34" charset="-122"/>
                <a:cs typeface="Equip Extended Regular" pitchFamily="34" charset="-120"/>
              </a:rPr>
              <a:t>Backlog</a:t>
            </a:r>
            <a:endParaRPr lang="en-US" sz="1200" dirty="0"/>
          </a:p>
        </p:txBody>
      </p:sp>
      <p:sp>
        <p:nvSpPr>
          <p:cNvPr id="20" name="Reporting Governance"/>
          <p:cNvSpPr/>
          <p:nvPr/>
        </p:nvSpPr>
        <p:spPr>
          <a:xfrm>
            <a:off x="14630400" y="3694195"/>
            <a:ext cx="1123950" cy="3810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205463"/>
                </a:solidFill>
                <a:latin typeface="Equip Extended Regular" pitchFamily="34" charset="0"/>
                <a:ea typeface="Equip Extended Regular" pitchFamily="34" charset="-122"/>
                <a:cs typeface="Equip Extended Regular" pitchFamily="34" charset="-120"/>
              </a:rPr>
              <a:t>Reporting</a:t>
            </a:r>
            <a:br/>
            <a:r>
              <a:rPr lang="en-US" sz="1200" dirty="0">
                <a:solidFill>
                  <a:srgbClr val="205463"/>
                </a:solidFill>
                <a:latin typeface="Equip Extended Regular" pitchFamily="34" charset="0"/>
                <a:ea typeface="Equip Extended Regular" pitchFamily="34" charset="-122"/>
                <a:cs typeface="Equip Extended Regular" pitchFamily="34" charset="-120"/>
              </a:rPr>
              <a:t>&amp; Governance</a:t>
            </a:r>
            <a:endParaRPr lang="en-US" sz="1200" dirty="0"/>
          </a:p>
        </p:txBody>
      </p:sp>
      <p:sp>
        <p:nvSpPr>
          <p:cNvPr id="21" name="KMDBKEDB"/>
          <p:cNvSpPr/>
          <p:nvPr/>
        </p:nvSpPr>
        <p:spPr>
          <a:xfrm>
            <a:off x="14678025" y="5708074"/>
            <a:ext cx="1038225" cy="190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205463"/>
                </a:solidFill>
                <a:latin typeface="Equip Extended Regular" pitchFamily="34" charset="0"/>
                <a:ea typeface="Equip Extended Regular" pitchFamily="34" charset="-122"/>
                <a:cs typeface="Equip Extended Regular" pitchFamily="34" charset="-120"/>
              </a:rPr>
              <a:t>KMDB/KEDB</a:t>
            </a:r>
            <a:endParaRPr lang="en-US" sz="1200" dirty="0"/>
          </a:p>
        </p:txBody>
      </p:sp>
      <p:sp>
        <p:nvSpPr>
          <p:cNvPr id="22" name="ChangeManagement"/>
          <p:cNvSpPr/>
          <p:nvPr/>
        </p:nvSpPr>
        <p:spPr>
          <a:xfrm>
            <a:off x="14658975" y="8196167"/>
            <a:ext cx="1066800" cy="3810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205463"/>
                </a:solidFill>
                <a:latin typeface="Equip Extended Regular" pitchFamily="34" charset="0"/>
                <a:ea typeface="Equip Extended Regular" pitchFamily="34" charset="-122"/>
                <a:cs typeface="Equip Extended Regular" pitchFamily="34" charset="-120"/>
              </a:rPr>
              <a:t>Change</a:t>
            </a:r>
            <a:br/>
            <a:r>
              <a:rPr lang="en-US" sz="1200" dirty="0">
                <a:solidFill>
                  <a:srgbClr val="205463"/>
                </a:solidFill>
                <a:latin typeface="Equip Extended Regular" pitchFamily="34" charset="0"/>
                <a:ea typeface="Equip Extended Regular" pitchFamily="34" charset="-122"/>
                <a:cs typeface="Equip Extended Regular" pitchFamily="34" charset="-120"/>
              </a:rPr>
              <a:t>Management</a:t>
            </a:r>
            <a:endParaRPr lang="en-US" sz="1200" dirty="0"/>
          </a:p>
        </p:txBody>
      </p:sp>
      <p:sp>
        <p:nvSpPr>
          <p:cNvPr id="23" name="status update"/>
          <p:cNvSpPr/>
          <p:nvPr/>
        </p:nvSpPr>
        <p:spPr>
          <a:xfrm>
            <a:off x="7057281" y="8495564"/>
            <a:ext cx="1009650" cy="142797"/>
          </a:xfrm>
          <a:prstGeom prst="rect">
            <a:avLst/>
          </a:prstGeom>
          <a:noFill/>
          <a:ln/>
        </p:spPr>
        <p:txBody>
          <a:bodyPr wrap="square" lIns="0" tIns="0" rIns="0" bIns="0" rtlCol="0" anchor="t"/>
          <a:lstStyle/>
          <a:p>
            <a:pPr marL="0" indent="0" algn="l">
              <a:lnSpc>
                <a:spcPct val="83333"/>
              </a:lnSpc>
              <a:buNone/>
            </a:pPr>
            <a:r>
              <a:rPr lang="en-US" sz="1095" dirty="0">
                <a:solidFill>
                  <a:srgbClr val="4E5E78"/>
                </a:solidFill>
                <a:latin typeface="Equip Extended Medium" pitchFamily="34" charset="0"/>
                <a:ea typeface="Equip Extended Medium" pitchFamily="34" charset="-122"/>
                <a:cs typeface="Equip Extended Medium" pitchFamily="34" charset="-120"/>
              </a:rPr>
              <a:t>status update</a:t>
            </a:r>
            <a:endParaRPr lang="en-US" sz="1095" dirty="0"/>
          </a:p>
        </p:txBody>
      </p:sp>
      <p:sp>
        <p:nvSpPr>
          <p:cNvPr id="24" name="status update"/>
          <p:cNvSpPr/>
          <p:nvPr/>
        </p:nvSpPr>
        <p:spPr>
          <a:xfrm>
            <a:off x="6964524" y="7672914"/>
            <a:ext cx="1009650" cy="142797"/>
          </a:xfrm>
          <a:prstGeom prst="rect">
            <a:avLst/>
          </a:prstGeom>
          <a:noFill/>
          <a:ln/>
        </p:spPr>
        <p:txBody>
          <a:bodyPr wrap="square" lIns="0" tIns="0" rIns="0" bIns="0" rtlCol="0" anchor="t"/>
          <a:lstStyle/>
          <a:p>
            <a:pPr marL="0" indent="0" algn="l">
              <a:lnSpc>
                <a:spcPct val="83333"/>
              </a:lnSpc>
              <a:buNone/>
            </a:pPr>
            <a:r>
              <a:rPr lang="en-US" sz="1095" dirty="0">
                <a:solidFill>
                  <a:srgbClr val="4E5E78"/>
                </a:solidFill>
                <a:latin typeface="Equip Extended Medium" pitchFamily="34" charset="0"/>
                <a:ea typeface="Equip Extended Medium" pitchFamily="34" charset="-122"/>
                <a:cs typeface="Equip Extended Medium" pitchFamily="34" charset="-120"/>
              </a:rPr>
              <a:t>status update</a:t>
            </a:r>
            <a:endParaRPr lang="en-US" sz="1095" dirty="0"/>
          </a:p>
        </p:txBody>
      </p:sp>
      <p:sp>
        <p:nvSpPr>
          <p:cNvPr id="25" name="notresolved"/>
          <p:cNvSpPr/>
          <p:nvPr/>
        </p:nvSpPr>
        <p:spPr>
          <a:xfrm>
            <a:off x="7265938" y="5112271"/>
            <a:ext cx="647700" cy="418872"/>
          </a:xfrm>
          <a:prstGeom prst="rect">
            <a:avLst/>
          </a:prstGeom>
          <a:noFill/>
          <a:ln/>
        </p:spPr>
        <p:txBody>
          <a:bodyPr wrap="square" lIns="0" tIns="0" rIns="0" bIns="0" rtlCol="0" anchor="t"/>
          <a:lstStyle/>
          <a:p>
            <a:pPr marL="0" indent="0" algn="l">
              <a:lnSpc>
                <a:spcPct val="125000"/>
              </a:lnSpc>
              <a:buNone/>
            </a:pPr>
            <a:r>
              <a:rPr lang="en-US" sz="1095" dirty="0">
                <a:solidFill>
                  <a:srgbClr val="4E5E78"/>
                </a:solidFill>
                <a:latin typeface="Equip Extended Medium" pitchFamily="34" charset="0"/>
                <a:ea typeface="Equip Extended Medium" pitchFamily="34" charset="-122"/>
                <a:cs typeface="Equip Extended Medium" pitchFamily="34" charset="-120"/>
              </a:rPr>
              <a:t>not</a:t>
            </a:r>
            <a:br/>
            <a:r>
              <a:rPr lang="en-US" sz="1095" dirty="0">
                <a:solidFill>
                  <a:srgbClr val="4E5E78"/>
                </a:solidFill>
                <a:latin typeface="Equip Extended Medium" pitchFamily="34" charset="0"/>
                <a:ea typeface="Equip Extended Medium" pitchFamily="34" charset="-122"/>
                <a:cs typeface="Equip Extended Medium" pitchFamily="34" charset="-120"/>
              </a:rPr>
              <a:t>resolved</a:t>
            </a:r>
            <a:endParaRPr lang="en-US" sz="1095" dirty="0"/>
          </a:p>
        </p:txBody>
      </p:sp>
      <p:sp>
        <p:nvSpPr>
          <p:cNvPr id="26" name="ongoing activities"/>
          <p:cNvSpPr/>
          <p:nvPr/>
        </p:nvSpPr>
        <p:spPr>
          <a:xfrm>
            <a:off x="2107090" y="6270933"/>
            <a:ext cx="1295400" cy="209436"/>
          </a:xfrm>
          <a:prstGeom prst="rect">
            <a:avLst/>
          </a:prstGeom>
          <a:noFill/>
          <a:ln/>
        </p:spPr>
        <p:txBody>
          <a:bodyPr wrap="square" lIns="0" tIns="0" rIns="0" bIns="0" rtlCol="0" anchor="t"/>
          <a:lstStyle/>
          <a:p>
            <a:pPr marL="0" indent="0" algn="l">
              <a:lnSpc>
                <a:spcPct val="125000"/>
              </a:lnSpc>
              <a:buNone/>
            </a:pPr>
            <a:r>
              <a:rPr lang="en-US" sz="1095" dirty="0">
                <a:solidFill>
                  <a:srgbClr val="4E5E78"/>
                </a:solidFill>
                <a:latin typeface="Equip Extended Medium" pitchFamily="34" charset="0"/>
                <a:ea typeface="Equip Extended Medium" pitchFamily="34" charset="-122"/>
                <a:cs typeface="Equip Extended Medium" pitchFamily="34" charset="-120"/>
              </a:rPr>
              <a:t>ongoing activities</a:t>
            </a:r>
            <a:endParaRPr lang="en-US" sz="1095" dirty="0"/>
          </a:p>
        </p:txBody>
      </p:sp>
      <p:sp>
        <p:nvSpPr>
          <p:cNvPr id="27" name="Alert"/>
          <p:cNvSpPr/>
          <p:nvPr/>
        </p:nvSpPr>
        <p:spPr>
          <a:xfrm>
            <a:off x="4367715" y="4973231"/>
            <a:ext cx="381000" cy="209436"/>
          </a:xfrm>
          <a:prstGeom prst="rect">
            <a:avLst/>
          </a:prstGeom>
          <a:noFill/>
          <a:ln/>
        </p:spPr>
        <p:txBody>
          <a:bodyPr wrap="square" lIns="0" tIns="0" rIns="0" bIns="0" rtlCol="0" anchor="t"/>
          <a:lstStyle/>
          <a:p>
            <a:pPr marL="0" indent="0" algn="l">
              <a:lnSpc>
                <a:spcPct val="125000"/>
              </a:lnSpc>
              <a:buNone/>
            </a:pPr>
            <a:r>
              <a:rPr lang="en-US" sz="1095" dirty="0">
                <a:solidFill>
                  <a:srgbClr val="4E5E78"/>
                </a:solidFill>
                <a:latin typeface="Equip Extended Medium" pitchFamily="34" charset="0"/>
                <a:ea typeface="Equip Extended Medium" pitchFamily="34" charset="-122"/>
                <a:cs typeface="Equip Extended Medium" pitchFamily="34" charset="-120"/>
              </a:rPr>
              <a:t>Alert</a:t>
            </a:r>
            <a:endParaRPr lang="en-US" sz="1095" dirty="0"/>
          </a:p>
        </p:txBody>
      </p:sp>
      <p:sp>
        <p:nvSpPr>
          <p:cNvPr id="28" name="Ticket by users"/>
          <p:cNvSpPr/>
          <p:nvPr/>
        </p:nvSpPr>
        <p:spPr>
          <a:xfrm rot="-5400000">
            <a:off x="4935773" y="4358891"/>
            <a:ext cx="228600" cy="1066220"/>
          </a:xfrm>
          <a:prstGeom prst="rect">
            <a:avLst/>
          </a:prstGeom>
          <a:noFill/>
          <a:ln/>
        </p:spPr>
        <p:txBody>
          <a:bodyPr wrap="square" lIns="0" tIns="0" rIns="0" bIns="0" rtlCol="0" anchor="t"/>
          <a:lstStyle/>
          <a:p>
            <a:pPr marL="0" indent="0" algn="l">
              <a:lnSpc>
                <a:spcPct val="125000"/>
              </a:lnSpc>
              <a:buNone/>
            </a:pPr>
            <a:r>
              <a:rPr lang="en-US" sz="1095" dirty="0">
                <a:solidFill>
                  <a:srgbClr val="4E5E78"/>
                </a:solidFill>
                <a:latin typeface="Equip Extended Medium" pitchFamily="34" charset="0"/>
                <a:ea typeface="Equip Extended Medium" pitchFamily="34" charset="-122"/>
                <a:cs typeface="Equip Extended Medium" pitchFamily="34" charset="-120"/>
              </a:rPr>
              <a:t>Ticket by users</a:t>
            </a:r>
            <a:endParaRPr lang="en-US" sz="1095" dirty="0"/>
          </a:p>
        </p:txBody>
      </p:sp>
      <p:sp>
        <p:nvSpPr>
          <p:cNvPr id="29" name="initiate a changefor emergency bug fix"/>
          <p:cNvSpPr/>
          <p:nvPr/>
        </p:nvSpPr>
        <p:spPr>
          <a:xfrm>
            <a:off x="10465594" y="7626568"/>
            <a:ext cx="1733550" cy="437912"/>
          </a:xfrm>
          <a:prstGeom prst="rect">
            <a:avLst/>
          </a:prstGeom>
          <a:noFill/>
          <a:ln/>
        </p:spPr>
        <p:txBody>
          <a:bodyPr wrap="square" lIns="0" tIns="0" rIns="0" bIns="0" rtlCol="0" anchor="t"/>
          <a:lstStyle/>
          <a:p>
            <a:pPr marL="0" indent="0" algn="l">
              <a:lnSpc>
                <a:spcPct val="133333"/>
              </a:lnSpc>
              <a:buNone/>
            </a:pPr>
            <a:r>
              <a:rPr lang="en-US" sz="1095" dirty="0">
                <a:solidFill>
                  <a:srgbClr val="4E5E78"/>
                </a:solidFill>
                <a:latin typeface="Equip Extended Medium" pitchFamily="34" charset="0"/>
                <a:ea typeface="Equip Extended Medium" pitchFamily="34" charset="-122"/>
                <a:cs typeface="Equip Extended Medium" pitchFamily="34" charset="-120"/>
              </a:rPr>
              <a:t>initiate a change</a:t>
            </a:r>
            <a:br/>
            <a:r>
              <a:rPr lang="en-US" sz="1095" dirty="0">
                <a:solidFill>
                  <a:srgbClr val="4E5E78"/>
                </a:solidFill>
                <a:latin typeface="Equip Extended Medium" pitchFamily="34" charset="0"/>
                <a:ea typeface="Equip Extended Medium" pitchFamily="34" charset="-122"/>
                <a:cs typeface="Equip Extended Medium" pitchFamily="34" charset="-120"/>
              </a:rPr>
              <a:t>(for emergency bug fix)</a:t>
            </a:r>
            <a:endParaRPr lang="en-US" sz="1095" dirty="0"/>
          </a:p>
        </p:txBody>
      </p:sp>
      <p:sp>
        <p:nvSpPr>
          <p:cNvPr id="30" name="notresolved"/>
          <p:cNvSpPr/>
          <p:nvPr/>
        </p:nvSpPr>
        <p:spPr>
          <a:xfrm>
            <a:off x="8807797" y="6502666"/>
            <a:ext cx="647700" cy="380793"/>
          </a:xfrm>
          <a:prstGeom prst="rect">
            <a:avLst/>
          </a:prstGeom>
          <a:noFill/>
          <a:ln/>
        </p:spPr>
        <p:txBody>
          <a:bodyPr wrap="square" lIns="0" tIns="0" rIns="0" bIns="0" rtlCol="0" anchor="t"/>
          <a:lstStyle/>
          <a:p>
            <a:pPr marL="0" indent="0" algn="l">
              <a:lnSpc>
                <a:spcPct val="116667"/>
              </a:lnSpc>
              <a:buNone/>
            </a:pPr>
            <a:r>
              <a:rPr lang="en-US" sz="1095" dirty="0">
                <a:solidFill>
                  <a:srgbClr val="4E5E78"/>
                </a:solidFill>
                <a:latin typeface="Equip Extended Medium" pitchFamily="34" charset="0"/>
                <a:ea typeface="Equip Extended Medium" pitchFamily="34" charset="-122"/>
                <a:cs typeface="Equip Extended Medium" pitchFamily="34" charset="-120"/>
              </a:rPr>
              <a:t>not</a:t>
            </a:r>
            <a:br/>
            <a:r>
              <a:rPr lang="en-US" sz="1095" dirty="0">
                <a:solidFill>
                  <a:srgbClr val="4E5E78"/>
                </a:solidFill>
                <a:latin typeface="Equip Extended Medium" pitchFamily="34" charset="0"/>
                <a:ea typeface="Equip Extended Medium" pitchFamily="34" charset="-122"/>
                <a:cs typeface="Equip Extended Medium" pitchFamily="34" charset="-120"/>
              </a:rPr>
              <a:t>resolved</a:t>
            </a:r>
            <a:endParaRPr lang="en-US" sz="1095" dirty="0"/>
          </a:p>
        </p:txBody>
      </p:sp>
      <p:sp>
        <p:nvSpPr>
          <p:cNvPr id="31" name="initiateChange"/>
          <p:cNvSpPr/>
          <p:nvPr/>
        </p:nvSpPr>
        <p:spPr>
          <a:xfrm>
            <a:off x="9851175" y="6502666"/>
            <a:ext cx="581025" cy="380793"/>
          </a:xfrm>
          <a:prstGeom prst="rect">
            <a:avLst/>
          </a:prstGeom>
          <a:noFill/>
          <a:ln/>
        </p:spPr>
        <p:txBody>
          <a:bodyPr wrap="square" lIns="0" tIns="0" rIns="0" bIns="0" rtlCol="0" anchor="t"/>
          <a:lstStyle/>
          <a:p>
            <a:pPr marL="0" indent="0" algn="l">
              <a:lnSpc>
                <a:spcPct val="116667"/>
              </a:lnSpc>
              <a:buNone/>
            </a:pPr>
            <a:r>
              <a:rPr lang="en-US" sz="1095" dirty="0">
                <a:solidFill>
                  <a:srgbClr val="4E5E78"/>
                </a:solidFill>
                <a:latin typeface="Equip Extended Medium" pitchFamily="34" charset="0"/>
                <a:ea typeface="Equip Extended Medium" pitchFamily="34" charset="-122"/>
                <a:cs typeface="Equip Extended Medium" pitchFamily="34" charset="-120"/>
              </a:rPr>
              <a:t>initiate</a:t>
            </a:r>
            <a:br/>
            <a:r>
              <a:rPr lang="en-US" sz="1095" dirty="0">
                <a:solidFill>
                  <a:srgbClr val="4E5E78"/>
                </a:solidFill>
                <a:latin typeface="Equip Extended Medium" pitchFamily="34" charset="0"/>
                <a:ea typeface="Equip Extended Medium" pitchFamily="34" charset="-122"/>
                <a:cs typeface="Equip Extended Medium" pitchFamily="34" charset="-120"/>
              </a:rPr>
              <a:t>Change</a:t>
            </a:r>
            <a:endParaRPr lang="en-US" sz="1095" dirty="0"/>
          </a:p>
        </p:txBody>
      </p:sp>
      <p:sp>
        <p:nvSpPr>
          <p:cNvPr id="32" name="resolved"/>
          <p:cNvSpPr/>
          <p:nvPr/>
        </p:nvSpPr>
        <p:spPr>
          <a:xfrm>
            <a:off x="7057281" y="8750469"/>
            <a:ext cx="714375" cy="142797"/>
          </a:xfrm>
          <a:prstGeom prst="rect">
            <a:avLst/>
          </a:prstGeom>
          <a:noFill/>
          <a:ln/>
        </p:spPr>
        <p:txBody>
          <a:bodyPr wrap="square" lIns="0" tIns="0" rIns="0" bIns="0" rtlCol="0" anchor="t"/>
          <a:lstStyle/>
          <a:p>
            <a:pPr marL="0" indent="0" algn="l">
              <a:lnSpc>
                <a:spcPct val="83333"/>
              </a:lnSpc>
              <a:buNone/>
            </a:pPr>
            <a:r>
              <a:rPr lang="en-US" sz="1095" dirty="0">
                <a:solidFill>
                  <a:srgbClr val="4E5E78"/>
                </a:solidFill>
                <a:latin typeface="Equip Extended Medium" pitchFamily="34" charset="0"/>
                <a:ea typeface="Equip Extended Medium" pitchFamily="34" charset="-122"/>
                <a:cs typeface="Equip Extended Medium" pitchFamily="34" charset="-120"/>
              </a:rPr>
              <a:t>/resolved</a:t>
            </a:r>
            <a:endParaRPr lang="en-US" sz="1095" dirty="0"/>
          </a:p>
        </p:txBody>
      </p:sp>
      <p:sp>
        <p:nvSpPr>
          <p:cNvPr id="33" name="resolved"/>
          <p:cNvSpPr/>
          <p:nvPr/>
        </p:nvSpPr>
        <p:spPr>
          <a:xfrm>
            <a:off x="6964524" y="7927820"/>
            <a:ext cx="714375" cy="142797"/>
          </a:xfrm>
          <a:prstGeom prst="rect">
            <a:avLst/>
          </a:prstGeom>
          <a:noFill/>
          <a:ln/>
        </p:spPr>
        <p:txBody>
          <a:bodyPr wrap="square" lIns="0" tIns="0" rIns="0" bIns="0" rtlCol="0" anchor="t"/>
          <a:lstStyle/>
          <a:p>
            <a:pPr marL="0" indent="0" algn="l">
              <a:lnSpc>
                <a:spcPct val="83333"/>
              </a:lnSpc>
              <a:buNone/>
            </a:pPr>
            <a:r>
              <a:rPr lang="en-US" sz="1095" dirty="0">
                <a:solidFill>
                  <a:srgbClr val="4E5E78"/>
                </a:solidFill>
                <a:latin typeface="Equip Extended Medium" pitchFamily="34" charset="0"/>
                <a:ea typeface="Equip Extended Medium" pitchFamily="34" charset="-122"/>
                <a:cs typeface="Equip Extended Medium" pitchFamily="34" charset="-120"/>
              </a:rPr>
              <a:t>/resolved</a:t>
            </a:r>
            <a:endParaRPr lang="en-US" sz="1095" dirty="0"/>
          </a:p>
        </p:txBody>
      </p:sp>
      <p:sp>
        <p:nvSpPr>
          <p:cNvPr id="34" name="resolved"/>
          <p:cNvSpPr/>
          <p:nvPr/>
        </p:nvSpPr>
        <p:spPr>
          <a:xfrm>
            <a:off x="4680719" y="7742434"/>
            <a:ext cx="714375" cy="142797"/>
          </a:xfrm>
          <a:prstGeom prst="rect">
            <a:avLst/>
          </a:prstGeom>
          <a:noFill/>
          <a:ln/>
        </p:spPr>
        <p:txBody>
          <a:bodyPr wrap="square" lIns="0" tIns="0" rIns="0" bIns="0" rtlCol="0" anchor="t"/>
          <a:lstStyle/>
          <a:p>
            <a:pPr marL="0" indent="0" algn="l">
              <a:lnSpc>
                <a:spcPct val="83333"/>
              </a:lnSpc>
              <a:buNone/>
            </a:pPr>
            <a:r>
              <a:rPr lang="en-US" sz="1095" dirty="0">
                <a:solidFill>
                  <a:srgbClr val="4E5E78"/>
                </a:solidFill>
                <a:latin typeface="Equip Extended Medium" pitchFamily="34" charset="0"/>
                <a:ea typeface="Equip Extended Medium" pitchFamily="34" charset="-122"/>
                <a:cs typeface="Equip Extended Medium" pitchFamily="34" charset="-120"/>
              </a:rPr>
              <a:t>/resolved</a:t>
            </a:r>
            <a:endParaRPr lang="en-US" sz="1095" dirty="0"/>
          </a:p>
        </p:txBody>
      </p:sp>
      <p:pic>
        <p:nvPicPr>
          <p:cNvPr id="35" name="Graphic 34">
            <a:extLst>
              <a:ext uri="{FF2B5EF4-FFF2-40B4-BE49-F238E27FC236}">
                <a16:creationId xmlns:a16="http://schemas.microsoft.com/office/drawing/2014/main" id="{198D0431-FF72-EFF6-1888-937172E20C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2730" y="101077"/>
            <a:ext cx="2198820" cy="1649115"/>
          </a:xfrm>
          <a:prstGeom prst="rect">
            <a:avLst/>
          </a:prstGeom>
        </p:spPr>
      </p:pic>
      <p:cxnSp>
        <p:nvCxnSpPr>
          <p:cNvPr id="36" name="Straight Connector 35">
            <a:extLst>
              <a:ext uri="{FF2B5EF4-FFF2-40B4-BE49-F238E27FC236}">
                <a16:creationId xmlns:a16="http://schemas.microsoft.com/office/drawing/2014/main" id="{12C02539-9845-4ABF-0E3B-E4B156281991}"/>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C805A40-FD13-FF29-05E2-1E0DFCC972DE}"/>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B0995700-5B6F-B451-D4CB-E410115ED27B}"/>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a:effectLst/>
      </p:bgPr>
    </p:bg>
    <p:spTree>
      <p:nvGrpSpPr>
        <p:cNvPr id="1" name=""/>
        <p:cNvGrpSpPr/>
        <p:nvPr/>
      </p:nvGrpSpPr>
      <p:grpSpPr>
        <a:xfrm>
          <a:off x="0" y="0"/>
          <a:ext cx="0" cy="0"/>
          <a:chOff x="0" y="0"/>
          <a:chExt cx="0" cy="0"/>
        </a:xfrm>
      </p:grpSpPr>
      <p:pic>
        <p:nvPicPr>
          <p:cNvPr id="3" name="graph" descr="preencoded.png"/>
          <p:cNvPicPr>
            <a:picLocks noChangeAspect="1"/>
          </p:cNvPicPr>
          <p:nvPr/>
        </p:nvPicPr>
        <p:blipFill>
          <a:blip>
            <a:extLst>
              <a:ext uri="{96DAC541-7B7A-43D3-8B79-37D633B846F1}">
                <asvg:svgBlip xmlns:asvg="http://schemas.microsoft.com/office/drawing/2016/SVG/main" r:embed="rId3"/>
              </a:ext>
            </a:extLst>
          </a:blip>
          <a:srcRect/>
          <a:stretch/>
        </p:blipFill>
        <p:spPr>
          <a:xfrm>
            <a:off x="806160" y="3505200"/>
            <a:ext cx="16691265" cy="4800600"/>
          </a:xfrm>
          <a:prstGeom prst="rect">
            <a:avLst/>
          </a:prstGeom>
        </p:spPr>
      </p:pic>
      <p:sp>
        <p:nvSpPr>
          <p:cNvPr id="4" name="Digital Design Strategy"/>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8893A5"/>
                </a:solidFill>
                <a:latin typeface="Equip Extended Regular" pitchFamily="34" charset="0"/>
                <a:ea typeface="Equip Extended Regular" pitchFamily="34" charset="-122"/>
                <a:cs typeface="Equip Extended Regular" pitchFamily="34" charset="-120"/>
              </a:rPr>
              <a:t>Digital Design Strategy</a:t>
            </a:r>
            <a:endParaRPr lang="en-US" sz="1200" dirty="0"/>
          </a:p>
        </p:txBody>
      </p:sp>
      <p:sp>
        <p:nvSpPr>
          <p:cNvPr id="5" name="Project Name"/>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8893A5"/>
                </a:solidFill>
                <a:latin typeface="Equip Extended Regular" pitchFamily="34" charset="0"/>
                <a:ea typeface="Equip Extended Regular" pitchFamily="34" charset="-122"/>
                <a:cs typeface="Equip Extended Regular" pitchFamily="34" charset="-120"/>
              </a:rPr>
              <a:t>Project Name</a:t>
            </a:r>
            <a:endParaRPr lang="en-US" sz="1200" dirty="0"/>
          </a:p>
        </p:txBody>
      </p:sp>
      <p:sp>
        <p:nvSpPr>
          <p:cNvPr id="6" name="Month Yea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8893A5"/>
                </a:solidFill>
                <a:latin typeface="Equip Extended Regular" pitchFamily="34" charset="0"/>
                <a:ea typeface="Equip Extended Regular" pitchFamily="34" charset="-122"/>
                <a:cs typeface="Equip Extended Regular" pitchFamily="34" charset="-120"/>
              </a:rPr>
              <a:t>Month Year</a:t>
            </a:r>
            <a:endParaRPr lang="en-US" sz="1200" dirty="0"/>
          </a:p>
        </p:txBody>
      </p:sp>
      <p:sp>
        <p:nvSpPr>
          <p:cNvPr id="7" name="2026"/>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rgbClr val="8893A5"/>
                </a:solidFill>
                <a:latin typeface="Equip Extended Regular" pitchFamily="34" charset="0"/>
                <a:ea typeface="Equip Extended Regular" pitchFamily="34" charset="-122"/>
                <a:cs typeface="Equip Extended Regular" pitchFamily="34" charset="-120"/>
              </a:rPr>
              <a:t>© 2026</a:t>
            </a:r>
            <a:endParaRPr lang="en-US" sz="1200" dirty="0"/>
          </a:p>
        </p:txBody>
      </p:sp>
      <p:sp>
        <p:nvSpPr>
          <p:cNvPr id="8" name="diagram-title"/>
          <p:cNvSpPr/>
          <p:nvPr/>
        </p:nvSpPr>
        <p:spPr>
          <a:xfrm>
            <a:off x="800100" y="1771650"/>
            <a:ext cx="16697325" cy="762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Proposed Design System Token Architecture</a:t>
            </a:r>
            <a:endParaRPr lang="en-US" sz="4800" dirty="0"/>
          </a:p>
        </p:txBody>
      </p:sp>
      <p:sp>
        <p:nvSpPr>
          <p:cNvPr id="9" name="Figma DS Variables"/>
          <p:cNvSpPr/>
          <p:nvPr/>
        </p:nvSpPr>
        <p:spPr>
          <a:xfrm>
            <a:off x="1196685" y="6014997"/>
            <a:ext cx="904875" cy="3810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010716"/>
                </a:solidFill>
                <a:latin typeface="Equip Extended Regular" pitchFamily="34" charset="0"/>
                <a:ea typeface="Equip Extended Regular" pitchFamily="34" charset="-122"/>
                <a:cs typeface="Equip Extended Regular" pitchFamily="34" charset="-120"/>
              </a:rPr>
              <a:t>Figma DS +</a:t>
            </a:r>
            <a:br/>
            <a:r>
              <a:rPr lang="en-US" sz="1200" dirty="0">
                <a:solidFill>
                  <a:srgbClr val="010716"/>
                </a:solidFill>
                <a:latin typeface="Equip Extended Regular" pitchFamily="34" charset="0"/>
                <a:ea typeface="Equip Extended Regular" pitchFamily="34" charset="-122"/>
                <a:cs typeface="Equip Extended Regular" pitchFamily="34" charset="-120"/>
              </a:rPr>
              <a:t>Variables</a:t>
            </a:r>
            <a:endParaRPr lang="en-US" sz="1200" dirty="0"/>
          </a:p>
        </p:txBody>
      </p:sp>
      <p:sp>
        <p:nvSpPr>
          <p:cNvPr id="10" name="VariableSto CodeArtifacts"/>
          <p:cNvSpPr/>
          <p:nvPr/>
        </p:nvSpPr>
        <p:spPr>
          <a:xfrm>
            <a:off x="3596985" y="5919747"/>
            <a:ext cx="771525" cy="571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010716"/>
                </a:solidFill>
                <a:latin typeface="Equip Extended Regular" pitchFamily="34" charset="0"/>
                <a:ea typeface="Equip Extended Regular" pitchFamily="34" charset="-122"/>
                <a:cs typeface="Equip Extended Regular" pitchFamily="34" charset="-120"/>
              </a:rPr>
              <a:t>VariableS</a:t>
            </a:r>
            <a:br/>
            <a:r>
              <a:rPr lang="en-US" sz="1200" dirty="0">
                <a:solidFill>
                  <a:srgbClr val="010716"/>
                </a:solidFill>
                <a:latin typeface="Equip Extended Regular" pitchFamily="34" charset="0"/>
                <a:ea typeface="Equip Extended Regular" pitchFamily="34" charset="-122"/>
                <a:cs typeface="Equip Extended Regular" pitchFamily="34" charset="-120"/>
              </a:rPr>
              <a:t>to Code</a:t>
            </a:r>
            <a:br/>
            <a:r>
              <a:rPr lang="en-US" sz="1200" dirty="0">
                <a:solidFill>
                  <a:srgbClr val="010716"/>
                </a:solidFill>
                <a:latin typeface="Equip Extended Regular" pitchFamily="34" charset="0"/>
                <a:ea typeface="Equip Extended Regular" pitchFamily="34" charset="-122"/>
                <a:cs typeface="Equip Extended Regular" pitchFamily="34" charset="-120"/>
              </a:rPr>
              <a:t>Artifacts</a:t>
            </a:r>
            <a:endParaRPr lang="en-US" sz="1200" dirty="0"/>
          </a:p>
        </p:txBody>
      </p:sp>
      <p:sp>
        <p:nvSpPr>
          <p:cNvPr id="11" name="TokensThemesComponentLibrary"/>
          <p:cNvSpPr/>
          <p:nvPr/>
        </p:nvSpPr>
        <p:spPr>
          <a:xfrm>
            <a:off x="5968710" y="5824497"/>
            <a:ext cx="971550" cy="7620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010716"/>
                </a:solidFill>
                <a:latin typeface="Equip Extended Regular" pitchFamily="34" charset="0"/>
                <a:ea typeface="Equip Extended Regular" pitchFamily="34" charset="-122"/>
                <a:cs typeface="Equip Extended Regular" pitchFamily="34" charset="-120"/>
              </a:rPr>
              <a:t>Tokens,</a:t>
            </a:r>
            <a:br/>
            <a:r>
              <a:rPr lang="en-US" sz="1200" dirty="0">
                <a:solidFill>
                  <a:srgbClr val="010716"/>
                </a:solidFill>
                <a:latin typeface="Equip Extended Regular" pitchFamily="34" charset="0"/>
                <a:ea typeface="Equip Extended Regular" pitchFamily="34" charset="-122"/>
                <a:cs typeface="Equip Extended Regular" pitchFamily="34" charset="-120"/>
              </a:rPr>
              <a:t>Themes,</a:t>
            </a:r>
            <a:br/>
            <a:r>
              <a:rPr lang="en-US" sz="1200" dirty="0">
                <a:solidFill>
                  <a:srgbClr val="010716"/>
                </a:solidFill>
                <a:latin typeface="Equip Extended Regular" pitchFamily="34" charset="0"/>
                <a:ea typeface="Equip Extended Regular" pitchFamily="34" charset="-122"/>
                <a:cs typeface="Equip Extended Regular" pitchFamily="34" charset="-120"/>
              </a:rPr>
              <a:t>Component</a:t>
            </a:r>
            <a:br/>
            <a:r>
              <a:rPr lang="en-US" sz="1200" dirty="0">
                <a:solidFill>
                  <a:srgbClr val="010716"/>
                </a:solidFill>
                <a:latin typeface="Equip Extended Regular" pitchFamily="34" charset="0"/>
                <a:ea typeface="Equip Extended Regular" pitchFamily="34" charset="-122"/>
                <a:cs typeface="Equip Extended Regular" pitchFamily="34" charset="-120"/>
              </a:rPr>
              <a:t>Library</a:t>
            </a:r>
            <a:endParaRPr lang="en-US" sz="1200" dirty="0"/>
          </a:p>
        </p:txBody>
      </p:sp>
      <p:sp>
        <p:nvSpPr>
          <p:cNvPr id="12" name="CommonReactComponents"/>
          <p:cNvSpPr/>
          <p:nvPr/>
        </p:nvSpPr>
        <p:spPr>
          <a:xfrm>
            <a:off x="7978485" y="5919747"/>
            <a:ext cx="1038225" cy="571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010716"/>
                </a:solidFill>
                <a:latin typeface="Equip Extended Regular" pitchFamily="34" charset="0"/>
                <a:ea typeface="Equip Extended Regular" pitchFamily="34" charset="-122"/>
                <a:cs typeface="Equip Extended Regular" pitchFamily="34" charset="-120"/>
              </a:rPr>
              <a:t>Common</a:t>
            </a:r>
            <a:br>
              <a:rPr dirty="0"/>
            </a:br>
            <a:r>
              <a:rPr lang="en-US" sz="1200" dirty="0">
                <a:solidFill>
                  <a:srgbClr val="010716"/>
                </a:solidFill>
                <a:latin typeface="Equip Extended Regular" pitchFamily="34" charset="0"/>
                <a:ea typeface="Equip Extended Regular" pitchFamily="34" charset="-122"/>
                <a:cs typeface="Equip Extended Regular" pitchFamily="34" charset="-120"/>
              </a:rPr>
              <a:t>React</a:t>
            </a:r>
            <a:br>
              <a:rPr dirty="0"/>
            </a:br>
            <a:r>
              <a:rPr lang="en-US" sz="1200" dirty="0">
                <a:solidFill>
                  <a:srgbClr val="010716"/>
                </a:solidFill>
                <a:latin typeface="Equip Extended Regular" pitchFamily="34" charset="0"/>
                <a:ea typeface="Equip Extended Regular" pitchFamily="34" charset="-122"/>
                <a:cs typeface="Equip Extended Regular" pitchFamily="34" charset="-120"/>
              </a:rPr>
              <a:t>Components</a:t>
            </a:r>
            <a:endParaRPr lang="en-US" sz="1200" dirty="0"/>
          </a:p>
        </p:txBody>
      </p:sp>
      <p:sp>
        <p:nvSpPr>
          <p:cNvPr id="13" name="WebComponents"/>
          <p:cNvSpPr/>
          <p:nvPr/>
        </p:nvSpPr>
        <p:spPr>
          <a:xfrm>
            <a:off x="10936077" y="4924006"/>
            <a:ext cx="1038225" cy="3810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010716"/>
                </a:solidFill>
                <a:latin typeface="Equip Extended Regular" pitchFamily="34" charset="0"/>
                <a:ea typeface="Equip Extended Regular" pitchFamily="34" charset="-122"/>
                <a:cs typeface="Equip Extended Regular" pitchFamily="34" charset="-120"/>
              </a:rPr>
              <a:t>Web</a:t>
            </a:r>
            <a:br/>
            <a:r>
              <a:rPr lang="en-US" sz="1200" dirty="0">
                <a:solidFill>
                  <a:srgbClr val="010716"/>
                </a:solidFill>
                <a:latin typeface="Equip Extended Regular" pitchFamily="34" charset="0"/>
                <a:ea typeface="Equip Extended Regular" pitchFamily="34" charset="-122"/>
                <a:cs typeface="Equip Extended Regular" pitchFamily="34" charset="-120"/>
              </a:rPr>
              <a:t>Components</a:t>
            </a:r>
            <a:endParaRPr lang="en-US" sz="1200" dirty="0"/>
          </a:p>
        </p:txBody>
      </p:sp>
      <p:sp>
        <p:nvSpPr>
          <p:cNvPr id="14" name="MobileComponents"/>
          <p:cNvSpPr/>
          <p:nvPr/>
        </p:nvSpPr>
        <p:spPr>
          <a:xfrm>
            <a:off x="10936077" y="7105988"/>
            <a:ext cx="1038225" cy="3810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010716"/>
                </a:solidFill>
                <a:latin typeface="Equip Extended Regular" pitchFamily="34" charset="0"/>
                <a:ea typeface="Equip Extended Regular" pitchFamily="34" charset="-122"/>
                <a:cs typeface="Equip Extended Regular" pitchFamily="34" charset="-120"/>
              </a:rPr>
              <a:t>Mobile</a:t>
            </a:r>
            <a:br/>
            <a:r>
              <a:rPr lang="en-US" sz="1200" dirty="0">
                <a:solidFill>
                  <a:srgbClr val="010716"/>
                </a:solidFill>
                <a:latin typeface="Equip Extended Regular" pitchFamily="34" charset="0"/>
                <a:ea typeface="Equip Extended Regular" pitchFamily="34" charset="-122"/>
                <a:cs typeface="Equip Extended Regular" pitchFamily="34" charset="-120"/>
              </a:rPr>
              <a:t>Components</a:t>
            </a:r>
            <a:endParaRPr lang="en-US" sz="1200" dirty="0"/>
          </a:p>
        </p:txBody>
      </p:sp>
      <p:sp>
        <p:nvSpPr>
          <p:cNvPr id="15" name="APIsMicroservicesCMS"/>
          <p:cNvSpPr/>
          <p:nvPr/>
        </p:nvSpPr>
        <p:spPr>
          <a:xfrm>
            <a:off x="15973513" y="5919747"/>
            <a:ext cx="1123950" cy="5715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010716"/>
                </a:solidFill>
                <a:latin typeface="Equip Extended Regular" pitchFamily="34" charset="0"/>
                <a:ea typeface="Equip Extended Regular" pitchFamily="34" charset="-122"/>
                <a:cs typeface="Equip Extended Regular" pitchFamily="34" charset="-120"/>
              </a:rPr>
              <a:t>APIs,</a:t>
            </a:r>
            <a:br>
              <a:rPr dirty="0"/>
            </a:br>
            <a:r>
              <a:rPr lang="en-US" sz="1200" dirty="0">
                <a:solidFill>
                  <a:srgbClr val="010716"/>
                </a:solidFill>
                <a:latin typeface="Equip Extended Regular" pitchFamily="34" charset="0"/>
                <a:ea typeface="Equip Extended Regular" pitchFamily="34" charset="-122"/>
                <a:cs typeface="Equip Extended Regular" pitchFamily="34" charset="-120"/>
              </a:rPr>
              <a:t>Microservices,</a:t>
            </a:r>
            <a:br>
              <a:rPr dirty="0"/>
            </a:br>
            <a:r>
              <a:rPr lang="en-US" sz="1200" dirty="0">
                <a:solidFill>
                  <a:srgbClr val="010716"/>
                </a:solidFill>
                <a:latin typeface="Equip Extended Regular" pitchFamily="34" charset="0"/>
                <a:ea typeface="Equip Extended Regular" pitchFamily="34" charset="-122"/>
                <a:cs typeface="Equip Extended Regular" pitchFamily="34" charset="-120"/>
              </a:rPr>
              <a:t>CMS</a:t>
            </a:r>
            <a:endParaRPr lang="en-US" sz="1200" dirty="0"/>
          </a:p>
        </p:txBody>
      </p:sp>
      <p:sp>
        <p:nvSpPr>
          <p:cNvPr id="16" name="WebComponents"/>
          <p:cNvSpPr/>
          <p:nvPr/>
        </p:nvSpPr>
        <p:spPr>
          <a:xfrm>
            <a:off x="13469727" y="5058190"/>
            <a:ext cx="1038225" cy="3810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010716"/>
                </a:solidFill>
                <a:latin typeface="Equip Extended Regular" pitchFamily="34" charset="0"/>
                <a:ea typeface="Equip Extended Regular" pitchFamily="34" charset="-122"/>
                <a:cs typeface="Equip Extended Regular" pitchFamily="34" charset="-120"/>
              </a:rPr>
              <a:t>Web</a:t>
            </a:r>
            <a:br/>
            <a:r>
              <a:rPr lang="en-US" sz="1200" dirty="0">
                <a:solidFill>
                  <a:srgbClr val="010716"/>
                </a:solidFill>
                <a:latin typeface="Equip Extended Regular" pitchFamily="34" charset="0"/>
                <a:ea typeface="Equip Extended Regular" pitchFamily="34" charset="-122"/>
                <a:cs typeface="Equip Extended Regular" pitchFamily="34" charset="-120"/>
              </a:rPr>
              <a:t>Components</a:t>
            </a:r>
            <a:endParaRPr lang="en-US" sz="1200" dirty="0"/>
          </a:p>
        </p:txBody>
      </p:sp>
      <p:sp>
        <p:nvSpPr>
          <p:cNvPr id="17" name="MobileComponents"/>
          <p:cNvSpPr/>
          <p:nvPr/>
        </p:nvSpPr>
        <p:spPr>
          <a:xfrm>
            <a:off x="13469727" y="6971799"/>
            <a:ext cx="1038225" cy="381000"/>
          </a:xfrm>
          <a:prstGeom prst="rect">
            <a:avLst/>
          </a:prstGeom>
          <a:noFill/>
          <a:ln/>
        </p:spPr>
        <p:txBody>
          <a:bodyPr wrap="square" lIns="0" tIns="0" rIns="0" bIns="0" rtlCol="0" anchor="t"/>
          <a:lstStyle/>
          <a:p>
            <a:pPr marL="0" indent="0" algn="ctr">
              <a:lnSpc>
                <a:spcPts val="1500"/>
              </a:lnSpc>
              <a:spcAft>
                <a:spcPts val="1500"/>
              </a:spcAft>
              <a:buNone/>
            </a:pPr>
            <a:r>
              <a:rPr lang="en-US" sz="1200" dirty="0">
                <a:solidFill>
                  <a:srgbClr val="010716"/>
                </a:solidFill>
                <a:latin typeface="Equip Extended Regular" pitchFamily="34" charset="0"/>
                <a:ea typeface="Equip Extended Regular" pitchFamily="34" charset="-122"/>
                <a:cs typeface="Equip Extended Regular" pitchFamily="34" charset="-120"/>
              </a:rPr>
              <a:t>Mobile</a:t>
            </a:r>
            <a:br/>
            <a:r>
              <a:rPr lang="en-US" sz="1200" dirty="0">
                <a:solidFill>
                  <a:srgbClr val="010716"/>
                </a:solidFill>
                <a:latin typeface="Equip Extended Regular" pitchFamily="34" charset="0"/>
                <a:ea typeface="Equip Extended Regular" pitchFamily="34" charset="-122"/>
                <a:cs typeface="Equip Extended Regular" pitchFamily="34" charset="-120"/>
              </a:rPr>
              <a:t>Components</a:t>
            </a:r>
            <a:endParaRPr lang="en-US" sz="1200" dirty="0"/>
          </a:p>
        </p:txBody>
      </p:sp>
      <p:sp>
        <p:nvSpPr>
          <p:cNvPr id="18" name="default_name"/>
          <p:cNvSpPr/>
          <p:nvPr/>
        </p:nvSpPr>
        <p:spPr>
          <a:xfrm>
            <a:off x="7448262" y="6097283"/>
            <a:ext cx="161925" cy="238092"/>
          </a:xfrm>
          <a:prstGeom prst="rect">
            <a:avLst/>
          </a:prstGeom>
          <a:noFill/>
          <a:ln/>
        </p:spPr>
        <p:txBody>
          <a:bodyPr wrap="square" lIns="0" tIns="0" rIns="0" bIns="0" rtlCol="0" anchor="t"/>
          <a:lstStyle/>
          <a:p>
            <a:pPr marL="0" indent="0" algn="ctr">
              <a:lnSpc>
                <a:spcPts val="1838"/>
              </a:lnSpc>
              <a:spcAft>
                <a:spcPts val="368"/>
              </a:spcAft>
              <a:buNone/>
            </a:pPr>
            <a:r>
              <a:rPr lang="en-US" sz="1470" dirty="0">
                <a:solidFill>
                  <a:srgbClr val="010716"/>
                </a:solidFill>
                <a:latin typeface="Equip Extended Black" pitchFamily="34" charset="0"/>
                <a:ea typeface="Equip Extended Black" pitchFamily="34" charset="-122"/>
                <a:cs typeface="Equip Extended Black" pitchFamily="34" charset="-120"/>
              </a:rPr>
              <a:t>+</a:t>
            </a:r>
            <a:endParaRPr lang="en-US" sz="1470" dirty="0"/>
          </a:p>
        </p:txBody>
      </p:sp>
      <p:sp>
        <p:nvSpPr>
          <p:cNvPr id="19" name="Design Layer"/>
          <p:cNvSpPr/>
          <p:nvPr/>
        </p:nvSpPr>
        <p:spPr>
          <a:xfrm>
            <a:off x="1339560" y="3505200"/>
            <a:ext cx="609600" cy="457136"/>
          </a:xfrm>
          <a:prstGeom prst="rect">
            <a:avLst/>
          </a:prstGeom>
          <a:noFill/>
          <a:ln/>
        </p:spPr>
        <p:txBody>
          <a:bodyPr wrap="square" lIns="0" tIns="0" rIns="0" bIns="0" rtlCol="0" anchor="t"/>
          <a:lstStyle/>
          <a:p>
            <a:pPr marL="0" indent="0" algn="ctr">
              <a:lnSpc>
                <a:spcPts val="1725"/>
              </a:lnSpc>
              <a:buNone/>
            </a:pPr>
            <a:r>
              <a:rPr lang="en-US" sz="1350" b="1" kern="0" spc="-75" dirty="0">
                <a:solidFill>
                  <a:srgbClr val="010716"/>
                </a:solidFill>
                <a:latin typeface="Equip Bold" pitchFamily="34" charset="0"/>
                <a:ea typeface="Equip Bold" pitchFamily="34" charset="-122"/>
                <a:cs typeface="Equip Bold" pitchFamily="34" charset="-120"/>
              </a:rPr>
              <a:t>Design 
Layer</a:t>
            </a:r>
            <a:endParaRPr lang="en-US" sz="1350" dirty="0"/>
          </a:p>
        </p:txBody>
      </p:sp>
      <p:sp>
        <p:nvSpPr>
          <p:cNvPr id="20" name="Token Trabsformation"/>
          <p:cNvSpPr/>
          <p:nvPr/>
        </p:nvSpPr>
        <p:spPr>
          <a:xfrm>
            <a:off x="3368385" y="3505200"/>
            <a:ext cx="1238251" cy="457136"/>
          </a:xfrm>
          <a:prstGeom prst="rect">
            <a:avLst/>
          </a:prstGeom>
          <a:noFill/>
          <a:ln/>
        </p:spPr>
        <p:txBody>
          <a:bodyPr wrap="square" lIns="0" tIns="0" rIns="0" bIns="0" rtlCol="0" anchor="t"/>
          <a:lstStyle/>
          <a:p>
            <a:pPr marL="0" indent="0" algn="ctr">
              <a:lnSpc>
                <a:spcPts val="1725"/>
              </a:lnSpc>
              <a:buNone/>
            </a:pPr>
            <a:r>
              <a:rPr lang="en-US" sz="1350" b="1" kern="0" spc="-75" dirty="0">
                <a:solidFill>
                  <a:srgbClr val="010716"/>
                </a:solidFill>
                <a:latin typeface="Equip Bold" pitchFamily="34" charset="0"/>
                <a:ea typeface="Equip Bold" pitchFamily="34" charset="-122"/>
                <a:cs typeface="Equip Bold" pitchFamily="34" charset="-120"/>
              </a:rPr>
              <a:t>Token
Trabsformation</a:t>
            </a:r>
            <a:endParaRPr lang="en-US" sz="1350" dirty="0"/>
          </a:p>
        </p:txBody>
      </p:sp>
      <p:sp>
        <p:nvSpPr>
          <p:cNvPr id="21" name="DS Repository"/>
          <p:cNvSpPr/>
          <p:nvPr/>
        </p:nvSpPr>
        <p:spPr>
          <a:xfrm>
            <a:off x="6955758" y="3676626"/>
            <a:ext cx="1152526" cy="228568"/>
          </a:xfrm>
          <a:prstGeom prst="rect">
            <a:avLst/>
          </a:prstGeom>
          <a:noFill/>
          <a:ln/>
        </p:spPr>
        <p:txBody>
          <a:bodyPr wrap="square" lIns="0" tIns="0" rIns="0" bIns="0" rtlCol="0" anchor="t"/>
          <a:lstStyle/>
          <a:p>
            <a:pPr marL="0" indent="0" algn="ctr">
              <a:lnSpc>
                <a:spcPts val="1725"/>
              </a:lnSpc>
              <a:buNone/>
            </a:pPr>
            <a:r>
              <a:rPr lang="en-US" sz="1350" b="1" kern="0" spc="-75" dirty="0">
                <a:solidFill>
                  <a:srgbClr val="010716"/>
                </a:solidFill>
                <a:latin typeface="Equip Bold" pitchFamily="34" charset="0"/>
                <a:ea typeface="Equip Bold" pitchFamily="34" charset="-122"/>
                <a:cs typeface="Equip Bold" pitchFamily="34" charset="-120"/>
              </a:rPr>
              <a:t>DS Repository</a:t>
            </a:r>
            <a:endParaRPr lang="en-US" sz="1350" dirty="0"/>
          </a:p>
        </p:txBody>
      </p:sp>
      <p:sp>
        <p:nvSpPr>
          <p:cNvPr id="22" name="Platform Specific Libraries"/>
          <p:cNvSpPr/>
          <p:nvPr/>
        </p:nvSpPr>
        <p:spPr>
          <a:xfrm>
            <a:off x="10802727" y="3505200"/>
            <a:ext cx="1371601" cy="457136"/>
          </a:xfrm>
          <a:prstGeom prst="rect">
            <a:avLst/>
          </a:prstGeom>
          <a:noFill/>
          <a:ln/>
        </p:spPr>
        <p:txBody>
          <a:bodyPr wrap="square" lIns="0" tIns="0" rIns="0" bIns="0" rtlCol="0" anchor="t"/>
          <a:lstStyle/>
          <a:p>
            <a:pPr marL="0" indent="0" algn="ctr">
              <a:lnSpc>
                <a:spcPts val="1725"/>
              </a:lnSpc>
              <a:buNone/>
            </a:pPr>
            <a:r>
              <a:rPr lang="en-US" sz="1350" b="1" kern="0" spc="-75" dirty="0">
                <a:solidFill>
                  <a:srgbClr val="010716"/>
                </a:solidFill>
                <a:latin typeface="Equip Bold" pitchFamily="34" charset="0"/>
                <a:ea typeface="Equip Bold" pitchFamily="34" charset="-122"/>
                <a:cs typeface="Equip Bold" pitchFamily="34" charset="-120"/>
              </a:rPr>
              <a:t>Platform Specific
Libraries</a:t>
            </a:r>
            <a:endParaRPr lang="en-US" sz="1350" dirty="0"/>
          </a:p>
        </p:txBody>
      </p:sp>
      <p:sp>
        <p:nvSpPr>
          <p:cNvPr id="23" name="Application Layer"/>
          <p:cNvSpPr/>
          <p:nvPr/>
        </p:nvSpPr>
        <p:spPr>
          <a:xfrm>
            <a:off x="13517352" y="3505200"/>
            <a:ext cx="933450" cy="457136"/>
          </a:xfrm>
          <a:prstGeom prst="rect">
            <a:avLst/>
          </a:prstGeom>
          <a:noFill/>
          <a:ln/>
        </p:spPr>
        <p:txBody>
          <a:bodyPr wrap="square" lIns="0" tIns="0" rIns="0" bIns="0" rtlCol="0" anchor="t"/>
          <a:lstStyle/>
          <a:p>
            <a:pPr marL="0" indent="0" algn="ctr">
              <a:lnSpc>
                <a:spcPts val="1725"/>
              </a:lnSpc>
              <a:buNone/>
            </a:pPr>
            <a:r>
              <a:rPr lang="en-US" sz="1350" b="1" kern="0" spc="-75" dirty="0">
                <a:solidFill>
                  <a:srgbClr val="010716"/>
                </a:solidFill>
                <a:latin typeface="Equip Bold" pitchFamily="34" charset="0"/>
                <a:ea typeface="Equip Bold" pitchFamily="34" charset="-122"/>
                <a:cs typeface="Equip Bold" pitchFamily="34" charset="-120"/>
              </a:rPr>
              <a:t>Application
Layer</a:t>
            </a:r>
            <a:endParaRPr lang="en-US" sz="1350" dirty="0"/>
          </a:p>
        </p:txBody>
      </p:sp>
      <p:sp>
        <p:nvSpPr>
          <p:cNvPr id="24" name="Existing Backend Platform"/>
          <p:cNvSpPr/>
          <p:nvPr/>
        </p:nvSpPr>
        <p:spPr>
          <a:xfrm>
            <a:off x="15805526" y="3505200"/>
            <a:ext cx="1400176" cy="457136"/>
          </a:xfrm>
          <a:prstGeom prst="rect">
            <a:avLst/>
          </a:prstGeom>
          <a:noFill/>
          <a:ln/>
        </p:spPr>
        <p:txBody>
          <a:bodyPr wrap="square" lIns="0" tIns="0" rIns="0" bIns="0" rtlCol="0" anchor="t"/>
          <a:lstStyle/>
          <a:p>
            <a:pPr marL="0" indent="0" algn="ctr">
              <a:lnSpc>
                <a:spcPts val="1725"/>
              </a:lnSpc>
              <a:buNone/>
            </a:pPr>
            <a:r>
              <a:rPr lang="en-US" sz="1350" b="1" kern="0" spc="-75" dirty="0">
                <a:solidFill>
                  <a:srgbClr val="010716"/>
                </a:solidFill>
                <a:latin typeface="Equip Bold" pitchFamily="34" charset="0"/>
                <a:ea typeface="Equip Bold" pitchFamily="34" charset="-122"/>
                <a:cs typeface="Equip Bold" pitchFamily="34" charset="-120"/>
              </a:rPr>
              <a:t>Existing Backend 
Platform</a:t>
            </a:r>
            <a:endParaRPr lang="en-US" sz="1350" dirty="0"/>
          </a:p>
        </p:txBody>
      </p:sp>
      <p:pic>
        <p:nvPicPr>
          <p:cNvPr id="25" name="Graphic 24">
            <a:extLst>
              <a:ext uri="{FF2B5EF4-FFF2-40B4-BE49-F238E27FC236}">
                <a16:creationId xmlns:a16="http://schemas.microsoft.com/office/drawing/2014/main" id="{14259FC9-546D-6772-3977-EDCDA08D13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2730" y="101077"/>
            <a:ext cx="2198820" cy="1649115"/>
          </a:xfrm>
          <a:prstGeom prst="rect">
            <a:avLst/>
          </a:prstGeom>
        </p:spPr>
      </p:pic>
      <p:cxnSp>
        <p:nvCxnSpPr>
          <p:cNvPr id="26" name="Straight Connector 25">
            <a:extLst>
              <a:ext uri="{FF2B5EF4-FFF2-40B4-BE49-F238E27FC236}">
                <a16:creationId xmlns:a16="http://schemas.microsoft.com/office/drawing/2014/main" id="{18D6C69E-18EE-5E22-1DFC-29D7C08B10F6}"/>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C597BA7-2374-6963-28A4-B73E1A10C0EC}"/>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1DF9C33-6414-1C71-4EC7-B9832D9908F6}"/>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608</Words>
  <Application>Microsoft Macintosh PowerPoint</Application>
  <PresentationFormat>Custom</PresentationFormat>
  <Paragraphs>130</Paragraphs>
  <Slides>5</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Equip Extended Medium</vt:lpstr>
      <vt:lpstr>Equip Bold</vt:lpstr>
      <vt:lpstr>Arial</vt:lpstr>
      <vt:lpstr>Equip Extended Black</vt:lpstr>
      <vt:lpstr>Equip Extended Regular</vt:lpstr>
      <vt:lpstr>Equip Regular</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Carolina Baptista</cp:lastModifiedBy>
  <cp:revision>8</cp:revision>
  <dcterms:created xsi:type="dcterms:W3CDTF">2026-05-27T18:03:55Z</dcterms:created>
  <dcterms:modified xsi:type="dcterms:W3CDTF">2026-06-02T12:08:58Z</dcterms:modified>
</cp:coreProperties>
</file>