
<file path=[Content_Types].xml><?xml version="1.0" encoding="utf-8"?>
<Types xmlns="http://schemas.openxmlformats.org/package/2006/content-types">
  <Default Extension="fntdata" ContentType="application/x-fontdata"/>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6"/>
  </p:notesMasterIdLst>
  <p:sldIdLst>
    <p:sldId id="256" r:id="rId2"/>
    <p:sldId id="257" r:id="rId3"/>
    <p:sldId id="258" r:id="rId4"/>
    <p:sldId id="259" r:id="rId5"/>
  </p:sldIdLst>
  <p:sldSz cx="18288000" cy="10287000"/>
  <p:notesSz cx="10287000" cy="18288000"/>
  <p:embeddedFontLst>
    <p:embeddedFont>
      <p:font typeface="Equip Extended Medium" panose="02000603000000020004" pitchFamily="2" charset="77"/>
      <p:regular r:id="rId7"/>
      <p:italic r:id="rId8"/>
    </p:embeddedFont>
    <p:embeddedFont>
      <p:font typeface="Equip Extended Regular" panose="02000503030000020004" pitchFamily="2" charset="77"/>
      <p:regular r:id="rId9"/>
      <p:bold r:id="rId10"/>
      <p:italic r:id="rId11"/>
      <p:boldItalic r:id="rId12"/>
    </p:embeddedFont>
    <p:embeddedFont>
      <p:font typeface="Equip Regular" panose="02000503030000020004" pitchFamily="2" charset="77"/>
      <p:regular r:id="rId13"/>
      <p:bold r:id="rId14"/>
      <p:italic r:id="rId15"/>
      <p:boldItalic r:id="rId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498" userDrawn="1">
          <p15:clr>
            <a:srgbClr val="A4A3A4"/>
          </p15:clr>
        </p15:guide>
        <p15:guide id="2" pos="1102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716"/>
    <a:srgbClr val="A4EBD5"/>
    <a:srgbClr val="2C807C"/>
    <a:srgbClr val="FDF4DD"/>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592"/>
    <p:restoredTop sz="94610"/>
  </p:normalViewPr>
  <p:slideViewPr>
    <p:cSldViewPr snapToGrid="0" snapToObjects="1">
      <p:cViewPr>
        <p:scale>
          <a:sx n="48" d="100"/>
          <a:sy n="48" d="100"/>
        </p:scale>
        <p:origin x="1960" y="1224"/>
      </p:cViewPr>
      <p:guideLst>
        <p:guide pos="498"/>
        <p:guide pos="11022"/>
        <p:guide orient="horz" pos="32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2.fntdata"/><Relationship Id="rId13" Type="http://schemas.openxmlformats.org/officeDocument/2006/relationships/font" Target="fonts/font7.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font" Target="fonts/font1.fntdata"/><Relationship Id="rId12" Type="http://schemas.openxmlformats.org/officeDocument/2006/relationships/font" Target="fonts/font6.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10.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font" Target="fonts/font9.fntdata"/><Relationship Id="rId10" Type="http://schemas.openxmlformats.org/officeDocument/2006/relationships/font" Target="fonts/font4.fntdata"/><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font" Target="fonts/font3.fntdata"/><Relationship Id="rId14" Type="http://schemas.openxmlformats.org/officeDocument/2006/relationships/font" Target="fonts/font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04119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exec-title"/>
          <p:cNvSpPr/>
          <p:nvPr/>
        </p:nvSpPr>
        <p:spPr>
          <a:xfrm>
            <a:off x="791775" y="1914525"/>
            <a:ext cx="7667625" cy="762000"/>
          </a:xfrm>
          <a:prstGeom prst="rect">
            <a:avLst/>
          </a:prstGeom>
          <a:noFill/>
          <a:ln/>
        </p:spPr>
        <p:txBody>
          <a:bodyPr wrap="square" lIns="0" tIns="0" rIns="0" bIns="0" rtlCol="0" anchor="t"/>
          <a:lstStyle/>
          <a:p>
            <a:pPr marL="0" indent="0" algn="l">
              <a:lnSpc>
                <a:spcPts val="6000"/>
              </a:lnSpc>
              <a:buNone/>
            </a:pPr>
            <a:r>
              <a:rPr lang="en-US" sz="6000" kern="0" spc="-112" dirty="0">
                <a:solidFill>
                  <a:srgbClr val="010716"/>
                </a:solidFill>
                <a:latin typeface="Equip Extended Medium" pitchFamily="34" charset="0"/>
                <a:ea typeface="Equip Extended Medium" pitchFamily="34" charset="-122"/>
                <a:cs typeface="Equip Extended Medium" pitchFamily="34" charset="-120"/>
              </a:rPr>
              <a:t>Executive Summary</a:t>
            </a:r>
            <a:endParaRPr lang="en-US" sz="6000" dirty="0"/>
          </a:p>
        </p:txBody>
      </p:sp>
      <p:sp>
        <p:nvSpPr>
          <p:cNvPr id="8" name="exec-intro"/>
          <p:cNvSpPr/>
          <p:nvPr/>
        </p:nvSpPr>
        <p:spPr>
          <a:xfrm>
            <a:off x="794625" y="5143500"/>
            <a:ext cx="11068050" cy="3838575"/>
          </a:xfrm>
          <a:prstGeom prst="rect">
            <a:avLst/>
          </a:prstGeom>
          <a:noFill/>
          <a:ln/>
        </p:spPr>
        <p:txBody>
          <a:bodyPr wrap="square" lIns="0" tIns="0" rIns="0" bIns="0" rtlCol="0" anchor="b"/>
          <a:lstStyle/>
          <a:p>
            <a:pPr marL="0" indent="0" algn="l">
              <a:lnSpc>
                <a:spcPts val="2250"/>
              </a:lnSpc>
              <a:buNone/>
            </a:pPr>
            <a:r>
              <a:rPr lang="en-US" sz="1800" kern="0" spc="-75" dirty="0">
                <a:solidFill>
                  <a:srgbClr val="010716"/>
                </a:solidFill>
                <a:latin typeface="Equip Regular" pitchFamily="34" charset="0"/>
                <a:ea typeface="Equip Regular" pitchFamily="34" charset="-122"/>
                <a:cs typeface="Equip Regular" pitchFamily="34" charset="-120"/>
              </a:rPr>
              <a:t>AJIO NEXT is not a conventional redesign. It is a strategic re-foundation of AJIO’s multi-store commerce ecosystem across platforms. AJIO needs an experience system that preserves what already works, improves what no longer scales, and introduces new structures where future growth requires them. The challenge is not only to improve the interface, but to create a scalable operating model for experience, one that can support AJIO, LUXE, AJIOGRAM, RUSH, store-in-store, brand pages, category structures, campaigns, and future propositions without repeated redesign or growing fragmentation.
We must address AJIO’s layered ecosystem with a system that keeps shared interactions consistent while allowing storefronts and propositions to remain meaningfully distinct. This means redesigning for long-term scalability, governing variation across multiple storefronts, industrializing the design system from the ground up, and validating decisions before build. The outcome should be clearer journeys, lower friction, stronger differentiation without fragmentation, a reusable design system connected to code, and a faster, more controlled way to launch future stores, campaigns, and features.</a:t>
            </a:r>
            <a:endParaRPr lang="en-US" sz="1800" dirty="0"/>
          </a:p>
        </p:txBody>
      </p:sp>
      <p:sp>
        <p:nvSpPr>
          <p:cNvPr id="9" name="Digital Design Strategy">
            <a:extLst>
              <a:ext uri="{FF2B5EF4-FFF2-40B4-BE49-F238E27FC236}">
                <a16:creationId xmlns:a16="http://schemas.microsoft.com/office/drawing/2014/main" id="{F6CD6CBE-2C87-C28B-6D83-F72729EB89C4}"/>
              </a:ext>
            </a:extLst>
          </p:cNvPr>
          <p:cNvSpPr/>
          <p:nvPr/>
        </p:nvSpPr>
        <p:spPr>
          <a:xfrm>
            <a:off x="800100" y="9486900"/>
            <a:ext cx="17907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Digital Design Strategy</a:t>
            </a:r>
            <a:endParaRPr lang="en-US" sz="1200" dirty="0">
              <a:solidFill>
                <a:schemeClr val="bg1">
                  <a:lumMod val="75000"/>
                </a:schemeClr>
              </a:solidFill>
            </a:endParaRPr>
          </a:p>
        </p:txBody>
      </p:sp>
      <p:sp>
        <p:nvSpPr>
          <p:cNvPr id="10" name="Project Name">
            <a:extLst>
              <a:ext uri="{FF2B5EF4-FFF2-40B4-BE49-F238E27FC236}">
                <a16:creationId xmlns:a16="http://schemas.microsoft.com/office/drawing/2014/main" id="{182C0F42-FE2E-8D66-F1B8-FDEEDAF0E6D5}"/>
              </a:ext>
            </a:extLst>
          </p:cNvPr>
          <p:cNvSpPr/>
          <p:nvPr/>
        </p:nvSpPr>
        <p:spPr>
          <a:xfrm>
            <a:off x="6438900" y="9486900"/>
            <a:ext cx="1076325"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Project Name</a:t>
            </a:r>
            <a:endParaRPr lang="en-US" sz="1200" dirty="0">
              <a:solidFill>
                <a:schemeClr val="bg1">
                  <a:lumMod val="75000"/>
                </a:schemeClr>
              </a:solidFill>
            </a:endParaRPr>
          </a:p>
        </p:txBody>
      </p:sp>
      <p:sp>
        <p:nvSpPr>
          <p:cNvPr id="11" name="Month Year">
            <a:extLst>
              <a:ext uri="{FF2B5EF4-FFF2-40B4-BE49-F238E27FC236}">
                <a16:creationId xmlns:a16="http://schemas.microsoft.com/office/drawing/2014/main" id="{145945EA-210D-306E-5D3A-F35E772F4CD3}"/>
              </a:ext>
            </a:extLst>
          </p:cNvPr>
          <p:cNvSpPr/>
          <p:nvPr/>
        </p:nvSpPr>
        <p:spPr>
          <a:xfrm>
            <a:off x="12077700" y="9486900"/>
            <a:ext cx="9144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Month Year</a:t>
            </a:r>
            <a:endParaRPr lang="en-US" sz="1200" dirty="0">
              <a:solidFill>
                <a:schemeClr val="bg1">
                  <a:lumMod val="75000"/>
                </a:schemeClr>
              </a:solidFill>
            </a:endParaRPr>
          </a:p>
        </p:txBody>
      </p:sp>
      <p:sp>
        <p:nvSpPr>
          <p:cNvPr id="12" name="2026">
            <a:extLst>
              <a:ext uri="{FF2B5EF4-FFF2-40B4-BE49-F238E27FC236}">
                <a16:creationId xmlns:a16="http://schemas.microsoft.com/office/drawing/2014/main" id="{036BE0C6-4FBE-AB68-C5A2-90859AAD2B98}"/>
              </a:ext>
            </a:extLst>
          </p:cNvPr>
          <p:cNvSpPr/>
          <p:nvPr/>
        </p:nvSpPr>
        <p:spPr>
          <a:xfrm>
            <a:off x="16925925" y="9486900"/>
            <a:ext cx="59055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 2026</a:t>
            </a:r>
            <a:endParaRPr lang="en-US" sz="1200" dirty="0">
              <a:solidFill>
                <a:schemeClr val="bg1">
                  <a:lumMod val="75000"/>
                </a:schemeClr>
              </a:solidFill>
            </a:endParaRPr>
          </a:p>
        </p:txBody>
      </p:sp>
      <p:pic>
        <p:nvPicPr>
          <p:cNvPr id="4" name="Graphic 3">
            <a:extLst>
              <a:ext uri="{FF2B5EF4-FFF2-40B4-BE49-F238E27FC236}">
                <a16:creationId xmlns:a16="http://schemas.microsoft.com/office/drawing/2014/main" id="{BB2D7B1D-F9A0-937B-7AE4-074D1E1FB51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92730" y="101077"/>
            <a:ext cx="2198820" cy="1649115"/>
          </a:xfrm>
          <a:prstGeom prst="rect">
            <a:avLst/>
          </a:prstGeom>
        </p:spPr>
      </p:pic>
      <p:cxnSp>
        <p:nvCxnSpPr>
          <p:cNvPr id="5" name="Straight Connector 4">
            <a:extLst>
              <a:ext uri="{FF2B5EF4-FFF2-40B4-BE49-F238E27FC236}">
                <a16:creationId xmlns:a16="http://schemas.microsoft.com/office/drawing/2014/main" id="{CD987C35-AE20-5EF6-8FC2-E33E43022028}"/>
              </a:ext>
            </a:extLst>
          </p:cNvPr>
          <p:cNvCxnSpPr>
            <a:cxnSpLocks/>
          </p:cNvCxnSpPr>
          <p:nvPr/>
        </p:nvCxnSpPr>
        <p:spPr>
          <a:xfrm>
            <a:off x="8000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3FFB4478-2D59-C925-F5E3-9AA91B7E089C}"/>
              </a:ext>
            </a:extLst>
          </p:cNvPr>
          <p:cNvCxnSpPr>
            <a:cxnSpLocks/>
          </p:cNvCxnSpPr>
          <p:nvPr/>
        </p:nvCxnSpPr>
        <p:spPr>
          <a:xfrm>
            <a:off x="120776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B2D5D60-5D1D-B97E-7310-10DAAFAA9C5D}"/>
              </a:ext>
            </a:extLst>
          </p:cNvPr>
          <p:cNvCxnSpPr>
            <a:cxnSpLocks/>
          </p:cNvCxnSpPr>
          <p:nvPr/>
        </p:nvCxnSpPr>
        <p:spPr>
          <a:xfrm>
            <a:off x="64388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exec-title"/>
          <p:cNvSpPr/>
          <p:nvPr/>
        </p:nvSpPr>
        <p:spPr>
          <a:xfrm>
            <a:off x="794625" y="3676650"/>
            <a:ext cx="11068050" cy="762000"/>
          </a:xfrm>
          <a:prstGeom prst="rect">
            <a:avLst/>
          </a:prstGeom>
          <a:noFill/>
          <a:ln/>
        </p:spPr>
        <p:txBody>
          <a:bodyPr wrap="square" lIns="0" tIns="0" rIns="0" bIns="0" rtlCol="0" anchor="t"/>
          <a:lstStyle/>
          <a:p>
            <a:pPr marL="0" indent="0" algn="l">
              <a:lnSpc>
                <a:spcPts val="6000"/>
              </a:lnSpc>
              <a:buNone/>
            </a:pPr>
            <a:r>
              <a:rPr lang="en-US" sz="4800" kern="0" spc="-112" dirty="0">
                <a:solidFill>
                  <a:srgbClr val="010716"/>
                </a:solidFill>
                <a:latin typeface="Equip Extended Regular" pitchFamily="34" charset="0"/>
                <a:ea typeface="Equip Extended Regular" pitchFamily="34" charset="-122"/>
                <a:cs typeface="Equip Extended Regular" pitchFamily="34" charset="-120"/>
              </a:rPr>
              <a:t>Executive Summary</a:t>
            </a:r>
            <a:endParaRPr lang="en-US" sz="4800" dirty="0"/>
          </a:p>
        </p:txBody>
      </p:sp>
      <p:sp>
        <p:nvSpPr>
          <p:cNvPr id="8" name="exec-body-1"/>
          <p:cNvSpPr/>
          <p:nvPr/>
        </p:nvSpPr>
        <p:spPr>
          <a:xfrm>
            <a:off x="794625" y="4743450"/>
            <a:ext cx="11068050" cy="3838575"/>
          </a:xfrm>
          <a:prstGeom prst="rect">
            <a:avLst/>
          </a:prstGeom>
          <a:noFill/>
          <a:ln/>
        </p:spPr>
        <p:txBody>
          <a:bodyPr wrap="square" lIns="0" tIns="0" rIns="0" bIns="0" rtlCol="0" anchor="t"/>
          <a:lstStyle/>
          <a:p>
            <a:pPr marL="0" indent="0" algn="l">
              <a:lnSpc>
                <a:spcPts val="2250"/>
              </a:lnSpc>
              <a:buNone/>
            </a:pPr>
            <a:r>
              <a:rPr lang="en-US" sz="1800" kern="0" spc="-75" dirty="0">
                <a:solidFill>
                  <a:srgbClr val="010716"/>
                </a:solidFill>
                <a:latin typeface="Equip Regular" pitchFamily="34" charset="0"/>
                <a:ea typeface="Equip Regular" pitchFamily="34" charset="-122"/>
                <a:cs typeface="Equip Regular" pitchFamily="34" charset="-120"/>
              </a:rPr>
              <a:t>AJIO NEXT is not a conventional redesign. It is a strategic re-foundation of AJIO’s multi-store commerce ecosystem across platforms. AJIO needs an experience system that preserves what already works, improves what no longer scales, and introduces new structures where future growth requires them. The challenge is not only to improve the interface, but to create a scalable operating model for experience, one that can support AJIO, LUXE, AJIOGRAM, RUSH, store-in-store, brand pages, category structures, campaigns, and future propositions without repeated redesign or growing fragmentation.
We must address AJIO’s layered ecosystem with a system that keeps shared interactions consistent while allowing storefronts and propositions to remain meaningfully distinct. This means redesigning for long-term scalability, governing variation across multiple storefronts, industrializing the design system from the ground up, and validating decisions before build. The outcome should be clearer journeys, lower friction, stronger differentiation without fragmentation, a reusable design system connected to code, and a faster, more controlled way to launch future stores, campaigns, and features.</a:t>
            </a:r>
            <a:endParaRPr lang="en-US" sz="1800" dirty="0"/>
          </a:p>
        </p:txBody>
      </p:sp>
      <p:sp>
        <p:nvSpPr>
          <p:cNvPr id="9" name="Digital Design Strategy">
            <a:extLst>
              <a:ext uri="{FF2B5EF4-FFF2-40B4-BE49-F238E27FC236}">
                <a16:creationId xmlns:a16="http://schemas.microsoft.com/office/drawing/2014/main" id="{184EF635-52C1-9B39-9D1F-858AB1F93D22}"/>
              </a:ext>
            </a:extLst>
          </p:cNvPr>
          <p:cNvSpPr/>
          <p:nvPr/>
        </p:nvSpPr>
        <p:spPr>
          <a:xfrm>
            <a:off x="800100" y="9486900"/>
            <a:ext cx="17907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Digital Design Strategy</a:t>
            </a:r>
            <a:endParaRPr lang="en-US" sz="1200" dirty="0">
              <a:solidFill>
                <a:schemeClr val="bg1">
                  <a:lumMod val="75000"/>
                </a:schemeClr>
              </a:solidFill>
            </a:endParaRPr>
          </a:p>
        </p:txBody>
      </p:sp>
      <p:sp>
        <p:nvSpPr>
          <p:cNvPr id="10" name="Project Name">
            <a:extLst>
              <a:ext uri="{FF2B5EF4-FFF2-40B4-BE49-F238E27FC236}">
                <a16:creationId xmlns:a16="http://schemas.microsoft.com/office/drawing/2014/main" id="{41B3DBF0-95BA-76E5-750A-C5BF9C88A13A}"/>
              </a:ext>
            </a:extLst>
          </p:cNvPr>
          <p:cNvSpPr/>
          <p:nvPr/>
        </p:nvSpPr>
        <p:spPr>
          <a:xfrm>
            <a:off x="6438900" y="9486900"/>
            <a:ext cx="1076325"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Project Name</a:t>
            </a:r>
            <a:endParaRPr lang="en-US" sz="1200" dirty="0">
              <a:solidFill>
                <a:schemeClr val="bg1">
                  <a:lumMod val="75000"/>
                </a:schemeClr>
              </a:solidFill>
            </a:endParaRPr>
          </a:p>
        </p:txBody>
      </p:sp>
      <p:sp>
        <p:nvSpPr>
          <p:cNvPr id="11" name="Month Year">
            <a:extLst>
              <a:ext uri="{FF2B5EF4-FFF2-40B4-BE49-F238E27FC236}">
                <a16:creationId xmlns:a16="http://schemas.microsoft.com/office/drawing/2014/main" id="{0D97B454-3BF7-FB2F-5EB3-16794F91154A}"/>
              </a:ext>
            </a:extLst>
          </p:cNvPr>
          <p:cNvSpPr/>
          <p:nvPr/>
        </p:nvSpPr>
        <p:spPr>
          <a:xfrm>
            <a:off x="12077700" y="9486900"/>
            <a:ext cx="9144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Month Year</a:t>
            </a:r>
            <a:endParaRPr lang="en-US" sz="1200" dirty="0">
              <a:solidFill>
                <a:schemeClr val="bg1">
                  <a:lumMod val="75000"/>
                </a:schemeClr>
              </a:solidFill>
            </a:endParaRPr>
          </a:p>
        </p:txBody>
      </p:sp>
      <p:sp>
        <p:nvSpPr>
          <p:cNvPr id="12" name="2026">
            <a:extLst>
              <a:ext uri="{FF2B5EF4-FFF2-40B4-BE49-F238E27FC236}">
                <a16:creationId xmlns:a16="http://schemas.microsoft.com/office/drawing/2014/main" id="{DA22A1A3-1CAD-2A60-F0EE-2E78FED4EB90}"/>
              </a:ext>
            </a:extLst>
          </p:cNvPr>
          <p:cNvSpPr/>
          <p:nvPr/>
        </p:nvSpPr>
        <p:spPr>
          <a:xfrm>
            <a:off x="16925925" y="9486900"/>
            <a:ext cx="59055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 2026</a:t>
            </a:r>
            <a:endParaRPr lang="en-US" sz="1200" dirty="0">
              <a:solidFill>
                <a:schemeClr val="bg1">
                  <a:lumMod val="75000"/>
                </a:schemeClr>
              </a:solidFill>
            </a:endParaRPr>
          </a:p>
        </p:txBody>
      </p:sp>
      <p:pic>
        <p:nvPicPr>
          <p:cNvPr id="2" name="Graphic 1">
            <a:extLst>
              <a:ext uri="{FF2B5EF4-FFF2-40B4-BE49-F238E27FC236}">
                <a16:creationId xmlns:a16="http://schemas.microsoft.com/office/drawing/2014/main" id="{36358F32-0629-5F76-47EC-696C90D1D04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92730" y="101077"/>
            <a:ext cx="2198820" cy="1649115"/>
          </a:xfrm>
          <a:prstGeom prst="rect">
            <a:avLst/>
          </a:prstGeom>
        </p:spPr>
      </p:pic>
      <p:cxnSp>
        <p:nvCxnSpPr>
          <p:cNvPr id="3" name="Straight Connector 2">
            <a:extLst>
              <a:ext uri="{FF2B5EF4-FFF2-40B4-BE49-F238E27FC236}">
                <a16:creationId xmlns:a16="http://schemas.microsoft.com/office/drawing/2014/main" id="{EB3E5D33-FD45-4960-E4F4-1B4C0C618854}"/>
              </a:ext>
            </a:extLst>
          </p:cNvPr>
          <p:cNvCxnSpPr>
            <a:cxnSpLocks/>
          </p:cNvCxnSpPr>
          <p:nvPr/>
        </p:nvCxnSpPr>
        <p:spPr>
          <a:xfrm>
            <a:off x="8000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CBA7291B-1F47-BB81-0F1D-2A3CBDE3E28E}"/>
              </a:ext>
            </a:extLst>
          </p:cNvPr>
          <p:cNvCxnSpPr>
            <a:cxnSpLocks/>
          </p:cNvCxnSpPr>
          <p:nvPr/>
        </p:nvCxnSpPr>
        <p:spPr>
          <a:xfrm>
            <a:off x="120776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C11D42E4-2587-EF12-CCB3-BF36B564ECF2}"/>
              </a:ext>
            </a:extLst>
          </p:cNvPr>
          <p:cNvCxnSpPr>
            <a:cxnSpLocks/>
          </p:cNvCxnSpPr>
          <p:nvPr/>
        </p:nvCxnSpPr>
        <p:spPr>
          <a:xfrm>
            <a:off x="64388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exec-title"/>
          <p:cNvSpPr/>
          <p:nvPr/>
        </p:nvSpPr>
        <p:spPr>
          <a:xfrm>
            <a:off x="794625" y="3371850"/>
            <a:ext cx="5429250" cy="1524000"/>
          </a:xfrm>
          <a:prstGeom prst="rect">
            <a:avLst/>
          </a:prstGeom>
          <a:noFill/>
          <a:ln/>
        </p:spPr>
        <p:txBody>
          <a:bodyPr wrap="square" lIns="0" tIns="0" rIns="0" bIns="0" rtlCol="0" anchor="t"/>
          <a:lstStyle/>
          <a:p>
            <a:pPr marL="0" indent="0" algn="l">
              <a:lnSpc>
                <a:spcPts val="6000"/>
              </a:lnSpc>
              <a:buNone/>
            </a:pPr>
            <a:r>
              <a:rPr lang="en-US" sz="4800" kern="0" spc="-112" dirty="0">
                <a:solidFill>
                  <a:srgbClr val="010716"/>
                </a:solidFill>
                <a:latin typeface="Equip Extended Regular" pitchFamily="34" charset="0"/>
                <a:ea typeface="Equip Extended Regular" pitchFamily="34" charset="-122"/>
                <a:cs typeface="Equip Extended Regular" pitchFamily="34" charset="-120"/>
              </a:rPr>
              <a:t>Executive Summary</a:t>
            </a:r>
            <a:endParaRPr lang="en-US" sz="4800" dirty="0"/>
          </a:p>
        </p:txBody>
      </p:sp>
      <p:sp>
        <p:nvSpPr>
          <p:cNvPr id="8" name="exec-body-1"/>
          <p:cNvSpPr/>
          <p:nvPr/>
        </p:nvSpPr>
        <p:spPr>
          <a:xfrm>
            <a:off x="6457950" y="3371850"/>
            <a:ext cx="5429250" cy="3838575"/>
          </a:xfrm>
          <a:prstGeom prst="rect">
            <a:avLst/>
          </a:prstGeom>
          <a:noFill/>
          <a:ln/>
        </p:spPr>
        <p:txBody>
          <a:bodyPr wrap="square" lIns="0" tIns="0" rIns="0" bIns="0" rtlCol="0" anchor="t"/>
          <a:lstStyle/>
          <a:p>
            <a:pPr marL="0" indent="0" algn="l">
              <a:lnSpc>
                <a:spcPts val="2250"/>
              </a:lnSpc>
              <a:buNone/>
            </a:pPr>
            <a:r>
              <a:rPr lang="en-US" sz="1800" kern="0" spc="-75" dirty="0">
                <a:solidFill>
                  <a:srgbClr val="010716"/>
                </a:solidFill>
                <a:latin typeface="Equip Regular" pitchFamily="34" charset="0"/>
                <a:ea typeface="Equip Regular" pitchFamily="34" charset="-122"/>
                <a:cs typeface="Equip Regular" pitchFamily="34" charset="-120"/>
              </a:rPr>
              <a:t>AJIO NEXT is not a conventional redesign. It is a strategic re-foundation of AJIO’s multi-store commerce ecosystem across platforms. AJIO needs an experience system that preserves what already works, improves what no longer scales, and introduces new structures where future growth requires them. The challenge is not only to improve the interface, but to create a scalable operating model for experience, one that can support AJIO, LUXE, AJIOGRAM, RUSH, store-in-store, brand pages, category structures, campaigns, and future propositions without repeated redesign or growing fragmentation.</a:t>
            </a:r>
            <a:endParaRPr lang="en-US" sz="1800" dirty="0"/>
          </a:p>
        </p:txBody>
      </p:sp>
      <p:sp>
        <p:nvSpPr>
          <p:cNvPr id="9" name="exec-body-2"/>
          <p:cNvSpPr/>
          <p:nvPr/>
        </p:nvSpPr>
        <p:spPr>
          <a:xfrm>
            <a:off x="12115800" y="3371850"/>
            <a:ext cx="5429250" cy="3543300"/>
          </a:xfrm>
          <a:prstGeom prst="rect">
            <a:avLst/>
          </a:prstGeom>
          <a:noFill/>
          <a:ln/>
        </p:spPr>
        <p:txBody>
          <a:bodyPr wrap="square" lIns="0" tIns="0" rIns="0" bIns="0" rtlCol="0" anchor="t"/>
          <a:lstStyle/>
          <a:p>
            <a:pPr marL="0" indent="0" algn="l">
              <a:lnSpc>
                <a:spcPts val="2250"/>
              </a:lnSpc>
              <a:buNone/>
            </a:pPr>
            <a:r>
              <a:rPr lang="en-US" sz="1800" kern="0" spc="-75" dirty="0">
                <a:solidFill>
                  <a:srgbClr val="010716"/>
                </a:solidFill>
                <a:latin typeface="Equip Regular" pitchFamily="34" charset="0"/>
                <a:ea typeface="Equip Regular" pitchFamily="34" charset="-122"/>
                <a:cs typeface="Equip Regular" pitchFamily="34" charset="-120"/>
              </a:rPr>
              <a:t>We must address AJIO’s layered ecosystem with a system that keeps shared interactions consistent while allowing storefronts and propositions to remain meaningfully distinct. This means redesigning for long-term scalability, governing variation across multiple storefronts, industrializing the design system from the ground up, and validating decisions before build. The outcome should be clearer journeys, lower friction, stronger differentiation without fragmentation, a reusable design system connected to code, and a faster, more controlled way to launch future stores, campaigns, and features.</a:t>
            </a:r>
            <a:endParaRPr lang="en-US" sz="1800" dirty="0"/>
          </a:p>
        </p:txBody>
      </p:sp>
      <p:sp>
        <p:nvSpPr>
          <p:cNvPr id="10" name="Digital Design Strategy">
            <a:extLst>
              <a:ext uri="{FF2B5EF4-FFF2-40B4-BE49-F238E27FC236}">
                <a16:creationId xmlns:a16="http://schemas.microsoft.com/office/drawing/2014/main" id="{22B0F86D-8070-670F-2FAB-C2D80B94C7EE}"/>
              </a:ext>
            </a:extLst>
          </p:cNvPr>
          <p:cNvSpPr/>
          <p:nvPr/>
        </p:nvSpPr>
        <p:spPr>
          <a:xfrm>
            <a:off x="800100" y="9486900"/>
            <a:ext cx="17907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Digital Design Strategy</a:t>
            </a:r>
            <a:endParaRPr lang="en-US" sz="1200" dirty="0">
              <a:solidFill>
                <a:schemeClr val="bg1">
                  <a:lumMod val="75000"/>
                </a:schemeClr>
              </a:solidFill>
            </a:endParaRPr>
          </a:p>
        </p:txBody>
      </p:sp>
      <p:sp>
        <p:nvSpPr>
          <p:cNvPr id="11" name="Project Name">
            <a:extLst>
              <a:ext uri="{FF2B5EF4-FFF2-40B4-BE49-F238E27FC236}">
                <a16:creationId xmlns:a16="http://schemas.microsoft.com/office/drawing/2014/main" id="{0856E3FE-AE83-F67F-F0EF-C6080E52E287}"/>
              </a:ext>
            </a:extLst>
          </p:cNvPr>
          <p:cNvSpPr/>
          <p:nvPr/>
        </p:nvSpPr>
        <p:spPr>
          <a:xfrm>
            <a:off x="6438900" y="9486900"/>
            <a:ext cx="1076325"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Project Name</a:t>
            </a:r>
            <a:endParaRPr lang="en-US" sz="1200" dirty="0">
              <a:solidFill>
                <a:schemeClr val="bg1">
                  <a:lumMod val="75000"/>
                </a:schemeClr>
              </a:solidFill>
            </a:endParaRPr>
          </a:p>
        </p:txBody>
      </p:sp>
      <p:sp>
        <p:nvSpPr>
          <p:cNvPr id="12" name="Month Year">
            <a:extLst>
              <a:ext uri="{FF2B5EF4-FFF2-40B4-BE49-F238E27FC236}">
                <a16:creationId xmlns:a16="http://schemas.microsoft.com/office/drawing/2014/main" id="{4A3C1DBB-1C06-E412-31E8-CC81001C1C69}"/>
              </a:ext>
            </a:extLst>
          </p:cNvPr>
          <p:cNvSpPr/>
          <p:nvPr/>
        </p:nvSpPr>
        <p:spPr>
          <a:xfrm>
            <a:off x="12077700" y="9486900"/>
            <a:ext cx="9144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Month Year</a:t>
            </a:r>
            <a:endParaRPr lang="en-US" sz="1200" dirty="0">
              <a:solidFill>
                <a:schemeClr val="bg1">
                  <a:lumMod val="75000"/>
                </a:schemeClr>
              </a:solidFill>
            </a:endParaRPr>
          </a:p>
        </p:txBody>
      </p:sp>
      <p:sp>
        <p:nvSpPr>
          <p:cNvPr id="13" name="2026">
            <a:extLst>
              <a:ext uri="{FF2B5EF4-FFF2-40B4-BE49-F238E27FC236}">
                <a16:creationId xmlns:a16="http://schemas.microsoft.com/office/drawing/2014/main" id="{BE008463-FCBB-571B-E3F3-E6F4E47B5187}"/>
              </a:ext>
            </a:extLst>
          </p:cNvPr>
          <p:cNvSpPr/>
          <p:nvPr/>
        </p:nvSpPr>
        <p:spPr>
          <a:xfrm>
            <a:off x="16925925" y="9486900"/>
            <a:ext cx="59055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 2026</a:t>
            </a:r>
            <a:endParaRPr lang="en-US" sz="1200" dirty="0">
              <a:solidFill>
                <a:schemeClr val="bg1">
                  <a:lumMod val="75000"/>
                </a:schemeClr>
              </a:solidFill>
            </a:endParaRPr>
          </a:p>
        </p:txBody>
      </p:sp>
      <p:pic>
        <p:nvPicPr>
          <p:cNvPr id="2" name="Graphic 1">
            <a:extLst>
              <a:ext uri="{FF2B5EF4-FFF2-40B4-BE49-F238E27FC236}">
                <a16:creationId xmlns:a16="http://schemas.microsoft.com/office/drawing/2014/main" id="{887F3FC7-4629-A945-8DED-92A4080FA5E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92730" y="101077"/>
            <a:ext cx="2198820" cy="1649115"/>
          </a:xfrm>
          <a:prstGeom prst="rect">
            <a:avLst/>
          </a:prstGeom>
        </p:spPr>
      </p:pic>
      <p:cxnSp>
        <p:nvCxnSpPr>
          <p:cNvPr id="3" name="Straight Connector 2">
            <a:extLst>
              <a:ext uri="{FF2B5EF4-FFF2-40B4-BE49-F238E27FC236}">
                <a16:creationId xmlns:a16="http://schemas.microsoft.com/office/drawing/2014/main" id="{768BCAFE-B54C-7030-7F50-F667BD914A59}"/>
              </a:ext>
            </a:extLst>
          </p:cNvPr>
          <p:cNvCxnSpPr>
            <a:cxnSpLocks/>
          </p:cNvCxnSpPr>
          <p:nvPr/>
        </p:nvCxnSpPr>
        <p:spPr>
          <a:xfrm>
            <a:off x="8000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04B5E72C-9363-EE9C-C177-BCAFCF2BF234}"/>
              </a:ext>
            </a:extLst>
          </p:cNvPr>
          <p:cNvCxnSpPr>
            <a:cxnSpLocks/>
          </p:cNvCxnSpPr>
          <p:nvPr/>
        </p:nvCxnSpPr>
        <p:spPr>
          <a:xfrm>
            <a:off x="120776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128E7DF2-50E2-6100-4D8F-DB2D96AD11DD}"/>
              </a:ext>
            </a:extLst>
          </p:cNvPr>
          <p:cNvCxnSpPr>
            <a:cxnSpLocks/>
          </p:cNvCxnSpPr>
          <p:nvPr/>
        </p:nvCxnSpPr>
        <p:spPr>
          <a:xfrm>
            <a:off x="64388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exec-title"/>
          <p:cNvSpPr/>
          <p:nvPr/>
        </p:nvSpPr>
        <p:spPr>
          <a:xfrm>
            <a:off x="794625" y="3286125"/>
            <a:ext cx="16697325" cy="762000"/>
          </a:xfrm>
          <a:prstGeom prst="rect">
            <a:avLst/>
          </a:prstGeom>
          <a:noFill/>
          <a:ln/>
        </p:spPr>
        <p:txBody>
          <a:bodyPr wrap="square" lIns="0" tIns="0" rIns="0" bIns="0" rtlCol="0" anchor="t"/>
          <a:lstStyle/>
          <a:p>
            <a:pPr marL="0" indent="0" algn="l">
              <a:lnSpc>
                <a:spcPts val="6000"/>
              </a:lnSpc>
              <a:buNone/>
            </a:pPr>
            <a:r>
              <a:rPr lang="en-US" sz="4800" kern="0" spc="-112" dirty="0">
                <a:solidFill>
                  <a:srgbClr val="010716"/>
                </a:solidFill>
                <a:latin typeface="Equip Extended Regular" pitchFamily="34" charset="0"/>
                <a:ea typeface="Equip Extended Regular" pitchFamily="34" charset="-122"/>
                <a:cs typeface="Equip Extended Regular" pitchFamily="34" charset="-120"/>
              </a:rPr>
              <a:t>Executive Summary</a:t>
            </a:r>
            <a:endParaRPr lang="en-US" sz="4800" dirty="0"/>
          </a:p>
        </p:txBody>
      </p:sp>
      <p:sp>
        <p:nvSpPr>
          <p:cNvPr id="8" name="exec-body-1"/>
          <p:cNvSpPr/>
          <p:nvPr/>
        </p:nvSpPr>
        <p:spPr>
          <a:xfrm>
            <a:off x="794625" y="4352925"/>
            <a:ext cx="5378450" cy="2657475"/>
          </a:xfrm>
          <a:prstGeom prst="rect">
            <a:avLst/>
          </a:prstGeom>
          <a:noFill/>
          <a:ln/>
        </p:spPr>
        <p:txBody>
          <a:bodyPr wrap="square" lIns="0" tIns="0" rIns="0" bIns="0" rtlCol="0" anchor="t"/>
          <a:lstStyle/>
          <a:p>
            <a:pPr marL="0" indent="0" algn="l">
              <a:lnSpc>
                <a:spcPts val="2250"/>
              </a:lnSpc>
              <a:buNone/>
            </a:pPr>
            <a:r>
              <a:rPr lang="en-US" sz="1800" kern="0" spc="-75" dirty="0">
                <a:solidFill>
                  <a:srgbClr val="010716"/>
                </a:solidFill>
                <a:latin typeface="Equip Regular" pitchFamily="34" charset="0"/>
                <a:ea typeface="Equip Regular" pitchFamily="34" charset="-122"/>
                <a:cs typeface="Equip Regular" pitchFamily="34" charset="-120"/>
              </a:rPr>
              <a:t>AJIO NEXT is not a conventional redesign. It is a strategic re-foundation of AJIO’s multi-store commerce ecosystem across platforms. AJIO needs an experience system that preserves what already works, improves what no longer scales, and introduces new structures where future growth requires them. The challenge is not only to improve the interface, but to create a scalable operating model for experience, one that can support AJIO, </a:t>
            </a:r>
            <a:endParaRPr lang="en-US" sz="1800" dirty="0"/>
          </a:p>
        </p:txBody>
      </p:sp>
      <p:sp>
        <p:nvSpPr>
          <p:cNvPr id="9" name="exec-body-2"/>
          <p:cNvSpPr/>
          <p:nvPr/>
        </p:nvSpPr>
        <p:spPr>
          <a:xfrm>
            <a:off x="6464275" y="4352925"/>
            <a:ext cx="5378450" cy="2657475"/>
          </a:xfrm>
          <a:prstGeom prst="rect">
            <a:avLst/>
          </a:prstGeom>
          <a:noFill/>
          <a:ln/>
        </p:spPr>
        <p:txBody>
          <a:bodyPr wrap="square" lIns="0" tIns="0" rIns="0" bIns="0" rtlCol="0" anchor="t"/>
          <a:lstStyle/>
          <a:p>
            <a:pPr marL="0" indent="0" algn="l">
              <a:lnSpc>
                <a:spcPts val="2250"/>
              </a:lnSpc>
              <a:buNone/>
            </a:pPr>
            <a:r>
              <a:rPr lang="en-US" sz="1800" kern="0" spc="-75" dirty="0">
                <a:solidFill>
                  <a:srgbClr val="010716"/>
                </a:solidFill>
                <a:latin typeface="Equip Regular" pitchFamily="34" charset="0"/>
                <a:ea typeface="Equip Regular" pitchFamily="34" charset="-122"/>
                <a:cs typeface="Equip Regular" pitchFamily="34" charset="-120"/>
              </a:rPr>
              <a:t> LUXE, AJIOGRAM, RUSH, store-in-store, brand pages, category structures, campaigns, and future propositions without repeated redesign or growing fragmentation. We must address AJIO’s layered ecosystem with a system that keeps shared interactions consistent while allowing storefronts and propositions to remain meaningfully distinct. 
This means redesigning for long-term scalability, governing variation across  multiple storefronts, </a:t>
            </a:r>
            <a:endParaRPr lang="en-US" sz="1800" dirty="0"/>
          </a:p>
        </p:txBody>
      </p:sp>
      <p:sp>
        <p:nvSpPr>
          <p:cNvPr id="10" name="exec-body-3"/>
          <p:cNvSpPr/>
          <p:nvPr/>
        </p:nvSpPr>
        <p:spPr>
          <a:xfrm>
            <a:off x="12128525" y="4352925"/>
            <a:ext cx="5378450" cy="2066925"/>
          </a:xfrm>
          <a:prstGeom prst="rect">
            <a:avLst/>
          </a:prstGeom>
          <a:noFill/>
          <a:ln/>
        </p:spPr>
        <p:txBody>
          <a:bodyPr wrap="square" lIns="0" tIns="0" rIns="0" bIns="0" rtlCol="0" anchor="t"/>
          <a:lstStyle/>
          <a:p>
            <a:pPr marL="0" indent="0" algn="l">
              <a:lnSpc>
                <a:spcPts val="2250"/>
              </a:lnSpc>
              <a:buNone/>
            </a:pPr>
            <a:r>
              <a:rPr lang="en-US" sz="1800" kern="0" spc="-75" dirty="0">
                <a:solidFill>
                  <a:srgbClr val="010716"/>
                </a:solidFill>
                <a:latin typeface="Equip Regular" pitchFamily="34" charset="0"/>
                <a:ea typeface="Equip Regular" pitchFamily="34" charset="-122"/>
                <a:cs typeface="Equip Regular" pitchFamily="34" charset="-120"/>
              </a:rPr>
              <a:t>industrializing the design system from the ground up, and validating decisions before build. The outcome should be clearer journeys, lower friction, stronger differentiation without fragmentation, a reusable design system connected to code, and a faster, more controlled way to launch future stores, campaigns, and features.</a:t>
            </a:r>
            <a:endParaRPr lang="en-US" sz="1800" dirty="0"/>
          </a:p>
        </p:txBody>
      </p:sp>
      <p:sp>
        <p:nvSpPr>
          <p:cNvPr id="18" name="Digital Design Strategy">
            <a:extLst>
              <a:ext uri="{FF2B5EF4-FFF2-40B4-BE49-F238E27FC236}">
                <a16:creationId xmlns:a16="http://schemas.microsoft.com/office/drawing/2014/main" id="{617A1957-E5D9-6F1D-0488-1C071439A6F0}"/>
              </a:ext>
            </a:extLst>
          </p:cNvPr>
          <p:cNvSpPr/>
          <p:nvPr/>
        </p:nvSpPr>
        <p:spPr>
          <a:xfrm>
            <a:off x="800100" y="9486900"/>
            <a:ext cx="17907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Digital Design Strategy</a:t>
            </a:r>
            <a:endParaRPr lang="en-US" sz="1200" dirty="0">
              <a:solidFill>
                <a:schemeClr val="bg1">
                  <a:lumMod val="75000"/>
                </a:schemeClr>
              </a:solidFill>
            </a:endParaRPr>
          </a:p>
        </p:txBody>
      </p:sp>
      <p:sp>
        <p:nvSpPr>
          <p:cNvPr id="19" name="Project Name">
            <a:extLst>
              <a:ext uri="{FF2B5EF4-FFF2-40B4-BE49-F238E27FC236}">
                <a16:creationId xmlns:a16="http://schemas.microsoft.com/office/drawing/2014/main" id="{67DA9FB3-02B1-8A99-A194-320A3C4EC617}"/>
              </a:ext>
            </a:extLst>
          </p:cNvPr>
          <p:cNvSpPr/>
          <p:nvPr/>
        </p:nvSpPr>
        <p:spPr>
          <a:xfrm>
            <a:off x="6438900" y="9486900"/>
            <a:ext cx="1076325"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Project Name</a:t>
            </a:r>
            <a:endParaRPr lang="en-US" sz="1200" dirty="0">
              <a:solidFill>
                <a:schemeClr val="bg1">
                  <a:lumMod val="75000"/>
                </a:schemeClr>
              </a:solidFill>
            </a:endParaRPr>
          </a:p>
        </p:txBody>
      </p:sp>
      <p:sp>
        <p:nvSpPr>
          <p:cNvPr id="20" name="Month Year">
            <a:extLst>
              <a:ext uri="{FF2B5EF4-FFF2-40B4-BE49-F238E27FC236}">
                <a16:creationId xmlns:a16="http://schemas.microsoft.com/office/drawing/2014/main" id="{30C0A999-E7B5-946F-03DF-D5FA32971C9F}"/>
              </a:ext>
            </a:extLst>
          </p:cNvPr>
          <p:cNvSpPr/>
          <p:nvPr/>
        </p:nvSpPr>
        <p:spPr>
          <a:xfrm>
            <a:off x="12077700" y="9486900"/>
            <a:ext cx="9144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Month Year</a:t>
            </a:r>
            <a:endParaRPr lang="en-US" sz="1200" dirty="0">
              <a:solidFill>
                <a:schemeClr val="bg1">
                  <a:lumMod val="75000"/>
                </a:schemeClr>
              </a:solidFill>
            </a:endParaRPr>
          </a:p>
        </p:txBody>
      </p:sp>
      <p:sp>
        <p:nvSpPr>
          <p:cNvPr id="21" name="2026">
            <a:extLst>
              <a:ext uri="{FF2B5EF4-FFF2-40B4-BE49-F238E27FC236}">
                <a16:creationId xmlns:a16="http://schemas.microsoft.com/office/drawing/2014/main" id="{EAECC5AE-0301-BCB0-9912-F2504E1DF213}"/>
              </a:ext>
            </a:extLst>
          </p:cNvPr>
          <p:cNvSpPr/>
          <p:nvPr/>
        </p:nvSpPr>
        <p:spPr>
          <a:xfrm>
            <a:off x="16925925" y="9486900"/>
            <a:ext cx="59055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 2026</a:t>
            </a:r>
            <a:endParaRPr lang="en-US" sz="1200" dirty="0">
              <a:solidFill>
                <a:schemeClr val="bg1">
                  <a:lumMod val="75000"/>
                </a:schemeClr>
              </a:solidFill>
            </a:endParaRPr>
          </a:p>
        </p:txBody>
      </p:sp>
      <p:pic>
        <p:nvPicPr>
          <p:cNvPr id="2" name="Graphic 1">
            <a:extLst>
              <a:ext uri="{FF2B5EF4-FFF2-40B4-BE49-F238E27FC236}">
                <a16:creationId xmlns:a16="http://schemas.microsoft.com/office/drawing/2014/main" id="{3EF5DC6E-F241-6630-B1E6-5AD21CDFDB8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92730" y="101077"/>
            <a:ext cx="2198820" cy="1649115"/>
          </a:xfrm>
          <a:prstGeom prst="rect">
            <a:avLst/>
          </a:prstGeom>
        </p:spPr>
      </p:pic>
      <p:cxnSp>
        <p:nvCxnSpPr>
          <p:cNvPr id="3" name="Straight Connector 2">
            <a:extLst>
              <a:ext uri="{FF2B5EF4-FFF2-40B4-BE49-F238E27FC236}">
                <a16:creationId xmlns:a16="http://schemas.microsoft.com/office/drawing/2014/main" id="{962B9085-C7D8-BFF8-F77C-AA6A12DEC451}"/>
              </a:ext>
            </a:extLst>
          </p:cNvPr>
          <p:cNvCxnSpPr>
            <a:cxnSpLocks/>
          </p:cNvCxnSpPr>
          <p:nvPr/>
        </p:nvCxnSpPr>
        <p:spPr>
          <a:xfrm>
            <a:off x="8000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3FB01E49-BCF5-1C02-0F73-28D6523CCDD6}"/>
              </a:ext>
            </a:extLst>
          </p:cNvPr>
          <p:cNvCxnSpPr>
            <a:cxnSpLocks/>
          </p:cNvCxnSpPr>
          <p:nvPr/>
        </p:nvCxnSpPr>
        <p:spPr>
          <a:xfrm>
            <a:off x="120776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19FDC83D-D53C-4DDD-72F6-073B5AAEE964}"/>
              </a:ext>
            </a:extLst>
          </p:cNvPr>
          <p:cNvCxnSpPr>
            <a:cxnSpLocks/>
          </p:cNvCxnSpPr>
          <p:nvPr/>
        </p:nvCxnSpPr>
        <p:spPr>
          <a:xfrm>
            <a:off x="64388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TotalTime>
  <Words>818</Words>
  <Application>Microsoft Macintosh PowerPoint</Application>
  <PresentationFormat>Custom</PresentationFormat>
  <Paragraphs>27</Paragraphs>
  <Slides>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Equip Extended Medium</vt:lpstr>
      <vt:lpstr>Arial</vt:lpstr>
      <vt:lpstr>Equip Regular</vt:lpstr>
      <vt:lpstr>Equip Extended Regular</vt:lpstr>
      <vt:lpstr>Office Theme</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Carolina Baptista</cp:lastModifiedBy>
  <cp:revision>7</cp:revision>
  <dcterms:created xsi:type="dcterms:W3CDTF">2026-05-27T18:03:55Z</dcterms:created>
  <dcterms:modified xsi:type="dcterms:W3CDTF">2026-06-02T11:38:24Z</dcterms:modified>
</cp:coreProperties>
</file>